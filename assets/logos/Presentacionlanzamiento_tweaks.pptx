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F5F2EC"/>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7A766F"/>
                </a:solidFill>
                <a:latin typeface="Arial" pitchFamily="34" charset="0"/>
                <a:ea typeface="Arial" pitchFamily="34" charset="-122"/>
                <a:cs typeface="Arial" pitchFamily="34" charset="-120"/>
              </a:rPr>
              <a:t>01 / 42</a:t>
            </a:r>
            <a:endParaRPr lang="en-US" sz="1800" dirty="0"/>
          </a:p>
        </p:txBody>
      </p:sp>
      <p:sp>
        <p:nvSpPr>
          <p:cNvPr id="4" name="Text 2"/>
          <p:cNvSpPr/>
          <p:nvPr/>
        </p:nvSpPr>
        <p:spPr>
          <a:xfrm>
            <a:off x="1143000" y="3668018"/>
            <a:ext cx="5113547" cy="342900"/>
          </a:xfrm>
          <a:prstGeom prst="rect">
            <a:avLst/>
          </a:prstGeom>
          <a:noFill/>
          <a:ln/>
        </p:spPr>
        <p:txBody>
          <a:bodyPr wrap="square" lIns="25400" tIns="25400" rIns="25400" bIns="25400" rtlCol="0" anchor="t">
            <a:normAutofit/>
          </a:bodyPr>
          <a:lstStyle/>
          <a:p>
            <a:pPr algn="l" indent="0" marL="0">
              <a:buNone/>
            </a:pPr>
            <a:r>
              <a:rPr lang="en-US" sz="1950" b="1" spc="429" kern="0" dirty="0">
                <a:solidFill>
                  <a:srgbClr val="EC4429"/>
                </a:solidFill>
                <a:latin typeface="Arial" pitchFamily="34" charset="0"/>
                <a:ea typeface="Arial" pitchFamily="34" charset="-122"/>
                <a:cs typeface="Arial" pitchFamily="34" charset="-120"/>
              </a:rPr>
              <a:t>NUEVA COHORTE · MAYO 2026</a:t>
            </a:r>
            <a:endParaRPr lang="en-US" sz="1950" dirty="0"/>
          </a:p>
        </p:txBody>
      </p:sp>
      <p:sp>
        <p:nvSpPr>
          <p:cNvPr id="5" name="Text 3"/>
          <p:cNvSpPr/>
          <p:nvPr/>
        </p:nvSpPr>
        <p:spPr>
          <a:xfrm>
            <a:off x="1143000" y="4430018"/>
            <a:ext cx="12706148" cy="2227064"/>
          </a:xfrm>
          <a:prstGeom prst="rect">
            <a:avLst/>
          </a:prstGeom>
          <a:noFill/>
          <a:ln/>
        </p:spPr>
        <p:txBody>
          <a:bodyPr wrap="square" lIns="25400" tIns="25400" rIns="25400" bIns="25400" rtlCol="0" anchor="t">
            <a:normAutofit/>
          </a:bodyPr>
          <a:lstStyle/>
          <a:p>
            <a:pPr algn="l" indent="0" marL="0">
              <a:lnSpc>
                <a:spcPct val="95000"/>
              </a:lnSpc>
              <a:buNone/>
            </a:pPr>
            <a:r>
              <a:rPr lang="en-US" sz="18144" spc="-544" kern="0" dirty="0">
                <a:solidFill>
                  <a:srgbClr val="F5F2EC"/>
                </a:solidFill>
                <a:latin typeface="Georgia" pitchFamily="34" charset="0"/>
                <a:ea typeface="Georgia" pitchFamily="34" charset="-122"/>
                <a:cs typeface="Georgia" pitchFamily="34" charset="-120"/>
              </a:rPr>
              <a:t>Bienvenidos</a:t>
            </a:r>
            <a:pPr algn="l" indent="0" marL="0">
              <a:lnSpc>
                <a:spcPct val="95000"/>
              </a:lnSpc>
              <a:buNone/>
            </a:pPr>
            <a:r>
              <a:rPr lang="en-US" sz="10886" spc="-544" kern="0" dirty="0">
                <a:solidFill>
                  <a:srgbClr val="EC4429"/>
                </a:solidFill>
                <a:latin typeface="Georgia" pitchFamily="34" charset="0"/>
                <a:ea typeface="Georgia" pitchFamily="34" charset="-122"/>
                <a:cs typeface="Georgia" pitchFamily="34" charset="-120"/>
              </a:rPr>
              <a:t>*</a:t>
            </a:r>
            <a:endParaRPr lang="en-US" sz="18144"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61616"/>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A5A5A"/>
                </a:solidFill>
                <a:latin typeface="Arial" pitchFamily="34" charset="0"/>
                <a:ea typeface="Arial" pitchFamily="34" charset="-122"/>
                <a:cs typeface="Arial" pitchFamily="34" charset="-120"/>
              </a:rPr>
              <a:t>02 / 42</a:t>
            </a:r>
            <a:endParaRPr lang="en-US" sz="1800" dirty="0"/>
          </a:p>
        </p:txBody>
      </p:sp>
      <p:sp>
        <p:nvSpPr>
          <p:cNvPr id="4" name="Text 2"/>
          <p:cNvSpPr/>
          <p:nvPr/>
        </p:nvSpPr>
        <p:spPr>
          <a:xfrm>
            <a:off x="1143000" y="1442145"/>
            <a:ext cx="3335962" cy="342900"/>
          </a:xfrm>
          <a:prstGeom prst="rect">
            <a:avLst/>
          </a:prstGeom>
          <a:noFill/>
          <a:ln/>
        </p:spPr>
        <p:txBody>
          <a:bodyPr wrap="square" lIns="25400" tIns="25400" rIns="25400" bIns="25400" rtlCol="0" anchor="t">
            <a:normAutofit/>
          </a:bodyPr>
          <a:lstStyle/>
          <a:p>
            <a:pPr algn="l" indent="0" marL="0">
              <a:buNone/>
            </a:pPr>
            <a:r>
              <a:rPr lang="en-US" sz="1950" b="1" spc="429" kern="0" dirty="0">
                <a:solidFill>
                  <a:srgbClr val="EC4429"/>
                </a:solidFill>
                <a:latin typeface="Arial" pitchFamily="34" charset="0"/>
                <a:ea typeface="Arial" pitchFamily="34" charset="-122"/>
                <a:cs typeface="Arial" pitchFamily="34" charset="-120"/>
              </a:rPr>
              <a:t>ANTES DE EMPEZAR</a:t>
            </a:r>
            <a:endParaRPr lang="en-US" sz="1950" dirty="0"/>
          </a:p>
        </p:txBody>
      </p:sp>
      <p:sp>
        <p:nvSpPr>
          <p:cNvPr id="5" name="Text 3"/>
          <p:cNvSpPr/>
          <p:nvPr/>
        </p:nvSpPr>
        <p:spPr>
          <a:xfrm>
            <a:off x="1143000" y="2051745"/>
            <a:ext cx="7543087" cy="876300"/>
          </a:xfrm>
          <a:prstGeom prst="rect">
            <a:avLst/>
          </a:prstGeom>
          <a:noFill/>
          <a:ln/>
        </p:spPr>
        <p:txBody>
          <a:bodyPr wrap="square" lIns="25400" tIns="25400" rIns="25400" bIns="25400" rtlCol="0" anchor="t">
            <a:normAutofit/>
          </a:bodyPr>
          <a:lstStyle/>
          <a:p>
            <a:pPr algn="l" indent="0" marL="0">
              <a:lnSpc>
                <a:spcPct val="100000"/>
              </a:lnSpc>
              <a:buNone/>
            </a:pPr>
            <a:r>
              <a:rPr lang="en-US" sz="6600" spc="-99" kern="0" dirty="0">
                <a:solidFill>
                  <a:srgbClr val="161616"/>
                </a:solidFill>
                <a:latin typeface="Georgia" pitchFamily="34" charset="0"/>
                <a:ea typeface="Georgia" pitchFamily="34" charset="-122"/>
                <a:cs typeface="Georgia" pitchFamily="34" charset="-120"/>
              </a:rPr>
              <a:t>¿Nos escuchas bien?</a:t>
            </a:r>
            <a:endParaRPr lang="en-US" sz="6600" dirty="0"/>
          </a:p>
        </p:txBody>
      </p:sp>
      <p:sp>
        <p:nvSpPr>
          <p:cNvPr id="6" name="Shape 4"/>
          <p:cNvSpPr/>
          <p:nvPr/>
        </p:nvSpPr>
        <p:spPr>
          <a:xfrm>
            <a:off x="0" y="3798689"/>
            <a:ext cx="9144000" cy="6488311"/>
          </a:xfrm>
          <a:prstGeom prst="rect">
            <a:avLst/>
          </a:prstGeom>
          <a:solidFill>
            <a:srgbClr val="F5F2EC"/>
          </a:solidFill>
          <a:ln/>
        </p:spPr>
      </p:sp>
      <p:sp>
        <p:nvSpPr>
          <p:cNvPr id="7" name="Text 5"/>
          <p:cNvSpPr/>
          <p:nvPr/>
        </p:nvSpPr>
        <p:spPr>
          <a:xfrm>
            <a:off x="3681115" y="4560689"/>
            <a:ext cx="1857970" cy="4152900"/>
          </a:xfrm>
          <a:prstGeom prst="rect">
            <a:avLst/>
          </a:prstGeom>
          <a:noFill/>
          <a:ln/>
        </p:spPr>
        <p:txBody>
          <a:bodyPr wrap="square" lIns="25400" tIns="25400" rIns="25400" bIns="25400" rtlCol="0" anchor="t">
            <a:normAutofit/>
          </a:bodyPr>
          <a:lstStyle/>
          <a:p>
            <a:pPr algn="l" indent="0" marL="0">
              <a:lnSpc>
                <a:spcPct val="90000"/>
              </a:lnSpc>
              <a:buNone/>
            </a:pPr>
            <a:r>
              <a:rPr lang="en-US" sz="36000" spc="-1440" kern="0" dirty="0">
                <a:solidFill>
                  <a:srgbClr val="EC4429"/>
                </a:solidFill>
                <a:latin typeface="Georgia" pitchFamily="34" charset="0"/>
                <a:ea typeface="Georgia" pitchFamily="34" charset="-122"/>
                <a:cs typeface="Georgia" pitchFamily="34" charset="-120"/>
              </a:rPr>
              <a:t>1</a:t>
            </a:r>
            <a:endParaRPr lang="en-US" sz="36000" dirty="0"/>
          </a:p>
        </p:txBody>
      </p:sp>
      <p:sp>
        <p:nvSpPr>
          <p:cNvPr id="8" name="Text 6"/>
          <p:cNvSpPr/>
          <p:nvPr/>
        </p:nvSpPr>
        <p:spPr>
          <a:xfrm>
            <a:off x="1686722" y="8980289"/>
            <a:ext cx="5770407" cy="582811"/>
          </a:xfrm>
          <a:prstGeom prst="rect">
            <a:avLst/>
          </a:prstGeom>
          <a:noFill/>
          <a:ln/>
        </p:spPr>
        <p:txBody>
          <a:bodyPr wrap="square" lIns="25400" tIns="25400" rIns="25400" bIns="25400" rtlCol="0" anchor="t">
            <a:normAutofit/>
          </a:bodyPr>
          <a:lstStyle/>
          <a:p>
            <a:pPr algn="ctr" indent="0" marL="0">
              <a:lnSpc>
                <a:spcPct val="115000"/>
              </a:lnSpc>
              <a:buNone/>
            </a:pPr>
            <a:r>
              <a:rPr lang="en-US" sz="3600" spc="-36" kern="0" dirty="0">
                <a:solidFill>
                  <a:srgbClr val="141414"/>
                </a:solidFill>
                <a:latin typeface="Arial" pitchFamily="34" charset="0"/>
                <a:ea typeface="Arial" pitchFamily="34" charset="-122"/>
                <a:cs typeface="Arial" pitchFamily="34" charset="-120"/>
              </a:rPr>
              <a:t>Escribe 1 si nos escuchas bien</a:t>
            </a:r>
            <a:endParaRPr lang="en-US" sz="3600" dirty="0"/>
          </a:p>
        </p:txBody>
      </p:sp>
      <p:sp>
        <p:nvSpPr>
          <p:cNvPr id="9" name="Shape 7"/>
          <p:cNvSpPr/>
          <p:nvPr/>
        </p:nvSpPr>
        <p:spPr>
          <a:xfrm>
            <a:off x="9144000" y="3798689"/>
            <a:ext cx="9144000" cy="6488311"/>
          </a:xfrm>
          <a:prstGeom prst="rect">
            <a:avLst/>
          </a:prstGeom>
          <a:solidFill>
            <a:srgbClr val="141414"/>
          </a:solidFill>
          <a:ln/>
        </p:spPr>
      </p:sp>
      <p:sp>
        <p:nvSpPr>
          <p:cNvPr id="10" name="Text 8"/>
          <p:cNvSpPr/>
          <p:nvPr/>
        </p:nvSpPr>
        <p:spPr>
          <a:xfrm>
            <a:off x="12530435" y="4560689"/>
            <a:ext cx="2447330" cy="4152900"/>
          </a:xfrm>
          <a:prstGeom prst="rect">
            <a:avLst/>
          </a:prstGeom>
          <a:noFill/>
          <a:ln/>
        </p:spPr>
        <p:txBody>
          <a:bodyPr wrap="square" lIns="25400" tIns="25400" rIns="25400" bIns="25400" rtlCol="0" anchor="t">
            <a:normAutofit/>
          </a:bodyPr>
          <a:lstStyle/>
          <a:p>
            <a:pPr algn="l" indent="0" marL="0">
              <a:lnSpc>
                <a:spcPct val="90000"/>
              </a:lnSpc>
              <a:buNone/>
            </a:pPr>
            <a:r>
              <a:rPr lang="en-US" sz="36000" spc="-1440" kern="0" dirty="0">
                <a:solidFill>
                  <a:srgbClr val="F5F2EC"/>
                </a:solidFill>
                <a:latin typeface="Georgia" pitchFamily="34" charset="0"/>
                <a:ea typeface="Georgia" pitchFamily="34" charset="-122"/>
                <a:cs typeface="Georgia" pitchFamily="34" charset="-120"/>
              </a:rPr>
              <a:t>2</a:t>
            </a:r>
            <a:endParaRPr lang="en-US" sz="36000" dirty="0"/>
          </a:p>
        </p:txBody>
      </p:sp>
      <p:sp>
        <p:nvSpPr>
          <p:cNvPr id="11" name="Text 9"/>
          <p:cNvSpPr/>
          <p:nvPr/>
        </p:nvSpPr>
        <p:spPr>
          <a:xfrm>
            <a:off x="11133782" y="8980289"/>
            <a:ext cx="5164287" cy="582811"/>
          </a:xfrm>
          <a:prstGeom prst="rect">
            <a:avLst/>
          </a:prstGeom>
          <a:noFill/>
          <a:ln/>
        </p:spPr>
        <p:txBody>
          <a:bodyPr wrap="square" lIns="25400" tIns="25400" rIns="25400" bIns="25400" rtlCol="0" anchor="t">
            <a:normAutofit/>
          </a:bodyPr>
          <a:lstStyle/>
          <a:p>
            <a:pPr algn="ctr" indent="0" marL="0">
              <a:lnSpc>
                <a:spcPct val="115000"/>
              </a:lnSpc>
              <a:buNone/>
            </a:pPr>
            <a:r>
              <a:rPr lang="en-US" sz="3600" spc="-36" kern="0" dirty="0">
                <a:solidFill>
                  <a:srgbClr val="F5F2EC"/>
                </a:solidFill>
                <a:latin typeface="Arial" pitchFamily="34" charset="0"/>
                <a:ea typeface="Arial" pitchFamily="34" charset="-122"/>
                <a:cs typeface="Arial" pitchFamily="34" charset="-120"/>
              </a:rPr>
              <a:t>Escribe 2 si se escucha mal</a:t>
            </a:r>
            <a:endParaRPr 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61616"/>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A5A5A"/>
                </a:solidFill>
                <a:latin typeface="Arial" pitchFamily="34" charset="0"/>
                <a:ea typeface="Arial" pitchFamily="34" charset="-122"/>
                <a:cs typeface="Arial" pitchFamily="34" charset="-120"/>
              </a:rPr>
              <a:t>03 / 42</a:t>
            </a:r>
            <a:endParaRPr lang="en-US" sz="1800" dirty="0"/>
          </a:p>
        </p:txBody>
      </p:sp>
      <p:sp>
        <p:nvSpPr>
          <p:cNvPr id="4" name="Text 2"/>
          <p:cNvSpPr/>
          <p:nvPr/>
        </p:nvSpPr>
        <p:spPr>
          <a:xfrm>
            <a:off x="1143000" y="3162300"/>
            <a:ext cx="4108252" cy="342900"/>
          </a:xfrm>
          <a:prstGeom prst="rect">
            <a:avLst/>
          </a:prstGeom>
          <a:noFill/>
          <a:ln/>
        </p:spPr>
        <p:txBody>
          <a:bodyPr wrap="square" lIns="25400" tIns="25400" rIns="25400" bIns="25400" rtlCol="0" anchor="t">
            <a:normAutofit/>
          </a:bodyPr>
          <a:lstStyle/>
          <a:p>
            <a:pPr algn="l" indent="0" marL="0">
              <a:buNone/>
            </a:pPr>
            <a:r>
              <a:rPr lang="en-US" sz="1950" b="1" spc="429" kern="0" dirty="0">
                <a:solidFill>
                  <a:srgbClr val="EC4429"/>
                </a:solidFill>
                <a:latin typeface="Arial" pitchFamily="34" charset="0"/>
                <a:ea typeface="Arial" pitchFamily="34" charset="-122"/>
                <a:cs typeface="Arial" pitchFamily="34" charset="-120"/>
              </a:rPr>
              <a:t>CUÉNTANOS EN EL CHAT</a:t>
            </a:r>
            <a:endParaRPr lang="en-US" sz="1950" dirty="0"/>
          </a:p>
        </p:txBody>
      </p:sp>
      <p:sp>
        <p:nvSpPr>
          <p:cNvPr id="5" name="Text 3"/>
          <p:cNvSpPr/>
          <p:nvPr/>
        </p:nvSpPr>
        <p:spPr>
          <a:xfrm>
            <a:off x="1143000" y="3924300"/>
            <a:ext cx="11985517" cy="3238500"/>
          </a:xfrm>
          <a:prstGeom prst="rect">
            <a:avLst/>
          </a:prstGeom>
          <a:noFill/>
          <a:ln/>
        </p:spPr>
        <p:txBody>
          <a:bodyPr wrap="square" lIns="25400" tIns="25400" rIns="25400" bIns="25400" rtlCol="0" anchor="t">
            <a:normAutofit/>
          </a:bodyPr>
          <a:lstStyle/>
          <a:p>
            <a:pPr algn="l" indent="0" marL="0">
              <a:lnSpc>
                <a:spcPct val="100000"/>
              </a:lnSpc>
              <a:buNone/>
            </a:pPr>
            <a:r>
              <a:rPr lang="en-US" sz="12600" b="1" spc="-315" kern="0" dirty="0">
                <a:solidFill>
                  <a:srgbClr val="161616"/>
                </a:solidFill>
                <a:latin typeface="Georgia" pitchFamily="34" charset="0"/>
                <a:ea typeface="Georgia" pitchFamily="34" charset="-122"/>
                <a:cs typeface="Georgia" pitchFamily="34" charset="-120"/>
              </a:rPr>
              <a:t>¿Desde dónde nos estás viendo</a:t>
            </a:r>
            <a:pPr algn="l" indent="0" marL="0">
              <a:lnSpc>
                <a:spcPct val="100000"/>
              </a:lnSpc>
              <a:buNone/>
            </a:pPr>
            <a:r>
              <a:rPr lang="en-US" sz="12600" b="1" spc="-315" kern="0" dirty="0">
                <a:solidFill>
                  <a:srgbClr val="EC4429"/>
                </a:solidFill>
                <a:latin typeface="Georgia" pitchFamily="34" charset="0"/>
                <a:ea typeface="Georgia" pitchFamily="34" charset="-122"/>
                <a:cs typeface="Georgia" pitchFamily="34" charset="-120"/>
              </a:rPr>
              <a:t>?</a:t>
            </a:r>
            <a:endParaRPr lang="en-US" sz="1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F5F2EC"/>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7A766F"/>
                </a:solidFill>
                <a:latin typeface="Arial" pitchFamily="34" charset="0"/>
                <a:ea typeface="Arial" pitchFamily="34" charset="-122"/>
                <a:cs typeface="Arial" pitchFamily="34" charset="-120"/>
              </a:rPr>
              <a:t>04 / 42</a:t>
            </a:r>
            <a:endParaRPr lang="en-US" sz="1800" dirty="0"/>
          </a:p>
        </p:txBody>
      </p:sp>
      <p:sp>
        <p:nvSpPr>
          <p:cNvPr id="4" name="Shape 2"/>
          <p:cNvSpPr/>
          <p:nvPr/>
        </p:nvSpPr>
        <p:spPr>
          <a:xfrm>
            <a:off x="1143000" y="2876550"/>
            <a:ext cx="133350" cy="133350"/>
          </a:xfrm>
          <a:prstGeom prst="ellipse">
            <a:avLst/>
          </a:prstGeom>
          <a:solidFill>
            <a:srgbClr val="EC4429"/>
          </a:solidFill>
          <a:ln/>
        </p:spPr>
      </p:sp>
      <p:sp>
        <p:nvSpPr>
          <p:cNvPr id="5" name="Text 3"/>
          <p:cNvSpPr/>
          <p:nvPr/>
        </p:nvSpPr>
        <p:spPr>
          <a:xfrm>
            <a:off x="1657350" y="2762250"/>
            <a:ext cx="2283321" cy="342900"/>
          </a:xfrm>
          <a:prstGeom prst="rect">
            <a:avLst/>
          </a:prstGeom>
          <a:noFill/>
          <a:ln/>
        </p:spPr>
        <p:txBody>
          <a:bodyPr wrap="square" lIns="25400" tIns="25400" rIns="25400" bIns="25400" rtlCol="0" anchor="t">
            <a:normAutofit/>
          </a:bodyPr>
          <a:lstStyle/>
          <a:p>
            <a:pPr algn="l" indent="0" marL="0">
              <a:buNone/>
            </a:pPr>
            <a:r>
              <a:rPr lang="en-US" sz="1950" b="1" spc="468" kern="0" dirty="0">
                <a:solidFill>
                  <a:srgbClr val="B8B2A8"/>
                </a:solidFill>
                <a:latin typeface="Arial" pitchFamily="34" charset="0"/>
                <a:ea typeface="Arial" pitchFamily="34" charset="-122"/>
                <a:cs typeface="Arial" pitchFamily="34" charset="-120"/>
              </a:rPr>
              <a:t>CAPÍTULO 01</a:t>
            </a:r>
            <a:endParaRPr lang="en-US" sz="1950" dirty="0"/>
          </a:p>
        </p:txBody>
      </p:sp>
      <p:sp>
        <p:nvSpPr>
          <p:cNvPr id="6" name="Text 4"/>
          <p:cNvSpPr/>
          <p:nvPr/>
        </p:nvSpPr>
        <p:spPr>
          <a:xfrm>
            <a:off x="1143000" y="3524250"/>
            <a:ext cx="14199221" cy="4038600"/>
          </a:xfrm>
          <a:prstGeom prst="rect">
            <a:avLst/>
          </a:prstGeom>
          <a:noFill/>
          <a:ln/>
        </p:spPr>
        <p:txBody>
          <a:bodyPr wrap="square" lIns="25400" tIns="25400" rIns="25400" bIns="25400" rtlCol="0" anchor="t">
            <a:normAutofit/>
          </a:bodyPr>
          <a:lstStyle/>
          <a:p>
            <a:pPr algn="l" indent="0" marL="0">
              <a:lnSpc>
                <a:spcPct val="100000"/>
              </a:lnSpc>
              <a:buNone/>
            </a:pPr>
            <a:r>
              <a:rPr lang="en-US" sz="10500" b="1" spc="-262" kern="0" dirty="0">
                <a:solidFill>
                  <a:srgbClr val="F5F2EC"/>
                </a:solidFill>
                <a:latin typeface="Georgia" pitchFamily="34" charset="0"/>
                <a:ea typeface="Georgia" pitchFamily="34" charset="-122"/>
                <a:cs typeface="Georgia" pitchFamily="34" charset="-120"/>
              </a:rPr>
              <a:t>Cómo sacarle partido a la </a:t>
            </a:r>
            <a:pPr algn="l" indent="0" marL="0">
              <a:lnSpc>
                <a:spcPct val="100000"/>
              </a:lnSpc>
              <a:buNone/>
            </a:pPr>
            <a:r>
              <a:rPr lang="en-US" sz="10500" b="1" i="1" spc="-262" kern="0" dirty="0">
                <a:solidFill>
                  <a:srgbClr val="EC4429"/>
                </a:solidFill>
                <a:latin typeface="Georgia" pitchFamily="34" charset="0"/>
                <a:ea typeface="Georgia" pitchFamily="34" charset="-122"/>
                <a:cs typeface="Georgia" pitchFamily="34" charset="-120"/>
              </a:rPr>
              <a:t>revolución industrial </a:t>
            </a:r>
            <a:pPr algn="l" indent="0" marL="0">
              <a:lnSpc>
                <a:spcPct val="100000"/>
              </a:lnSpc>
              <a:buNone/>
            </a:pPr>
            <a:r>
              <a:rPr lang="en-US" sz="10500" b="1" spc="-262" kern="0" dirty="0">
                <a:solidFill>
                  <a:srgbClr val="F5F2EC"/>
                </a:solidFill>
                <a:latin typeface="Georgia" pitchFamily="34" charset="0"/>
                <a:ea typeface="Georgia" pitchFamily="34" charset="-122"/>
                <a:cs typeface="Georgia" pitchFamily="34" charset="-120"/>
              </a:rPr>
              <a:t>del siglo XXI</a:t>
            </a:r>
            <a:pPr algn="l" indent="0" marL="0">
              <a:lnSpc>
                <a:spcPct val="100000"/>
              </a:lnSpc>
              <a:buNone/>
            </a:pPr>
            <a:r>
              <a:rPr lang="en-US" sz="10500" b="1" spc="-262" kern="0" dirty="0">
                <a:solidFill>
                  <a:srgbClr val="EC4429"/>
                </a:solidFill>
                <a:latin typeface="Georgia" pitchFamily="34" charset="0"/>
                <a:ea typeface="Georgia" pitchFamily="34" charset="-122"/>
                <a:cs typeface="Georgia" pitchFamily="34" charset="-120"/>
              </a:rPr>
              <a:t>.</a:t>
            </a:r>
            <a:endParaRPr lang="en-US" sz="10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61616"/>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A5A5A"/>
                </a:solidFill>
                <a:latin typeface="Arial" pitchFamily="34" charset="0"/>
                <a:ea typeface="Arial" pitchFamily="34" charset="-122"/>
                <a:cs typeface="Arial" pitchFamily="34" charset="-120"/>
              </a:rPr>
              <a:t>05 / 42</a:t>
            </a:r>
            <a:endParaRPr lang="en-US" sz="1800" dirty="0"/>
          </a:p>
        </p:txBody>
      </p:sp>
      <p:sp>
        <p:nvSpPr>
          <p:cNvPr id="4" name="Text 2"/>
          <p:cNvSpPr/>
          <p:nvPr/>
        </p:nvSpPr>
        <p:spPr>
          <a:xfrm>
            <a:off x="2010207" y="2062163"/>
            <a:ext cx="14267436" cy="1028700"/>
          </a:xfrm>
          <a:prstGeom prst="rect">
            <a:avLst/>
          </a:prstGeom>
          <a:noFill/>
          <a:ln/>
        </p:spPr>
        <p:txBody>
          <a:bodyPr wrap="square" lIns="25400" tIns="25400" rIns="25400" bIns="25400" rtlCol="0" anchor="t">
            <a:normAutofit/>
          </a:bodyPr>
          <a:lstStyle/>
          <a:p>
            <a:pPr algn="ctr" indent="0" marL="0">
              <a:lnSpc>
                <a:spcPct val="100000"/>
              </a:lnSpc>
              <a:buNone/>
            </a:pPr>
            <a:r>
              <a:rPr lang="en-US" sz="7800" spc="-172" kern="0" dirty="0">
                <a:solidFill>
                  <a:srgbClr val="161616"/>
                </a:solidFill>
                <a:latin typeface="Georgia" pitchFamily="34" charset="0"/>
                <a:ea typeface="Georgia" pitchFamily="34" charset="-122"/>
                <a:cs typeface="Georgia" pitchFamily="34" charset="-120"/>
              </a:rPr>
              <a:t>Apalancamiento </a:t>
            </a:r>
            <a:pPr algn="ctr" indent="0" marL="0">
              <a:lnSpc>
                <a:spcPct val="100000"/>
              </a:lnSpc>
              <a:buNone/>
            </a:pPr>
            <a:r>
              <a:rPr lang="en-US" sz="7800" spc="-172" kern="0" dirty="0">
                <a:solidFill>
                  <a:srgbClr val="EC4429"/>
                </a:solidFill>
                <a:latin typeface="Georgia" pitchFamily="34" charset="0"/>
                <a:ea typeface="Georgia" pitchFamily="34" charset="-122"/>
                <a:cs typeface="Georgia" pitchFamily="34" charset="-120"/>
              </a:rPr>
              <a:t>y productividad.</a:t>
            </a:r>
            <a:endParaRPr lang="en-US" sz="7800" dirty="0"/>
          </a:p>
        </p:txBody>
      </p:sp>
      <p:pic>
        <p:nvPicPr>
          <p:cNvPr id="5" name="Image 0" descr="preencoded.png">    </p:cNvPr>
          <p:cNvPicPr>
            <a:picLocks noChangeAspect="1"/>
          </p:cNvPicPr>
          <p:nvPr/>
        </p:nvPicPr>
        <p:blipFill>
          <a:blip r:embed="rId1"/>
          <a:stretch>
            <a:fillRect/>
          </a:stretch>
        </p:blipFill>
        <p:spPr>
          <a:xfrm>
            <a:off x="3905250" y="3509963"/>
            <a:ext cx="10477500" cy="47148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61616"/>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A5A5A"/>
                </a:solidFill>
                <a:latin typeface="Arial" pitchFamily="34" charset="0"/>
                <a:ea typeface="Arial" pitchFamily="34" charset="-122"/>
                <a:cs typeface="Arial" pitchFamily="34" charset="-120"/>
              </a:rPr>
              <a:t>06 / 42</a:t>
            </a:r>
            <a:endParaRPr lang="en-US" sz="1800" dirty="0"/>
          </a:p>
        </p:txBody>
      </p:sp>
      <p:sp>
        <p:nvSpPr>
          <p:cNvPr id="4" name="Text 2"/>
          <p:cNvSpPr/>
          <p:nvPr/>
        </p:nvSpPr>
        <p:spPr>
          <a:xfrm>
            <a:off x="1143000" y="1295400"/>
            <a:ext cx="10465771" cy="758130"/>
          </a:xfrm>
          <a:prstGeom prst="rect">
            <a:avLst/>
          </a:prstGeom>
          <a:noFill/>
          <a:ln/>
        </p:spPr>
        <p:txBody>
          <a:bodyPr wrap="square" lIns="25400" tIns="25400" rIns="25400" bIns="25400" rtlCol="0" anchor="t">
            <a:normAutofit/>
          </a:bodyPr>
          <a:lstStyle/>
          <a:p>
            <a:pPr algn="l" indent="0" marL="0">
              <a:lnSpc>
                <a:spcPct val="105000"/>
              </a:lnSpc>
              <a:buNone/>
            </a:pPr>
            <a:r>
              <a:rPr lang="en-US" sz="5400" spc="-108" kern="0" dirty="0">
                <a:solidFill>
                  <a:srgbClr val="161616"/>
                </a:solidFill>
                <a:latin typeface="Georgia" pitchFamily="34" charset="0"/>
                <a:ea typeface="Georgia" pitchFamily="34" charset="-122"/>
                <a:cs typeface="Georgia" pitchFamily="34" charset="-120"/>
              </a:rPr>
              <a:t>Grandes palancas de la humanidad</a:t>
            </a:r>
            <a:endParaRPr lang="en-US" sz="5400" dirty="0"/>
          </a:p>
        </p:txBody>
      </p:sp>
      <p:sp>
        <p:nvSpPr>
          <p:cNvPr id="5" name="Shape 3"/>
          <p:cNvSpPr/>
          <p:nvPr/>
        </p:nvSpPr>
        <p:spPr>
          <a:xfrm>
            <a:off x="1143000" y="2472630"/>
            <a:ext cx="16002000" cy="9525"/>
          </a:xfrm>
          <a:prstGeom prst="rect">
            <a:avLst/>
          </a:prstGeom>
          <a:solidFill>
            <a:srgbClr val="D9D2C5"/>
          </a:solidFill>
          <a:ln/>
        </p:spPr>
      </p:sp>
      <p:sp>
        <p:nvSpPr>
          <p:cNvPr id="6" name="Shape 4"/>
          <p:cNvSpPr/>
          <p:nvPr/>
        </p:nvSpPr>
        <p:spPr>
          <a:xfrm>
            <a:off x="1143000" y="3520380"/>
            <a:ext cx="16002000" cy="9525"/>
          </a:xfrm>
          <a:prstGeom prst="rect">
            <a:avLst/>
          </a:prstGeom>
          <a:solidFill>
            <a:srgbClr val="D9D2C5"/>
          </a:solidFill>
          <a:ln/>
        </p:spPr>
      </p:sp>
      <p:sp>
        <p:nvSpPr>
          <p:cNvPr id="7" name="Text 5"/>
          <p:cNvSpPr/>
          <p:nvPr/>
        </p:nvSpPr>
        <p:spPr>
          <a:xfrm>
            <a:off x="1143000" y="2748855"/>
            <a:ext cx="3531870"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spc="-39" kern="0" dirty="0">
                <a:solidFill>
                  <a:srgbClr val="161616"/>
                </a:solidFill>
                <a:latin typeface="Georgia" pitchFamily="34" charset="0"/>
                <a:ea typeface="Georgia" pitchFamily="34" charset="-122"/>
                <a:cs typeface="Georgia" pitchFamily="34" charset="-120"/>
              </a:rPr>
              <a:t>Escritura</a:t>
            </a:r>
            <a:endParaRPr lang="en-US" sz="3900" dirty="0"/>
          </a:p>
        </p:txBody>
      </p:sp>
      <p:sp>
        <p:nvSpPr>
          <p:cNvPr id="8" name="Text 6"/>
          <p:cNvSpPr/>
          <p:nvPr/>
        </p:nvSpPr>
        <p:spPr>
          <a:xfrm>
            <a:off x="5143500" y="2872680"/>
            <a:ext cx="12361545" cy="419100"/>
          </a:xfrm>
          <a:prstGeom prst="rect">
            <a:avLst/>
          </a:prstGeom>
          <a:noFill/>
          <a:ln/>
        </p:spPr>
        <p:txBody>
          <a:bodyPr wrap="square" lIns="25400" tIns="25400" rIns="25400" bIns="25400" rtlCol="0" anchor="t">
            <a:normAutofit/>
          </a:bodyPr>
          <a:lstStyle/>
          <a:p>
            <a:pPr algn="l" indent="0" marL="0">
              <a:lnSpc>
                <a:spcPct val="125000"/>
              </a:lnSpc>
              <a:buNone/>
            </a:pPr>
            <a:r>
              <a:rPr lang="en-US" sz="2400" dirty="0">
                <a:solidFill>
                  <a:srgbClr val="5A5A5A"/>
                </a:solidFill>
                <a:latin typeface="Arial" pitchFamily="34" charset="0"/>
                <a:ea typeface="Arial" pitchFamily="34" charset="-122"/>
                <a:cs typeface="Arial" pitchFamily="34" charset="-120"/>
              </a:rPr>
              <a:t>Memoria externa.</a:t>
            </a:r>
            <a:endParaRPr lang="en-US" sz="2400" dirty="0"/>
          </a:p>
        </p:txBody>
      </p:sp>
      <p:sp>
        <p:nvSpPr>
          <p:cNvPr id="9" name="Shape 7"/>
          <p:cNvSpPr/>
          <p:nvPr/>
        </p:nvSpPr>
        <p:spPr>
          <a:xfrm>
            <a:off x="1143000" y="4568130"/>
            <a:ext cx="16002000" cy="9525"/>
          </a:xfrm>
          <a:prstGeom prst="rect">
            <a:avLst/>
          </a:prstGeom>
          <a:solidFill>
            <a:srgbClr val="D9D2C5"/>
          </a:solidFill>
          <a:ln/>
        </p:spPr>
      </p:sp>
      <p:sp>
        <p:nvSpPr>
          <p:cNvPr id="10" name="Text 8"/>
          <p:cNvSpPr/>
          <p:nvPr/>
        </p:nvSpPr>
        <p:spPr>
          <a:xfrm>
            <a:off x="1143000" y="3796605"/>
            <a:ext cx="3531870"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spc="-39" kern="0" dirty="0">
                <a:solidFill>
                  <a:srgbClr val="161616"/>
                </a:solidFill>
                <a:latin typeface="Georgia" pitchFamily="34" charset="0"/>
                <a:ea typeface="Georgia" pitchFamily="34" charset="-122"/>
                <a:cs typeface="Georgia" pitchFamily="34" charset="-120"/>
              </a:rPr>
              <a:t>Dinero</a:t>
            </a:r>
            <a:endParaRPr lang="en-US" sz="3900" dirty="0"/>
          </a:p>
        </p:txBody>
      </p:sp>
      <p:sp>
        <p:nvSpPr>
          <p:cNvPr id="11" name="Text 9"/>
          <p:cNvSpPr/>
          <p:nvPr/>
        </p:nvSpPr>
        <p:spPr>
          <a:xfrm>
            <a:off x="5143500" y="3920430"/>
            <a:ext cx="12361545" cy="419100"/>
          </a:xfrm>
          <a:prstGeom prst="rect">
            <a:avLst/>
          </a:prstGeom>
          <a:noFill/>
          <a:ln/>
        </p:spPr>
        <p:txBody>
          <a:bodyPr wrap="square" lIns="25400" tIns="25400" rIns="25400" bIns="25400" rtlCol="0" anchor="t">
            <a:normAutofit/>
          </a:bodyPr>
          <a:lstStyle/>
          <a:p>
            <a:pPr algn="l" indent="0" marL="0">
              <a:lnSpc>
                <a:spcPct val="125000"/>
              </a:lnSpc>
              <a:buNone/>
            </a:pPr>
            <a:r>
              <a:rPr lang="en-US" sz="2400" dirty="0">
                <a:solidFill>
                  <a:srgbClr val="5A5A5A"/>
                </a:solidFill>
                <a:latin typeface="Arial" pitchFamily="34" charset="0"/>
                <a:ea typeface="Arial" pitchFamily="34" charset="-122"/>
                <a:cs typeface="Arial" pitchFamily="34" charset="-120"/>
              </a:rPr>
              <a:t>Intercambios, especialización, guarda valor en el tiempo.</a:t>
            </a:r>
            <a:endParaRPr lang="en-US" sz="2400" dirty="0"/>
          </a:p>
        </p:txBody>
      </p:sp>
      <p:sp>
        <p:nvSpPr>
          <p:cNvPr id="12" name="Shape 10"/>
          <p:cNvSpPr/>
          <p:nvPr/>
        </p:nvSpPr>
        <p:spPr>
          <a:xfrm>
            <a:off x="1143000" y="6101655"/>
            <a:ext cx="16002000" cy="9525"/>
          </a:xfrm>
          <a:prstGeom prst="rect">
            <a:avLst/>
          </a:prstGeom>
          <a:solidFill>
            <a:srgbClr val="D9D2C5"/>
          </a:solidFill>
          <a:ln/>
        </p:spPr>
      </p:sp>
      <p:sp>
        <p:nvSpPr>
          <p:cNvPr id="13" name="Text 11"/>
          <p:cNvSpPr/>
          <p:nvPr/>
        </p:nvSpPr>
        <p:spPr>
          <a:xfrm>
            <a:off x="1143000" y="4844355"/>
            <a:ext cx="3531870" cy="1028700"/>
          </a:xfrm>
          <a:prstGeom prst="rect">
            <a:avLst/>
          </a:prstGeom>
          <a:noFill/>
          <a:ln/>
        </p:spPr>
        <p:txBody>
          <a:bodyPr wrap="square" lIns="25400" tIns="25400" rIns="25400" bIns="25400" rtlCol="0" anchor="t">
            <a:normAutofit/>
          </a:bodyPr>
          <a:lstStyle/>
          <a:p>
            <a:pPr algn="l" indent="0" marL="0">
              <a:lnSpc>
                <a:spcPct val="100000"/>
              </a:lnSpc>
              <a:buNone/>
            </a:pPr>
            <a:r>
              <a:rPr lang="en-US" sz="3900" spc="-39" kern="0" dirty="0">
                <a:solidFill>
                  <a:srgbClr val="161616"/>
                </a:solidFill>
                <a:latin typeface="Georgia" pitchFamily="34" charset="0"/>
                <a:ea typeface="Georgia" pitchFamily="34" charset="-122"/>
                <a:cs typeface="Georgia" pitchFamily="34" charset="-120"/>
              </a:rPr>
              <a:t>Revolución industrial</a:t>
            </a:r>
            <a:endParaRPr lang="en-US" sz="3900" dirty="0"/>
          </a:p>
        </p:txBody>
      </p:sp>
      <p:sp>
        <p:nvSpPr>
          <p:cNvPr id="14" name="Text 12"/>
          <p:cNvSpPr/>
          <p:nvPr/>
        </p:nvSpPr>
        <p:spPr>
          <a:xfrm>
            <a:off x="5143500" y="4968180"/>
            <a:ext cx="12361545" cy="419100"/>
          </a:xfrm>
          <a:prstGeom prst="rect">
            <a:avLst/>
          </a:prstGeom>
          <a:noFill/>
          <a:ln/>
        </p:spPr>
        <p:txBody>
          <a:bodyPr wrap="square" lIns="25400" tIns="25400" rIns="25400" bIns="25400" rtlCol="0" anchor="t">
            <a:normAutofit/>
          </a:bodyPr>
          <a:lstStyle/>
          <a:p>
            <a:pPr algn="l" indent="0" marL="0">
              <a:lnSpc>
                <a:spcPct val="125000"/>
              </a:lnSpc>
              <a:buNone/>
            </a:pPr>
            <a:r>
              <a:rPr lang="en-US" sz="2400" dirty="0">
                <a:solidFill>
                  <a:srgbClr val="5A5A5A"/>
                </a:solidFill>
                <a:latin typeface="Arial" pitchFamily="34" charset="0"/>
                <a:ea typeface="Arial" pitchFamily="34" charset="-122"/>
                <a:cs typeface="Arial" pitchFamily="34" charset="-120"/>
              </a:rPr>
              <a:t>Energía y máquinas externas.</a:t>
            </a:r>
            <a:endParaRPr lang="en-US" sz="2400" dirty="0"/>
          </a:p>
        </p:txBody>
      </p:sp>
      <p:sp>
        <p:nvSpPr>
          <p:cNvPr id="15" name="Shape 13"/>
          <p:cNvSpPr/>
          <p:nvPr/>
        </p:nvSpPr>
        <p:spPr>
          <a:xfrm>
            <a:off x="1143000" y="7149405"/>
            <a:ext cx="16002000" cy="9525"/>
          </a:xfrm>
          <a:prstGeom prst="rect">
            <a:avLst/>
          </a:prstGeom>
          <a:solidFill>
            <a:srgbClr val="D9D2C5"/>
          </a:solidFill>
          <a:ln/>
        </p:spPr>
      </p:sp>
      <p:sp>
        <p:nvSpPr>
          <p:cNvPr id="16" name="Text 14"/>
          <p:cNvSpPr/>
          <p:nvPr/>
        </p:nvSpPr>
        <p:spPr>
          <a:xfrm>
            <a:off x="1143000" y="6377880"/>
            <a:ext cx="3531870"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spc="-39" kern="0" dirty="0">
                <a:solidFill>
                  <a:srgbClr val="161616"/>
                </a:solidFill>
                <a:latin typeface="Georgia" pitchFamily="34" charset="0"/>
                <a:ea typeface="Georgia" pitchFamily="34" charset="-122"/>
                <a:cs typeface="Georgia" pitchFamily="34" charset="-120"/>
              </a:rPr>
              <a:t>Coche</a:t>
            </a:r>
            <a:endParaRPr lang="en-US" sz="3900" dirty="0"/>
          </a:p>
        </p:txBody>
      </p:sp>
      <p:sp>
        <p:nvSpPr>
          <p:cNvPr id="17" name="Text 15"/>
          <p:cNvSpPr/>
          <p:nvPr/>
        </p:nvSpPr>
        <p:spPr>
          <a:xfrm>
            <a:off x="5143500" y="6501705"/>
            <a:ext cx="12361545" cy="419100"/>
          </a:xfrm>
          <a:prstGeom prst="rect">
            <a:avLst/>
          </a:prstGeom>
          <a:noFill/>
          <a:ln/>
        </p:spPr>
        <p:txBody>
          <a:bodyPr wrap="square" lIns="25400" tIns="25400" rIns="25400" bIns="25400" rtlCol="0" anchor="t">
            <a:normAutofit/>
          </a:bodyPr>
          <a:lstStyle/>
          <a:p>
            <a:pPr algn="l" indent="0" marL="0">
              <a:lnSpc>
                <a:spcPct val="125000"/>
              </a:lnSpc>
              <a:buNone/>
            </a:pPr>
            <a:r>
              <a:rPr lang="en-US" sz="2400" dirty="0">
                <a:solidFill>
                  <a:srgbClr val="5A5A5A"/>
                </a:solidFill>
                <a:latin typeface="Arial" pitchFamily="34" charset="0"/>
                <a:ea typeface="Arial" pitchFamily="34" charset="-122"/>
                <a:cs typeface="Arial" pitchFamily="34" charset="-120"/>
              </a:rPr>
              <a:t>Transporte más eficiente.</a:t>
            </a:r>
            <a:endParaRPr lang="en-US" sz="2400" dirty="0"/>
          </a:p>
        </p:txBody>
      </p:sp>
      <p:sp>
        <p:nvSpPr>
          <p:cNvPr id="18" name="Shape 16"/>
          <p:cNvSpPr/>
          <p:nvPr/>
        </p:nvSpPr>
        <p:spPr>
          <a:xfrm>
            <a:off x="1143000" y="8197155"/>
            <a:ext cx="16002000" cy="9525"/>
          </a:xfrm>
          <a:prstGeom prst="rect">
            <a:avLst/>
          </a:prstGeom>
          <a:solidFill>
            <a:srgbClr val="D9D2C5"/>
          </a:solidFill>
          <a:ln/>
        </p:spPr>
      </p:sp>
      <p:sp>
        <p:nvSpPr>
          <p:cNvPr id="19" name="Text 17"/>
          <p:cNvSpPr/>
          <p:nvPr/>
        </p:nvSpPr>
        <p:spPr>
          <a:xfrm>
            <a:off x="1143000" y="7425630"/>
            <a:ext cx="3531870" cy="533400"/>
          </a:xfrm>
          <a:prstGeom prst="rect">
            <a:avLst/>
          </a:prstGeom>
          <a:noFill/>
          <a:ln/>
        </p:spPr>
        <p:txBody>
          <a:bodyPr wrap="square" lIns="25400" tIns="25400" rIns="25400" bIns="25400" rtlCol="0" anchor="t">
            <a:normAutofit/>
          </a:bodyPr>
          <a:lstStyle/>
          <a:p>
            <a:pPr algn="l" indent="0" marL="0">
              <a:lnSpc>
                <a:spcPct val="100000"/>
              </a:lnSpc>
              <a:buNone/>
            </a:pPr>
            <a:r>
              <a:rPr lang="en-US" sz="3900" spc="-39" kern="0" dirty="0">
                <a:solidFill>
                  <a:srgbClr val="161616"/>
                </a:solidFill>
                <a:latin typeface="Georgia" pitchFamily="34" charset="0"/>
                <a:ea typeface="Georgia" pitchFamily="34" charset="-122"/>
                <a:cs typeface="Georgia" pitchFamily="34" charset="-120"/>
              </a:rPr>
              <a:t>Internet</a:t>
            </a:r>
            <a:endParaRPr lang="en-US" sz="3900" dirty="0"/>
          </a:p>
        </p:txBody>
      </p:sp>
      <p:sp>
        <p:nvSpPr>
          <p:cNvPr id="20" name="Text 18"/>
          <p:cNvSpPr/>
          <p:nvPr/>
        </p:nvSpPr>
        <p:spPr>
          <a:xfrm>
            <a:off x="5143500" y="7549455"/>
            <a:ext cx="12361545" cy="419100"/>
          </a:xfrm>
          <a:prstGeom prst="rect">
            <a:avLst/>
          </a:prstGeom>
          <a:noFill/>
          <a:ln/>
        </p:spPr>
        <p:txBody>
          <a:bodyPr wrap="square" lIns="25400" tIns="25400" rIns="25400" bIns="25400" rtlCol="0" anchor="t">
            <a:normAutofit/>
          </a:bodyPr>
          <a:lstStyle/>
          <a:p>
            <a:pPr algn="l" indent="0" marL="0">
              <a:lnSpc>
                <a:spcPct val="125000"/>
              </a:lnSpc>
              <a:buNone/>
            </a:pPr>
            <a:r>
              <a:rPr lang="en-US" sz="2400" dirty="0">
                <a:solidFill>
                  <a:srgbClr val="5A5A5A"/>
                </a:solidFill>
                <a:latin typeface="Arial" pitchFamily="34" charset="0"/>
                <a:ea typeface="Arial" pitchFamily="34" charset="-122"/>
                <a:cs typeface="Arial" pitchFamily="34" charset="-120"/>
              </a:rPr>
              <a:t>Réplica de contenido y código instantáneo.</a:t>
            </a:r>
            <a:endParaRPr lang="en-US" sz="2400" dirty="0"/>
          </a:p>
        </p:txBody>
      </p:sp>
      <p:sp>
        <p:nvSpPr>
          <p:cNvPr id="21" name="Shape 19"/>
          <p:cNvSpPr/>
          <p:nvPr/>
        </p:nvSpPr>
        <p:spPr>
          <a:xfrm>
            <a:off x="1143000" y="9730680"/>
            <a:ext cx="16002000" cy="9525"/>
          </a:xfrm>
          <a:prstGeom prst="rect">
            <a:avLst/>
          </a:prstGeom>
          <a:solidFill>
            <a:srgbClr val="D9D2C5"/>
          </a:solidFill>
          <a:ln/>
        </p:spPr>
      </p:sp>
      <p:sp>
        <p:nvSpPr>
          <p:cNvPr id="22" name="Text 20"/>
          <p:cNvSpPr/>
          <p:nvPr/>
        </p:nvSpPr>
        <p:spPr>
          <a:xfrm>
            <a:off x="1143000" y="8473380"/>
            <a:ext cx="3531870" cy="1028700"/>
          </a:xfrm>
          <a:prstGeom prst="rect">
            <a:avLst/>
          </a:prstGeom>
          <a:noFill/>
          <a:ln/>
        </p:spPr>
        <p:txBody>
          <a:bodyPr wrap="square" lIns="25400" tIns="25400" rIns="25400" bIns="25400" rtlCol="0" anchor="t">
            <a:normAutofit/>
          </a:bodyPr>
          <a:lstStyle/>
          <a:p>
            <a:pPr algn="l" indent="0" marL="0">
              <a:lnSpc>
                <a:spcPct val="100000"/>
              </a:lnSpc>
              <a:buNone/>
            </a:pPr>
            <a:r>
              <a:rPr lang="en-US" sz="3900" spc="-39" kern="0" dirty="0">
                <a:solidFill>
                  <a:srgbClr val="EC4429"/>
                </a:solidFill>
                <a:latin typeface="Georgia" pitchFamily="34" charset="0"/>
                <a:ea typeface="Georgia" pitchFamily="34" charset="-122"/>
                <a:cs typeface="Georgia" pitchFamily="34" charset="-120"/>
              </a:rPr>
              <a:t>Inteligencia artificial *</a:t>
            </a:r>
            <a:endParaRPr lang="en-US" sz="3900" dirty="0"/>
          </a:p>
        </p:txBody>
      </p:sp>
      <p:sp>
        <p:nvSpPr>
          <p:cNvPr id="23" name="Text 21"/>
          <p:cNvSpPr/>
          <p:nvPr/>
        </p:nvSpPr>
        <p:spPr>
          <a:xfrm>
            <a:off x="5143500" y="8597205"/>
            <a:ext cx="12361545" cy="419100"/>
          </a:xfrm>
          <a:prstGeom prst="rect">
            <a:avLst/>
          </a:prstGeom>
          <a:noFill/>
          <a:ln/>
        </p:spPr>
        <p:txBody>
          <a:bodyPr wrap="square" lIns="25400" tIns="25400" rIns="25400" bIns="25400" rtlCol="0" anchor="t">
            <a:normAutofit/>
          </a:bodyPr>
          <a:lstStyle/>
          <a:p>
            <a:pPr algn="l" indent="0" marL="0">
              <a:lnSpc>
                <a:spcPct val="125000"/>
              </a:lnSpc>
              <a:buNone/>
            </a:pPr>
            <a:r>
              <a:rPr lang="en-US" sz="2400" dirty="0">
                <a:solidFill>
                  <a:srgbClr val="5A5A5A"/>
                </a:solidFill>
                <a:latin typeface="Arial" pitchFamily="34" charset="0"/>
                <a:ea typeface="Arial" pitchFamily="34" charset="-122"/>
                <a:cs typeface="Arial" pitchFamily="34" charset="-120"/>
              </a:rPr>
              <a:t>Inteligencia externa.</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4429"/>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F5F2EC"/>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FFFFFF">
                    <a:alpha val="70000"/>
                  </a:srgbClr>
                </a:solidFill>
                <a:latin typeface="Arial" pitchFamily="34" charset="0"/>
                <a:ea typeface="Arial" pitchFamily="34" charset="-122"/>
                <a:cs typeface="Arial" pitchFamily="34" charset="-120"/>
              </a:rPr>
              <a:t>07 / 42</a:t>
            </a:r>
            <a:endParaRPr lang="en-US" sz="1800" dirty="0"/>
          </a:p>
        </p:txBody>
      </p:sp>
      <p:sp>
        <p:nvSpPr>
          <p:cNvPr id="4" name="Text 2"/>
          <p:cNvSpPr/>
          <p:nvPr/>
        </p:nvSpPr>
        <p:spPr>
          <a:xfrm>
            <a:off x="8907661" y="2590800"/>
            <a:ext cx="472529" cy="342900"/>
          </a:xfrm>
          <a:prstGeom prst="rect">
            <a:avLst/>
          </a:prstGeom>
          <a:noFill/>
          <a:ln/>
        </p:spPr>
        <p:txBody>
          <a:bodyPr wrap="square" lIns="25400" tIns="25400" rIns="25400" bIns="25400" rtlCol="0" anchor="t">
            <a:normAutofit/>
          </a:bodyPr>
          <a:lstStyle/>
          <a:p>
            <a:pPr algn="ctr" indent="0" marL="0">
              <a:buNone/>
            </a:pPr>
            <a:r>
              <a:rPr lang="en-US" sz="1950" b="1" spc="429" kern="0" dirty="0">
                <a:solidFill>
                  <a:srgbClr val="FFFFFF">
                    <a:alpha val="85000"/>
                  </a:srgbClr>
                </a:solidFill>
                <a:latin typeface="Arial" pitchFamily="34" charset="0"/>
                <a:ea typeface="Arial" pitchFamily="34" charset="-122"/>
                <a:cs typeface="Arial" pitchFamily="34" charset="-120"/>
              </a:rPr>
              <a:t>04</a:t>
            </a:r>
            <a:endParaRPr lang="en-US" sz="1950" dirty="0"/>
          </a:p>
        </p:txBody>
      </p:sp>
      <p:sp>
        <p:nvSpPr>
          <p:cNvPr id="5" name="Text 3"/>
          <p:cNvSpPr/>
          <p:nvPr/>
        </p:nvSpPr>
        <p:spPr>
          <a:xfrm>
            <a:off x="3168333" y="3352800"/>
            <a:ext cx="11951333" cy="4381500"/>
          </a:xfrm>
          <a:prstGeom prst="rect">
            <a:avLst/>
          </a:prstGeom>
          <a:noFill/>
          <a:ln/>
        </p:spPr>
        <p:txBody>
          <a:bodyPr wrap="square" lIns="25400" tIns="25400" rIns="25400" bIns="25400" rtlCol="0" anchor="t">
            <a:normAutofit/>
          </a:bodyPr>
          <a:lstStyle/>
          <a:p>
            <a:pPr algn="ctr" indent="0" marL="0">
              <a:lnSpc>
                <a:spcPct val="100000"/>
              </a:lnSpc>
              <a:buNone/>
            </a:pPr>
            <a:r>
              <a:rPr lang="en-US" sz="11400" spc="-285" kern="0" dirty="0">
                <a:solidFill>
                  <a:srgbClr val="FBFAF7"/>
                </a:solidFill>
                <a:latin typeface="Georgia" pitchFamily="34" charset="0"/>
                <a:ea typeface="Georgia" pitchFamily="34" charset="-122"/>
                <a:cs typeface="Georgia" pitchFamily="34" charset="-120"/>
              </a:rPr>
              <a:t>Palancas = más resultados con el mismo esfuerzo</a:t>
            </a:r>
            <a:pPr algn="ctr" indent="0" marL="0">
              <a:lnSpc>
                <a:spcPct val="100000"/>
              </a:lnSpc>
              <a:buNone/>
            </a:pPr>
            <a:r>
              <a:rPr lang="en-US" sz="11400" spc="-285" kern="0" dirty="0">
                <a:solidFill>
                  <a:srgbClr val="1F1F1F"/>
                </a:solidFill>
                <a:latin typeface="Georgia" pitchFamily="34" charset="0"/>
                <a:ea typeface="Georgia" pitchFamily="34" charset="-122"/>
                <a:cs typeface="Georgia" pitchFamily="34" charset="-120"/>
              </a:rPr>
              <a:t>.</a:t>
            </a:r>
            <a:endParaRPr lang="en-US" sz="1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F5F2EC"/>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7A766F"/>
                </a:solidFill>
                <a:latin typeface="Arial" pitchFamily="34" charset="0"/>
                <a:ea typeface="Arial" pitchFamily="34" charset="-122"/>
                <a:cs typeface="Arial" pitchFamily="34" charset="-120"/>
              </a:rPr>
              <a:t>08 / 42</a:t>
            </a:r>
            <a:endParaRPr lang="en-US" sz="1800" dirty="0"/>
          </a:p>
        </p:txBody>
      </p:sp>
      <p:sp>
        <p:nvSpPr>
          <p:cNvPr id="4" name="Text 2"/>
          <p:cNvSpPr/>
          <p:nvPr/>
        </p:nvSpPr>
        <p:spPr>
          <a:xfrm>
            <a:off x="1143000" y="2314873"/>
            <a:ext cx="15697200" cy="4198144"/>
          </a:xfrm>
          <a:prstGeom prst="rect">
            <a:avLst/>
          </a:prstGeom>
          <a:noFill/>
          <a:ln/>
        </p:spPr>
        <p:txBody>
          <a:bodyPr wrap="square" lIns="25400" tIns="25400" rIns="25400" bIns="25400" rtlCol="0" anchor="t">
            <a:normAutofit/>
          </a:bodyPr>
          <a:lstStyle/>
          <a:p>
            <a:pPr algn="l" indent="0" marL="0">
              <a:lnSpc>
                <a:spcPct val="105000"/>
              </a:lnSpc>
              <a:buNone/>
            </a:pPr>
            <a:r>
              <a:rPr lang="en-US" sz="7800" spc="-172" kern="0" dirty="0">
                <a:solidFill>
                  <a:srgbClr val="F5F2EC"/>
                </a:solidFill>
                <a:latin typeface="Georgia" pitchFamily="34" charset="0"/>
                <a:ea typeface="Georgia" pitchFamily="34" charset="-122"/>
                <a:cs typeface="Georgia" pitchFamily="34" charset="-120"/>
              </a:rPr>
              <a:t>Hasta ahora habíamos delegado </a:t>
            </a:r>
            <a:pPr algn="l" indent="0" marL="0">
              <a:lnSpc>
                <a:spcPct val="105000"/>
              </a:lnSpc>
              <a:buNone/>
            </a:pPr>
            <a:r>
              <a:rPr lang="en-US" sz="7800" spc="-172" kern="0" dirty="0">
                <a:solidFill>
                  <a:srgbClr val="7A766F"/>
                </a:solidFill>
                <a:latin typeface="Georgia" pitchFamily="34" charset="0"/>
                <a:ea typeface="Georgia" pitchFamily="34" charset="-122"/>
                <a:cs typeface="Georgia" pitchFamily="34" charset="-120"/>
              </a:rPr>
              <a:t>la fuerza </a:t>
            </a:r>
            <a:pPr algn="l" indent="0" marL="0">
              <a:lnSpc>
                <a:spcPct val="105000"/>
              </a:lnSpc>
              <a:buNone/>
            </a:pPr>
            <a:r>
              <a:rPr lang="en-US" sz="7800" spc="-172" kern="0" dirty="0">
                <a:solidFill>
                  <a:srgbClr val="F5F2EC"/>
                </a:solidFill>
                <a:latin typeface="Georgia" pitchFamily="34" charset="0"/>
                <a:ea typeface="Georgia" pitchFamily="34" charset="-122"/>
                <a:cs typeface="Georgia" pitchFamily="34" charset="-120"/>
              </a:rPr>
              <a:t>. Por primera vez podemos delegar </a:t>
            </a:r>
            <a:pPr algn="l" indent="0" marL="0">
              <a:lnSpc>
                <a:spcPct val="105000"/>
              </a:lnSpc>
              <a:buNone/>
            </a:pPr>
            <a:r>
              <a:rPr lang="en-US" sz="7800" spc="-172" kern="0" dirty="0">
                <a:solidFill>
                  <a:srgbClr val="EC4429"/>
                </a:solidFill>
                <a:latin typeface="Georgia" pitchFamily="34" charset="0"/>
                <a:ea typeface="Georgia" pitchFamily="34" charset="-122"/>
                <a:cs typeface="Georgia" pitchFamily="34" charset="-120"/>
              </a:rPr>
              <a:t>la inteligencia .</a:t>
            </a:r>
            <a:endParaRPr lang="en-US" sz="7800" dirty="0"/>
          </a:p>
        </p:txBody>
      </p:sp>
      <p:sp>
        <p:nvSpPr>
          <p:cNvPr id="5" name="Text 3"/>
          <p:cNvSpPr/>
          <p:nvPr/>
        </p:nvSpPr>
        <p:spPr>
          <a:xfrm>
            <a:off x="1143000" y="7046416"/>
            <a:ext cx="12753975" cy="963811"/>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B8B2A8"/>
                </a:solidFill>
                <a:latin typeface="Arial" pitchFamily="34" charset="0"/>
                <a:ea typeface="Arial" pitchFamily="34" charset="-122"/>
                <a:cs typeface="Arial" pitchFamily="34" charset="-120"/>
              </a:rPr>
              <a:t>Si la Revolución Industrial multiplicó nuestros músculos, ésta multiplica nuestro cerebro.</a:t>
            </a:r>
            <a:endParaRPr lang="en-US" sz="2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61616"/>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A5A5A"/>
                </a:solidFill>
                <a:latin typeface="Arial" pitchFamily="34" charset="0"/>
                <a:ea typeface="Arial" pitchFamily="34" charset="-122"/>
                <a:cs typeface="Arial" pitchFamily="34" charset="-120"/>
              </a:rPr>
              <a:t>09 / 42</a:t>
            </a:r>
            <a:endParaRPr lang="en-US" sz="1800" dirty="0"/>
          </a:p>
        </p:txBody>
      </p:sp>
      <p:sp>
        <p:nvSpPr>
          <p:cNvPr id="4" name="Text 2"/>
          <p:cNvSpPr/>
          <p:nvPr/>
        </p:nvSpPr>
        <p:spPr>
          <a:xfrm>
            <a:off x="1143000" y="1009650"/>
            <a:ext cx="11096418" cy="638175"/>
          </a:xfrm>
          <a:prstGeom prst="rect">
            <a:avLst/>
          </a:prstGeom>
          <a:noFill/>
          <a:ln/>
        </p:spPr>
        <p:txBody>
          <a:bodyPr wrap="square" lIns="25400" tIns="25400" rIns="25400" bIns="25400" rtlCol="0" anchor="t">
            <a:normAutofit/>
          </a:bodyPr>
          <a:lstStyle/>
          <a:p>
            <a:pPr algn="l" indent="0" marL="0">
              <a:lnSpc>
                <a:spcPct val="105000"/>
              </a:lnSpc>
              <a:buNone/>
            </a:pPr>
            <a:r>
              <a:rPr lang="en-US" sz="4500" spc="-90" kern="0" dirty="0">
                <a:solidFill>
                  <a:srgbClr val="161616"/>
                </a:solidFill>
                <a:latin typeface="Georgia" pitchFamily="34" charset="0"/>
                <a:ea typeface="Georgia" pitchFamily="34" charset="-122"/>
                <a:cs typeface="Georgia" pitchFamily="34" charset="-120"/>
              </a:rPr>
              <a:t>La tecnología cada vez se adopta más rápido</a:t>
            </a:r>
            <a:pPr algn="l" indent="0" marL="0">
              <a:lnSpc>
                <a:spcPct val="105000"/>
              </a:lnSpc>
              <a:buNone/>
            </a:pPr>
            <a:r>
              <a:rPr lang="en-US" sz="4500" spc="-90" kern="0" dirty="0">
                <a:solidFill>
                  <a:srgbClr val="EC4429"/>
                </a:solidFill>
                <a:latin typeface="Georgia" pitchFamily="34" charset="0"/>
                <a:ea typeface="Georgia" pitchFamily="34" charset="-122"/>
                <a:cs typeface="Georgia" pitchFamily="34" charset="-120"/>
              </a:rPr>
              <a:t>.</a:t>
            </a:r>
            <a:endParaRPr lang="en-US" sz="4500" dirty="0"/>
          </a:p>
        </p:txBody>
      </p:sp>
      <p:sp>
        <p:nvSpPr>
          <p:cNvPr id="5" name="Shape 3"/>
          <p:cNvSpPr/>
          <p:nvPr/>
        </p:nvSpPr>
        <p:spPr>
          <a:xfrm>
            <a:off x="1143000" y="1914525"/>
            <a:ext cx="14287500" cy="9525"/>
          </a:xfrm>
          <a:prstGeom prst="rect">
            <a:avLst/>
          </a:prstGeom>
          <a:solidFill>
            <a:srgbClr val="D9D2C5"/>
          </a:solidFill>
          <a:ln/>
        </p:spPr>
      </p:sp>
      <p:sp>
        <p:nvSpPr>
          <p:cNvPr id="6" name="Shape 4"/>
          <p:cNvSpPr/>
          <p:nvPr/>
        </p:nvSpPr>
        <p:spPr>
          <a:xfrm>
            <a:off x="1143000" y="2562225"/>
            <a:ext cx="14287500" cy="9525"/>
          </a:xfrm>
          <a:prstGeom prst="rect">
            <a:avLst/>
          </a:prstGeom>
          <a:solidFill>
            <a:srgbClr val="D9D2C5"/>
          </a:solidFill>
          <a:ln/>
        </p:spPr>
      </p:sp>
      <p:sp>
        <p:nvSpPr>
          <p:cNvPr id="7" name="Text 5"/>
          <p:cNvSpPr/>
          <p:nvPr/>
        </p:nvSpPr>
        <p:spPr>
          <a:xfrm>
            <a:off x="1143000" y="2081212"/>
            <a:ext cx="11969115" cy="361950"/>
          </a:xfrm>
          <a:prstGeom prst="rect">
            <a:avLst/>
          </a:prstGeom>
          <a:noFill/>
          <a:ln/>
        </p:spPr>
        <p:txBody>
          <a:bodyPr wrap="square" lIns="25400" tIns="25400" rIns="25400" bIns="25400" rtlCol="0" anchor="t">
            <a:normAutofit/>
          </a:bodyPr>
          <a:lstStyle/>
          <a:p>
            <a:pPr algn="l" indent="0" marL="0">
              <a:buNone/>
            </a:pPr>
            <a:r>
              <a:rPr lang="en-US" sz="2250" dirty="0">
                <a:solidFill>
                  <a:srgbClr val="161616"/>
                </a:solidFill>
                <a:latin typeface="Arial" pitchFamily="34" charset="0"/>
                <a:ea typeface="Arial" pitchFamily="34" charset="-122"/>
                <a:cs typeface="Arial" pitchFamily="34" charset="-120"/>
              </a:rPr>
              <a:t>Teléfono fijo</a:t>
            </a:r>
            <a:endParaRPr lang="en-US" sz="2250" dirty="0"/>
          </a:p>
        </p:txBody>
      </p:sp>
      <p:sp>
        <p:nvSpPr>
          <p:cNvPr id="8" name="Text 6"/>
          <p:cNvSpPr/>
          <p:nvPr/>
        </p:nvSpPr>
        <p:spPr>
          <a:xfrm>
            <a:off x="12683490" y="2038350"/>
            <a:ext cx="2747010" cy="447675"/>
          </a:xfrm>
          <a:prstGeom prst="rect">
            <a:avLst/>
          </a:prstGeom>
          <a:noFill/>
          <a:ln/>
        </p:spPr>
        <p:txBody>
          <a:bodyPr wrap="square" lIns="25400" tIns="25400" rIns="25400" bIns="25400" rtlCol="0" anchor="t">
            <a:normAutofit/>
          </a:bodyPr>
          <a:lstStyle/>
          <a:p>
            <a:pPr algn="r" indent="0" marL="0">
              <a:buNone/>
            </a:pPr>
            <a:r>
              <a:rPr lang="en-US" sz="2850" dirty="0">
                <a:solidFill>
                  <a:srgbClr val="141414"/>
                </a:solidFill>
                <a:latin typeface="Georgia" pitchFamily="34" charset="0"/>
                <a:ea typeface="Georgia" pitchFamily="34" charset="-122"/>
                <a:cs typeface="Georgia" pitchFamily="34" charset="-120"/>
              </a:rPr>
              <a:t>75 años</a:t>
            </a:r>
            <a:endParaRPr lang="en-US" sz="2850" dirty="0"/>
          </a:p>
        </p:txBody>
      </p:sp>
      <p:sp>
        <p:nvSpPr>
          <p:cNvPr id="9" name="Shape 7"/>
          <p:cNvSpPr/>
          <p:nvPr/>
        </p:nvSpPr>
        <p:spPr>
          <a:xfrm>
            <a:off x="1143000" y="3209925"/>
            <a:ext cx="14287500" cy="9525"/>
          </a:xfrm>
          <a:prstGeom prst="rect">
            <a:avLst/>
          </a:prstGeom>
          <a:solidFill>
            <a:srgbClr val="D9D2C5"/>
          </a:solidFill>
          <a:ln/>
        </p:spPr>
      </p:sp>
      <p:sp>
        <p:nvSpPr>
          <p:cNvPr id="10" name="Text 8"/>
          <p:cNvSpPr/>
          <p:nvPr/>
        </p:nvSpPr>
        <p:spPr>
          <a:xfrm>
            <a:off x="1143000" y="2728913"/>
            <a:ext cx="11969115" cy="361950"/>
          </a:xfrm>
          <a:prstGeom prst="rect">
            <a:avLst/>
          </a:prstGeom>
          <a:noFill/>
          <a:ln/>
        </p:spPr>
        <p:txBody>
          <a:bodyPr wrap="square" lIns="25400" tIns="25400" rIns="25400" bIns="25400" rtlCol="0" anchor="t">
            <a:normAutofit/>
          </a:bodyPr>
          <a:lstStyle/>
          <a:p>
            <a:pPr algn="l" indent="0" marL="0">
              <a:buNone/>
            </a:pPr>
            <a:r>
              <a:rPr lang="en-US" sz="2250" dirty="0">
                <a:solidFill>
                  <a:srgbClr val="161616"/>
                </a:solidFill>
                <a:latin typeface="Arial" pitchFamily="34" charset="0"/>
                <a:ea typeface="Arial" pitchFamily="34" charset="-122"/>
                <a:cs typeface="Arial" pitchFamily="34" charset="-120"/>
              </a:rPr>
              <a:t>Coche</a:t>
            </a:r>
            <a:endParaRPr lang="en-US" sz="2250" dirty="0"/>
          </a:p>
        </p:txBody>
      </p:sp>
      <p:sp>
        <p:nvSpPr>
          <p:cNvPr id="11" name="Text 9"/>
          <p:cNvSpPr/>
          <p:nvPr/>
        </p:nvSpPr>
        <p:spPr>
          <a:xfrm>
            <a:off x="12683490" y="2686050"/>
            <a:ext cx="2747010" cy="447675"/>
          </a:xfrm>
          <a:prstGeom prst="rect">
            <a:avLst/>
          </a:prstGeom>
          <a:noFill/>
          <a:ln/>
        </p:spPr>
        <p:txBody>
          <a:bodyPr wrap="square" lIns="25400" tIns="25400" rIns="25400" bIns="25400" rtlCol="0" anchor="t">
            <a:normAutofit/>
          </a:bodyPr>
          <a:lstStyle/>
          <a:p>
            <a:pPr algn="r" indent="0" marL="0">
              <a:buNone/>
            </a:pPr>
            <a:r>
              <a:rPr lang="en-US" sz="2850" dirty="0">
                <a:solidFill>
                  <a:srgbClr val="141414"/>
                </a:solidFill>
                <a:latin typeface="Georgia" pitchFamily="34" charset="0"/>
                <a:ea typeface="Georgia" pitchFamily="34" charset="-122"/>
                <a:cs typeface="Georgia" pitchFamily="34" charset="-120"/>
              </a:rPr>
              <a:t>62 años</a:t>
            </a:r>
            <a:endParaRPr lang="en-US" sz="2850" dirty="0"/>
          </a:p>
        </p:txBody>
      </p:sp>
      <p:sp>
        <p:nvSpPr>
          <p:cNvPr id="12" name="Shape 10"/>
          <p:cNvSpPr/>
          <p:nvPr/>
        </p:nvSpPr>
        <p:spPr>
          <a:xfrm>
            <a:off x="1143000" y="3857625"/>
            <a:ext cx="14287500" cy="9525"/>
          </a:xfrm>
          <a:prstGeom prst="rect">
            <a:avLst/>
          </a:prstGeom>
          <a:solidFill>
            <a:srgbClr val="D9D2C5"/>
          </a:solidFill>
          <a:ln/>
        </p:spPr>
      </p:sp>
      <p:sp>
        <p:nvSpPr>
          <p:cNvPr id="13" name="Text 11"/>
          <p:cNvSpPr/>
          <p:nvPr/>
        </p:nvSpPr>
        <p:spPr>
          <a:xfrm>
            <a:off x="1143000" y="3376613"/>
            <a:ext cx="11969115" cy="361950"/>
          </a:xfrm>
          <a:prstGeom prst="rect">
            <a:avLst/>
          </a:prstGeom>
          <a:noFill/>
          <a:ln/>
        </p:spPr>
        <p:txBody>
          <a:bodyPr wrap="square" lIns="25400" tIns="25400" rIns="25400" bIns="25400" rtlCol="0" anchor="t">
            <a:normAutofit/>
          </a:bodyPr>
          <a:lstStyle/>
          <a:p>
            <a:pPr algn="l" indent="0" marL="0">
              <a:buNone/>
            </a:pPr>
            <a:r>
              <a:rPr lang="en-US" sz="2250" dirty="0">
                <a:solidFill>
                  <a:srgbClr val="161616"/>
                </a:solidFill>
                <a:latin typeface="Arial" pitchFamily="34" charset="0"/>
                <a:ea typeface="Arial" pitchFamily="34" charset="-122"/>
                <a:cs typeface="Arial" pitchFamily="34" charset="-120"/>
              </a:rPr>
              <a:t>Teléfono móvil</a:t>
            </a:r>
            <a:endParaRPr lang="en-US" sz="2250" dirty="0"/>
          </a:p>
        </p:txBody>
      </p:sp>
      <p:sp>
        <p:nvSpPr>
          <p:cNvPr id="14" name="Text 12"/>
          <p:cNvSpPr/>
          <p:nvPr/>
        </p:nvSpPr>
        <p:spPr>
          <a:xfrm>
            <a:off x="12683490" y="3333750"/>
            <a:ext cx="2747010" cy="447675"/>
          </a:xfrm>
          <a:prstGeom prst="rect">
            <a:avLst/>
          </a:prstGeom>
          <a:noFill/>
          <a:ln/>
        </p:spPr>
        <p:txBody>
          <a:bodyPr wrap="square" lIns="25400" tIns="25400" rIns="25400" bIns="25400" rtlCol="0" anchor="t">
            <a:normAutofit/>
          </a:bodyPr>
          <a:lstStyle/>
          <a:p>
            <a:pPr algn="r" indent="0" marL="0">
              <a:buNone/>
            </a:pPr>
            <a:r>
              <a:rPr lang="en-US" sz="2850" dirty="0">
                <a:solidFill>
                  <a:srgbClr val="141414"/>
                </a:solidFill>
                <a:latin typeface="Georgia" pitchFamily="34" charset="0"/>
                <a:ea typeface="Georgia" pitchFamily="34" charset="-122"/>
                <a:cs typeface="Georgia" pitchFamily="34" charset="-120"/>
              </a:rPr>
              <a:t>16 años</a:t>
            </a:r>
            <a:endParaRPr lang="en-US" sz="2850" dirty="0"/>
          </a:p>
        </p:txBody>
      </p:sp>
      <p:sp>
        <p:nvSpPr>
          <p:cNvPr id="15" name="Shape 13"/>
          <p:cNvSpPr/>
          <p:nvPr/>
        </p:nvSpPr>
        <p:spPr>
          <a:xfrm>
            <a:off x="1143000" y="4505325"/>
            <a:ext cx="14287500" cy="9525"/>
          </a:xfrm>
          <a:prstGeom prst="rect">
            <a:avLst/>
          </a:prstGeom>
          <a:solidFill>
            <a:srgbClr val="D9D2C5"/>
          </a:solidFill>
          <a:ln/>
        </p:spPr>
      </p:sp>
      <p:sp>
        <p:nvSpPr>
          <p:cNvPr id="16" name="Text 14"/>
          <p:cNvSpPr/>
          <p:nvPr/>
        </p:nvSpPr>
        <p:spPr>
          <a:xfrm>
            <a:off x="1143000" y="4024313"/>
            <a:ext cx="11969115" cy="361950"/>
          </a:xfrm>
          <a:prstGeom prst="rect">
            <a:avLst/>
          </a:prstGeom>
          <a:noFill/>
          <a:ln/>
        </p:spPr>
        <p:txBody>
          <a:bodyPr wrap="square" lIns="25400" tIns="25400" rIns="25400" bIns="25400" rtlCol="0" anchor="t">
            <a:normAutofit/>
          </a:bodyPr>
          <a:lstStyle/>
          <a:p>
            <a:pPr algn="l" indent="0" marL="0">
              <a:buNone/>
            </a:pPr>
            <a:r>
              <a:rPr lang="en-US" sz="2250" dirty="0">
                <a:solidFill>
                  <a:srgbClr val="161616"/>
                </a:solidFill>
                <a:latin typeface="Arial" pitchFamily="34" charset="0"/>
                <a:ea typeface="Arial" pitchFamily="34" charset="-122"/>
                <a:cs typeface="Arial" pitchFamily="34" charset="-120"/>
              </a:rPr>
              <a:t>Televisión</a:t>
            </a:r>
            <a:endParaRPr lang="en-US" sz="2250" dirty="0"/>
          </a:p>
        </p:txBody>
      </p:sp>
      <p:sp>
        <p:nvSpPr>
          <p:cNvPr id="17" name="Text 15"/>
          <p:cNvSpPr/>
          <p:nvPr/>
        </p:nvSpPr>
        <p:spPr>
          <a:xfrm>
            <a:off x="12683490" y="3981450"/>
            <a:ext cx="2747010" cy="447675"/>
          </a:xfrm>
          <a:prstGeom prst="rect">
            <a:avLst/>
          </a:prstGeom>
          <a:noFill/>
          <a:ln/>
        </p:spPr>
        <p:txBody>
          <a:bodyPr wrap="square" lIns="25400" tIns="25400" rIns="25400" bIns="25400" rtlCol="0" anchor="t">
            <a:normAutofit/>
          </a:bodyPr>
          <a:lstStyle/>
          <a:p>
            <a:pPr algn="r" indent="0" marL="0">
              <a:buNone/>
            </a:pPr>
            <a:r>
              <a:rPr lang="en-US" sz="2850" dirty="0">
                <a:solidFill>
                  <a:srgbClr val="141414"/>
                </a:solidFill>
                <a:latin typeface="Georgia" pitchFamily="34" charset="0"/>
                <a:ea typeface="Georgia" pitchFamily="34" charset="-122"/>
                <a:cs typeface="Georgia" pitchFamily="34" charset="-120"/>
              </a:rPr>
              <a:t>14 años</a:t>
            </a:r>
            <a:endParaRPr lang="en-US" sz="2850" dirty="0"/>
          </a:p>
        </p:txBody>
      </p:sp>
      <p:sp>
        <p:nvSpPr>
          <p:cNvPr id="18" name="Shape 16"/>
          <p:cNvSpPr/>
          <p:nvPr/>
        </p:nvSpPr>
        <p:spPr>
          <a:xfrm>
            <a:off x="1143000" y="5153025"/>
            <a:ext cx="14287500" cy="9525"/>
          </a:xfrm>
          <a:prstGeom prst="rect">
            <a:avLst/>
          </a:prstGeom>
          <a:solidFill>
            <a:srgbClr val="D9D2C5"/>
          </a:solidFill>
          <a:ln/>
        </p:spPr>
      </p:sp>
      <p:sp>
        <p:nvSpPr>
          <p:cNvPr id="19" name="Text 17"/>
          <p:cNvSpPr/>
          <p:nvPr/>
        </p:nvSpPr>
        <p:spPr>
          <a:xfrm>
            <a:off x="1143000" y="4672013"/>
            <a:ext cx="11969115" cy="361950"/>
          </a:xfrm>
          <a:prstGeom prst="rect">
            <a:avLst/>
          </a:prstGeom>
          <a:noFill/>
          <a:ln/>
        </p:spPr>
        <p:txBody>
          <a:bodyPr wrap="square" lIns="25400" tIns="25400" rIns="25400" bIns="25400" rtlCol="0" anchor="t">
            <a:normAutofit/>
          </a:bodyPr>
          <a:lstStyle/>
          <a:p>
            <a:pPr algn="l" indent="0" marL="0">
              <a:buNone/>
            </a:pPr>
            <a:r>
              <a:rPr lang="en-US" sz="2250" dirty="0">
                <a:solidFill>
                  <a:srgbClr val="161616"/>
                </a:solidFill>
                <a:latin typeface="Arial" pitchFamily="34" charset="0"/>
                <a:ea typeface="Arial" pitchFamily="34" charset="-122"/>
                <a:cs typeface="Arial" pitchFamily="34" charset="-120"/>
              </a:rPr>
              <a:t>Internet</a:t>
            </a:r>
            <a:endParaRPr lang="en-US" sz="2250" dirty="0"/>
          </a:p>
        </p:txBody>
      </p:sp>
      <p:sp>
        <p:nvSpPr>
          <p:cNvPr id="20" name="Text 18"/>
          <p:cNvSpPr/>
          <p:nvPr/>
        </p:nvSpPr>
        <p:spPr>
          <a:xfrm>
            <a:off x="12683490" y="4629150"/>
            <a:ext cx="2747010" cy="447675"/>
          </a:xfrm>
          <a:prstGeom prst="rect">
            <a:avLst/>
          </a:prstGeom>
          <a:noFill/>
          <a:ln/>
        </p:spPr>
        <p:txBody>
          <a:bodyPr wrap="square" lIns="25400" tIns="25400" rIns="25400" bIns="25400" rtlCol="0" anchor="t">
            <a:normAutofit/>
          </a:bodyPr>
          <a:lstStyle/>
          <a:p>
            <a:pPr algn="r" indent="0" marL="0">
              <a:buNone/>
            </a:pPr>
            <a:r>
              <a:rPr lang="en-US" sz="2850" dirty="0">
                <a:solidFill>
                  <a:srgbClr val="141414"/>
                </a:solidFill>
                <a:latin typeface="Georgia" pitchFamily="34" charset="0"/>
                <a:ea typeface="Georgia" pitchFamily="34" charset="-122"/>
                <a:cs typeface="Georgia" pitchFamily="34" charset="-120"/>
              </a:rPr>
              <a:t>7 años</a:t>
            </a:r>
            <a:endParaRPr lang="en-US" sz="2850" dirty="0"/>
          </a:p>
        </p:txBody>
      </p:sp>
      <p:sp>
        <p:nvSpPr>
          <p:cNvPr id="21" name="Shape 19"/>
          <p:cNvSpPr/>
          <p:nvPr/>
        </p:nvSpPr>
        <p:spPr>
          <a:xfrm>
            <a:off x="1143000" y="5800725"/>
            <a:ext cx="14287500" cy="9525"/>
          </a:xfrm>
          <a:prstGeom prst="rect">
            <a:avLst/>
          </a:prstGeom>
          <a:solidFill>
            <a:srgbClr val="D9D2C5"/>
          </a:solidFill>
          <a:ln/>
        </p:spPr>
      </p:sp>
      <p:sp>
        <p:nvSpPr>
          <p:cNvPr id="22" name="Text 20"/>
          <p:cNvSpPr/>
          <p:nvPr/>
        </p:nvSpPr>
        <p:spPr>
          <a:xfrm>
            <a:off x="1143000" y="5319713"/>
            <a:ext cx="11969115" cy="361950"/>
          </a:xfrm>
          <a:prstGeom prst="rect">
            <a:avLst/>
          </a:prstGeom>
          <a:noFill/>
          <a:ln/>
        </p:spPr>
        <p:txBody>
          <a:bodyPr wrap="square" lIns="25400" tIns="25400" rIns="25400" bIns="25400" rtlCol="0" anchor="t">
            <a:normAutofit/>
          </a:bodyPr>
          <a:lstStyle/>
          <a:p>
            <a:pPr algn="l" indent="0" marL="0">
              <a:buNone/>
            </a:pPr>
            <a:r>
              <a:rPr lang="en-US" sz="2250" dirty="0">
                <a:solidFill>
                  <a:srgbClr val="161616"/>
                </a:solidFill>
                <a:latin typeface="Arial" pitchFamily="34" charset="0"/>
                <a:ea typeface="Arial" pitchFamily="34" charset="-122"/>
                <a:cs typeface="Arial" pitchFamily="34" charset="-120"/>
              </a:rPr>
              <a:t>Facebook</a:t>
            </a:r>
            <a:endParaRPr lang="en-US" sz="2250" dirty="0"/>
          </a:p>
        </p:txBody>
      </p:sp>
      <p:sp>
        <p:nvSpPr>
          <p:cNvPr id="23" name="Text 21"/>
          <p:cNvSpPr/>
          <p:nvPr/>
        </p:nvSpPr>
        <p:spPr>
          <a:xfrm>
            <a:off x="12683490" y="5276850"/>
            <a:ext cx="2747010" cy="447675"/>
          </a:xfrm>
          <a:prstGeom prst="rect">
            <a:avLst/>
          </a:prstGeom>
          <a:noFill/>
          <a:ln/>
        </p:spPr>
        <p:txBody>
          <a:bodyPr wrap="square" lIns="25400" tIns="25400" rIns="25400" bIns="25400" rtlCol="0" anchor="t">
            <a:normAutofit/>
          </a:bodyPr>
          <a:lstStyle/>
          <a:p>
            <a:pPr algn="r" indent="0" marL="0">
              <a:buNone/>
            </a:pPr>
            <a:r>
              <a:rPr lang="en-US" sz="2850" dirty="0">
                <a:solidFill>
                  <a:srgbClr val="141414"/>
                </a:solidFill>
                <a:latin typeface="Georgia" pitchFamily="34" charset="0"/>
                <a:ea typeface="Georgia" pitchFamily="34" charset="-122"/>
                <a:cs typeface="Georgia" pitchFamily="34" charset="-120"/>
              </a:rPr>
              <a:t>4,5 años</a:t>
            </a:r>
            <a:endParaRPr lang="en-US" sz="2850" dirty="0"/>
          </a:p>
        </p:txBody>
      </p:sp>
      <p:sp>
        <p:nvSpPr>
          <p:cNvPr id="24" name="Shape 22"/>
          <p:cNvSpPr/>
          <p:nvPr/>
        </p:nvSpPr>
        <p:spPr>
          <a:xfrm>
            <a:off x="1143000" y="6448425"/>
            <a:ext cx="14287500" cy="9525"/>
          </a:xfrm>
          <a:prstGeom prst="rect">
            <a:avLst/>
          </a:prstGeom>
          <a:solidFill>
            <a:srgbClr val="D9D2C5"/>
          </a:solidFill>
          <a:ln/>
        </p:spPr>
      </p:sp>
      <p:sp>
        <p:nvSpPr>
          <p:cNvPr id="25" name="Text 23"/>
          <p:cNvSpPr/>
          <p:nvPr/>
        </p:nvSpPr>
        <p:spPr>
          <a:xfrm>
            <a:off x="1143000" y="5967413"/>
            <a:ext cx="11969115" cy="361950"/>
          </a:xfrm>
          <a:prstGeom prst="rect">
            <a:avLst/>
          </a:prstGeom>
          <a:noFill/>
          <a:ln/>
        </p:spPr>
        <p:txBody>
          <a:bodyPr wrap="square" lIns="25400" tIns="25400" rIns="25400" bIns="25400" rtlCol="0" anchor="t">
            <a:normAutofit/>
          </a:bodyPr>
          <a:lstStyle/>
          <a:p>
            <a:pPr algn="l" indent="0" marL="0">
              <a:buNone/>
            </a:pPr>
            <a:r>
              <a:rPr lang="en-US" sz="2250" dirty="0">
                <a:solidFill>
                  <a:srgbClr val="161616"/>
                </a:solidFill>
                <a:latin typeface="Arial" pitchFamily="34" charset="0"/>
                <a:ea typeface="Arial" pitchFamily="34" charset="-122"/>
                <a:cs typeface="Arial" pitchFamily="34" charset="-120"/>
              </a:rPr>
              <a:t>Instagram</a:t>
            </a:r>
            <a:endParaRPr lang="en-US" sz="2250" dirty="0"/>
          </a:p>
        </p:txBody>
      </p:sp>
      <p:sp>
        <p:nvSpPr>
          <p:cNvPr id="26" name="Text 24"/>
          <p:cNvSpPr/>
          <p:nvPr/>
        </p:nvSpPr>
        <p:spPr>
          <a:xfrm>
            <a:off x="12683490" y="5924550"/>
            <a:ext cx="2747010" cy="447675"/>
          </a:xfrm>
          <a:prstGeom prst="rect">
            <a:avLst/>
          </a:prstGeom>
          <a:noFill/>
          <a:ln/>
        </p:spPr>
        <p:txBody>
          <a:bodyPr wrap="square" lIns="25400" tIns="25400" rIns="25400" bIns="25400" rtlCol="0" anchor="t">
            <a:normAutofit/>
          </a:bodyPr>
          <a:lstStyle/>
          <a:p>
            <a:pPr algn="r" indent="0" marL="0">
              <a:buNone/>
            </a:pPr>
            <a:r>
              <a:rPr lang="en-US" sz="2850" dirty="0">
                <a:solidFill>
                  <a:srgbClr val="141414"/>
                </a:solidFill>
                <a:latin typeface="Georgia" pitchFamily="34" charset="0"/>
                <a:ea typeface="Georgia" pitchFamily="34" charset="-122"/>
                <a:cs typeface="Georgia" pitchFamily="34" charset="-120"/>
              </a:rPr>
              <a:t>2,5 años</a:t>
            </a:r>
            <a:endParaRPr lang="en-US" sz="2850" dirty="0"/>
          </a:p>
        </p:txBody>
      </p:sp>
      <p:sp>
        <p:nvSpPr>
          <p:cNvPr id="27" name="Shape 25"/>
          <p:cNvSpPr/>
          <p:nvPr/>
        </p:nvSpPr>
        <p:spPr>
          <a:xfrm>
            <a:off x="1143000" y="7096125"/>
            <a:ext cx="14287500" cy="9525"/>
          </a:xfrm>
          <a:prstGeom prst="rect">
            <a:avLst/>
          </a:prstGeom>
          <a:solidFill>
            <a:srgbClr val="D9D2C5"/>
          </a:solidFill>
          <a:ln/>
        </p:spPr>
      </p:sp>
      <p:sp>
        <p:nvSpPr>
          <p:cNvPr id="28" name="Text 26"/>
          <p:cNvSpPr/>
          <p:nvPr/>
        </p:nvSpPr>
        <p:spPr>
          <a:xfrm>
            <a:off x="1143000" y="6615113"/>
            <a:ext cx="11969115" cy="361950"/>
          </a:xfrm>
          <a:prstGeom prst="rect">
            <a:avLst/>
          </a:prstGeom>
          <a:noFill/>
          <a:ln/>
        </p:spPr>
        <p:txBody>
          <a:bodyPr wrap="square" lIns="25400" tIns="25400" rIns="25400" bIns="25400" rtlCol="0" anchor="t">
            <a:normAutofit/>
          </a:bodyPr>
          <a:lstStyle/>
          <a:p>
            <a:pPr algn="l" indent="0" marL="0">
              <a:buNone/>
            </a:pPr>
            <a:r>
              <a:rPr lang="en-US" sz="2250" dirty="0">
                <a:solidFill>
                  <a:srgbClr val="161616"/>
                </a:solidFill>
                <a:latin typeface="Arial" pitchFamily="34" charset="0"/>
                <a:ea typeface="Arial" pitchFamily="34" charset="-122"/>
                <a:cs typeface="Arial" pitchFamily="34" charset="-120"/>
              </a:rPr>
              <a:t>TikTok</a:t>
            </a:r>
            <a:endParaRPr lang="en-US" sz="2250" dirty="0"/>
          </a:p>
        </p:txBody>
      </p:sp>
      <p:sp>
        <p:nvSpPr>
          <p:cNvPr id="29" name="Text 27"/>
          <p:cNvSpPr/>
          <p:nvPr/>
        </p:nvSpPr>
        <p:spPr>
          <a:xfrm>
            <a:off x="12683490" y="6572250"/>
            <a:ext cx="2747010" cy="447675"/>
          </a:xfrm>
          <a:prstGeom prst="rect">
            <a:avLst/>
          </a:prstGeom>
          <a:noFill/>
          <a:ln/>
        </p:spPr>
        <p:txBody>
          <a:bodyPr wrap="square" lIns="25400" tIns="25400" rIns="25400" bIns="25400" rtlCol="0" anchor="t">
            <a:normAutofit/>
          </a:bodyPr>
          <a:lstStyle/>
          <a:p>
            <a:pPr algn="r" indent="0" marL="0">
              <a:buNone/>
            </a:pPr>
            <a:r>
              <a:rPr lang="en-US" sz="2850" dirty="0">
                <a:solidFill>
                  <a:srgbClr val="141414"/>
                </a:solidFill>
                <a:latin typeface="Georgia" pitchFamily="34" charset="0"/>
                <a:ea typeface="Georgia" pitchFamily="34" charset="-122"/>
                <a:cs typeface="Georgia" pitchFamily="34" charset="-120"/>
              </a:rPr>
              <a:t>9 meses</a:t>
            </a:r>
            <a:endParaRPr lang="en-US" sz="2850" dirty="0"/>
          </a:p>
        </p:txBody>
      </p:sp>
      <p:sp>
        <p:nvSpPr>
          <p:cNvPr id="30" name="Shape 28"/>
          <p:cNvSpPr/>
          <p:nvPr/>
        </p:nvSpPr>
        <p:spPr>
          <a:xfrm>
            <a:off x="1143000" y="7743825"/>
            <a:ext cx="14287500" cy="9525"/>
          </a:xfrm>
          <a:prstGeom prst="rect">
            <a:avLst/>
          </a:prstGeom>
          <a:solidFill>
            <a:srgbClr val="D9D2C5"/>
          </a:solidFill>
          <a:ln/>
        </p:spPr>
      </p:sp>
      <p:sp>
        <p:nvSpPr>
          <p:cNvPr id="31" name="Text 29"/>
          <p:cNvSpPr/>
          <p:nvPr/>
        </p:nvSpPr>
        <p:spPr>
          <a:xfrm>
            <a:off x="1143000" y="7253288"/>
            <a:ext cx="11969115"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161616"/>
                </a:solidFill>
                <a:latin typeface="Arial" pitchFamily="34" charset="0"/>
                <a:ea typeface="Arial" pitchFamily="34" charset="-122"/>
                <a:cs typeface="Arial" pitchFamily="34" charset="-120"/>
              </a:rPr>
              <a:t>ChatGPT</a:t>
            </a:r>
            <a:endParaRPr lang="en-US" sz="2250" dirty="0"/>
          </a:p>
        </p:txBody>
      </p:sp>
      <p:sp>
        <p:nvSpPr>
          <p:cNvPr id="32" name="Text 30"/>
          <p:cNvSpPr/>
          <p:nvPr/>
        </p:nvSpPr>
        <p:spPr>
          <a:xfrm>
            <a:off x="12683490" y="7219950"/>
            <a:ext cx="2747010" cy="447675"/>
          </a:xfrm>
          <a:prstGeom prst="rect">
            <a:avLst/>
          </a:prstGeom>
          <a:noFill/>
          <a:ln/>
        </p:spPr>
        <p:txBody>
          <a:bodyPr wrap="square" lIns="25400" tIns="25400" rIns="25400" bIns="25400" rtlCol="0" anchor="t">
            <a:normAutofit/>
          </a:bodyPr>
          <a:lstStyle/>
          <a:p>
            <a:pPr algn="r" indent="0" marL="0">
              <a:buNone/>
            </a:pPr>
            <a:r>
              <a:rPr lang="en-US" sz="2850" dirty="0">
                <a:solidFill>
                  <a:srgbClr val="EC4429"/>
                </a:solidFill>
                <a:latin typeface="Georgia" pitchFamily="34" charset="0"/>
                <a:ea typeface="Georgia" pitchFamily="34" charset="-122"/>
                <a:cs typeface="Georgia" pitchFamily="34" charset="-120"/>
              </a:rPr>
              <a:t>2 meses</a:t>
            </a:r>
            <a:endParaRPr lang="en-US" sz="2850" dirty="0"/>
          </a:p>
        </p:txBody>
      </p:sp>
      <p:sp>
        <p:nvSpPr>
          <p:cNvPr id="33" name="Shape 31"/>
          <p:cNvSpPr/>
          <p:nvPr/>
        </p:nvSpPr>
        <p:spPr>
          <a:xfrm>
            <a:off x="1143000" y="8058150"/>
            <a:ext cx="14287500" cy="9525"/>
          </a:xfrm>
          <a:prstGeom prst="rect">
            <a:avLst/>
          </a:prstGeom>
          <a:solidFill>
            <a:srgbClr val="D9D2C5"/>
          </a:solidFill>
          <a:ln/>
        </p:spPr>
      </p:sp>
      <p:sp>
        <p:nvSpPr>
          <p:cNvPr id="34" name="Text 32"/>
          <p:cNvSpPr/>
          <p:nvPr/>
        </p:nvSpPr>
        <p:spPr>
          <a:xfrm>
            <a:off x="1143000" y="8067675"/>
            <a:ext cx="14716125" cy="419100"/>
          </a:xfrm>
          <a:prstGeom prst="rect">
            <a:avLst/>
          </a:prstGeom>
          <a:noFill/>
          <a:ln/>
        </p:spPr>
        <p:txBody>
          <a:bodyPr wrap="square" lIns="25400" tIns="25400" rIns="25400" bIns="25400" rtlCol="0" anchor="t">
            <a:normAutofit/>
          </a:bodyPr>
          <a:lstStyle/>
          <a:p>
            <a:pPr algn="l" indent="0" marL="0">
              <a:lnSpc>
                <a:spcPct val="130000"/>
              </a:lnSpc>
              <a:buNone/>
            </a:pPr>
            <a:r>
              <a:rPr lang="en-US" sz="2250" dirty="0">
                <a:solidFill>
                  <a:srgbClr val="5A5A5A"/>
                </a:solidFill>
                <a:latin typeface="Arial" pitchFamily="34" charset="0"/>
                <a:ea typeface="Arial" pitchFamily="34" charset="-122"/>
                <a:cs typeface="Arial" pitchFamily="34" charset="-120"/>
              </a:rPr>
              <a:t>El margen profesional para adaptarse ya no se mide en años. </a:t>
            </a:r>
            <a:pPr algn="l" indent="0" marL="0">
              <a:lnSpc>
                <a:spcPct val="130000"/>
              </a:lnSpc>
              <a:buNone/>
            </a:pPr>
            <a:r>
              <a:rPr lang="en-US" sz="2250" b="1" dirty="0">
                <a:solidFill>
                  <a:srgbClr val="EC4429"/>
                </a:solidFill>
                <a:latin typeface="Arial" pitchFamily="34" charset="0"/>
                <a:ea typeface="Arial" pitchFamily="34" charset="-122"/>
                <a:cs typeface="Arial" pitchFamily="34" charset="-120"/>
              </a:rPr>
              <a:t>Se mide en meses.</a:t>
            </a:r>
            <a:endParaRPr lang="en-US" sz="2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61616"/>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A5A5A"/>
                </a:solidFill>
                <a:latin typeface="Arial" pitchFamily="34" charset="0"/>
                <a:ea typeface="Arial" pitchFamily="34" charset="-122"/>
                <a:cs typeface="Arial" pitchFamily="34" charset="-120"/>
              </a:rPr>
              <a:t>10 / 42</a:t>
            </a:r>
            <a:endParaRPr lang="en-US" sz="1800" dirty="0"/>
          </a:p>
        </p:txBody>
      </p:sp>
      <p:sp>
        <p:nvSpPr>
          <p:cNvPr id="4" name="Text 2"/>
          <p:cNvSpPr/>
          <p:nvPr/>
        </p:nvSpPr>
        <p:spPr>
          <a:xfrm>
            <a:off x="6813029" y="2724150"/>
            <a:ext cx="4661792" cy="342900"/>
          </a:xfrm>
          <a:prstGeom prst="rect">
            <a:avLst/>
          </a:prstGeom>
          <a:noFill/>
          <a:ln/>
        </p:spPr>
        <p:txBody>
          <a:bodyPr wrap="square" lIns="25400" tIns="25400" rIns="25400" bIns="25400" rtlCol="0" anchor="t">
            <a:normAutofit/>
          </a:bodyPr>
          <a:lstStyle/>
          <a:p>
            <a:pPr algn="ctr" indent="0" marL="0">
              <a:buNone/>
            </a:pPr>
            <a:r>
              <a:rPr lang="en-US" sz="1950" b="1" spc="429" kern="0" dirty="0">
                <a:solidFill>
                  <a:srgbClr val="5A5A5A"/>
                </a:solidFill>
                <a:latin typeface="Arial" pitchFamily="34" charset="0"/>
                <a:ea typeface="Arial" pitchFamily="34" charset="-122"/>
                <a:cs typeface="Arial" pitchFamily="34" charset="-120"/>
              </a:rPr>
              <a:t>EL PRECEDENTE HISTÓRICO</a:t>
            </a:r>
            <a:endParaRPr lang="en-US" sz="1950" dirty="0"/>
          </a:p>
        </p:txBody>
      </p:sp>
      <p:sp>
        <p:nvSpPr>
          <p:cNvPr id="5" name="Text 3"/>
          <p:cNvSpPr/>
          <p:nvPr/>
        </p:nvSpPr>
        <p:spPr>
          <a:xfrm>
            <a:off x="1036174" y="3486150"/>
            <a:ext cx="7335375" cy="2438400"/>
          </a:xfrm>
          <a:prstGeom prst="rect">
            <a:avLst/>
          </a:prstGeom>
          <a:noFill/>
          <a:ln/>
        </p:spPr>
        <p:txBody>
          <a:bodyPr wrap="square" lIns="25400" tIns="25400" rIns="25400" bIns="25400" rtlCol="0" anchor="t">
            <a:normAutofit/>
          </a:bodyPr>
          <a:lstStyle/>
          <a:p>
            <a:pPr algn="ctr" indent="0" marL="0">
              <a:lnSpc>
                <a:spcPct val="90000"/>
              </a:lnSpc>
              <a:buNone/>
            </a:pPr>
            <a:r>
              <a:rPr lang="en-US" sz="21000" spc="-840" kern="0" dirty="0">
                <a:solidFill>
                  <a:srgbClr val="8A8A8A"/>
                </a:solidFill>
                <a:latin typeface="Georgia" pitchFamily="34" charset="0"/>
                <a:ea typeface="Georgia" pitchFamily="34" charset="-122"/>
                <a:cs typeface="Georgia" pitchFamily="34" charset="-120"/>
              </a:rPr>
              <a:t>623</a:t>
            </a:r>
            <a:pPr algn="ctr" indent="0" marL="0">
              <a:lnSpc>
                <a:spcPct val="90000"/>
              </a:lnSpc>
              <a:buNone/>
            </a:pPr>
            <a:r>
              <a:rPr lang="en-US" sz="11550" spc="-840" kern="0" dirty="0">
                <a:solidFill>
                  <a:srgbClr val="8A8A8A"/>
                </a:solidFill>
                <a:latin typeface="Georgia" pitchFamily="34" charset="0"/>
                <a:ea typeface="Georgia" pitchFamily="34" charset="-122"/>
                <a:cs typeface="Georgia" pitchFamily="34" charset="-120"/>
              </a:rPr>
              <a:t>k</a:t>
            </a:r>
            <a:endParaRPr lang="en-US" sz="21000" dirty="0"/>
          </a:p>
        </p:txBody>
      </p:sp>
      <p:sp>
        <p:nvSpPr>
          <p:cNvPr id="6" name="Text 4"/>
          <p:cNvSpPr/>
          <p:nvPr/>
        </p:nvSpPr>
        <p:spPr>
          <a:xfrm>
            <a:off x="1036174" y="6115050"/>
            <a:ext cx="7335375" cy="457200"/>
          </a:xfrm>
          <a:prstGeom prst="rect">
            <a:avLst/>
          </a:prstGeom>
          <a:noFill/>
          <a:ln/>
        </p:spPr>
        <p:txBody>
          <a:bodyPr wrap="square" lIns="25400" tIns="25400" rIns="25400" bIns="25400" rtlCol="0" anchor="t">
            <a:normAutofit/>
          </a:bodyPr>
          <a:lstStyle/>
          <a:p>
            <a:pPr algn="ctr" indent="0" marL="0">
              <a:buNone/>
            </a:pPr>
            <a:r>
              <a:rPr lang="en-US" sz="2700" b="1" spc="486" kern="0" dirty="0">
                <a:solidFill>
                  <a:srgbClr val="5A5A5A"/>
                </a:solidFill>
                <a:latin typeface="Arial" pitchFamily="34" charset="0"/>
                <a:ea typeface="Arial" pitchFamily="34" charset="-122"/>
                <a:cs typeface="Arial" pitchFamily="34" charset="-120"/>
              </a:rPr>
              <a:t>TRABAJOS DESTRUIDOS</a:t>
            </a:r>
            <a:endParaRPr lang="en-US" sz="2700" dirty="0"/>
          </a:p>
        </p:txBody>
      </p:sp>
      <p:sp>
        <p:nvSpPr>
          <p:cNvPr id="7" name="Text 5"/>
          <p:cNvSpPr/>
          <p:nvPr/>
        </p:nvSpPr>
        <p:spPr>
          <a:xfrm>
            <a:off x="8607623" y="4576763"/>
            <a:ext cx="1072604" cy="904875"/>
          </a:xfrm>
          <a:prstGeom prst="rect">
            <a:avLst/>
          </a:prstGeom>
          <a:noFill/>
          <a:ln/>
        </p:spPr>
        <p:txBody>
          <a:bodyPr wrap="square" lIns="25400" tIns="25400" rIns="25400" bIns="25400" rtlCol="0" anchor="t">
            <a:normAutofit/>
          </a:bodyPr>
          <a:lstStyle/>
          <a:p>
            <a:pPr algn="ctr" indent="0" marL="0">
              <a:buNone/>
            </a:pPr>
            <a:r>
              <a:rPr lang="en-US" sz="6000" spc="240" kern="0" dirty="0">
                <a:solidFill>
                  <a:srgbClr val="8A8A8A"/>
                </a:solidFill>
                <a:latin typeface="Georgia" pitchFamily="34" charset="0"/>
                <a:ea typeface="Georgia" pitchFamily="34" charset="-122"/>
                <a:cs typeface="Georgia" pitchFamily="34" charset="-120"/>
              </a:rPr>
              <a:t>VS</a:t>
            </a:r>
            <a:endParaRPr lang="en-US" sz="6000" dirty="0"/>
          </a:p>
        </p:txBody>
      </p:sp>
      <p:sp>
        <p:nvSpPr>
          <p:cNvPr id="8" name="Text 6"/>
          <p:cNvSpPr/>
          <p:nvPr/>
        </p:nvSpPr>
        <p:spPr>
          <a:xfrm>
            <a:off x="9916300" y="3486150"/>
            <a:ext cx="7335528" cy="2438400"/>
          </a:xfrm>
          <a:prstGeom prst="rect">
            <a:avLst/>
          </a:prstGeom>
          <a:noFill/>
          <a:ln/>
        </p:spPr>
        <p:txBody>
          <a:bodyPr wrap="square" lIns="25400" tIns="25400" rIns="25400" bIns="25400" rtlCol="0" anchor="t">
            <a:normAutofit/>
          </a:bodyPr>
          <a:lstStyle/>
          <a:p>
            <a:pPr algn="ctr" indent="0" marL="0">
              <a:lnSpc>
                <a:spcPct val="90000"/>
              </a:lnSpc>
              <a:buNone/>
            </a:pPr>
            <a:r>
              <a:rPr lang="en-US" sz="21000" spc="-840" kern="0" dirty="0">
                <a:solidFill>
                  <a:srgbClr val="EC4429"/>
                </a:solidFill>
                <a:latin typeface="Georgia" pitchFamily="34" charset="0"/>
                <a:ea typeface="Georgia" pitchFamily="34" charset="-122"/>
                <a:cs typeface="Georgia" pitchFamily="34" charset="-120"/>
              </a:rPr>
              <a:t>7,5</a:t>
            </a:r>
            <a:pPr algn="ctr" indent="0" marL="0">
              <a:lnSpc>
                <a:spcPct val="90000"/>
              </a:lnSpc>
              <a:buNone/>
            </a:pPr>
            <a:r>
              <a:rPr lang="en-US" sz="11550" spc="-840" kern="0" dirty="0">
                <a:solidFill>
                  <a:srgbClr val="EC4429"/>
                </a:solidFill>
                <a:latin typeface="Georgia" pitchFamily="34" charset="0"/>
                <a:ea typeface="Georgia" pitchFamily="34" charset="-122"/>
                <a:cs typeface="Georgia" pitchFamily="34" charset="-120"/>
              </a:rPr>
              <a:t>M</a:t>
            </a:r>
            <a:endParaRPr lang="en-US" sz="21000" dirty="0"/>
          </a:p>
        </p:txBody>
      </p:sp>
      <p:sp>
        <p:nvSpPr>
          <p:cNvPr id="9" name="Text 7"/>
          <p:cNvSpPr/>
          <p:nvPr/>
        </p:nvSpPr>
        <p:spPr>
          <a:xfrm>
            <a:off x="9916300" y="6115050"/>
            <a:ext cx="7335528" cy="457200"/>
          </a:xfrm>
          <a:prstGeom prst="rect">
            <a:avLst/>
          </a:prstGeom>
          <a:noFill/>
          <a:ln/>
        </p:spPr>
        <p:txBody>
          <a:bodyPr wrap="square" lIns="25400" tIns="25400" rIns="25400" bIns="25400" rtlCol="0" anchor="t">
            <a:normAutofit/>
          </a:bodyPr>
          <a:lstStyle/>
          <a:p>
            <a:pPr algn="ctr" indent="0" marL="0">
              <a:buNone/>
            </a:pPr>
            <a:r>
              <a:rPr lang="en-US" sz="2700" b="1" spc="486" kern="0" dirty="0">
                <a:solidFill>
                  <a:srgbClr val="5A5A5A"/>
                </a:solidFill>
                <a:latin typeface="Arial" pitchFamily="34" charset="0"/>
                <a:ea typeface="Arial" pitchFamily="34" charset="-122"/>
                <a:cs typeface="Arial" pitchFamily="34" charset="-120"/>
              </a:rPr>
              <a:t>TRABAJOS CREADOS</a:t>
            </a:r>
            <a:endParaRPr lang="en-US" sz="2700" dirty="0"/>
          </a:p>
        </p:txBody>
      </p:sp>
      <p:sp>
        <p:nvSpPr>
          <p:cNvPr id="10" name="Text 8"/>
          <p:cNvSpPr/>
          <p:nvPr/>
        </p:nvSpPr>
        <p:spPr>
          <a:xfrm>
            <a:off x="6654369" y="7219950"/>
            <a:ext cx="4979262" cy="381000"/>
          </a:xfrm>
          <a:prstGeom prst="rect">
            <a:avLst/>
          </a:prstGeom>
          <a:noFill/>
          <a:ln/>
        </p:spPr>
        <p:txBody>
          <a:bodyPr wrap="square" lIns="25400" tIns="25400" rIns="25400" bIns="25400" rtlCol="0" anchor="t">
            <a:normAutofit/>
          </a:bodyPr>
          <a:lstStyle/>
          <a:p>
            <a:pPr algn="ctr" indent="0" marL="0">
              <a:buNone/>
            </a:pPr>
            <a:r>
              <a:rPr lang="en-US" sz="2250" b="1" spc="360" kern="0" dirty="0">
                <a:solidFill>
                  <a:srgbClr val="5A5A5A"/>
                </a:solidFill>
                <a:latin typeface="Arial" pitchFamily="34" charset="0"/>
                <a:ea typeface="Arial" pitchFamily="34" charset="-122"/>
                <a:cs typeface="Arial" pitchFamily="34" charset="-120"/>
              </a:rPr>
              <a:t>CARRUAJE </a:t>
            </a:r>
            <a:pPr algn="ctr" indent="0" marL="0">
              <a:buNone/>
            </a:pPr>
            <a:r>
              <a:rPr lang="en-US" sz="2250" b="1" spc="360" kern="0" dirty="0">
                <a:solidFill>
                  <a:srgbClr val="8A8A8A"/>
                </a:solidFill>
                <a:latin typeface="Arial" pitchFamily="34" charset="0"/>
                <a:ea typeface="Arial" pitchFamily="34" charset="-122"/>
                <a:cs typeface="Arial" pitchFamily="34" charset="-120"/>
              </a:rPr>
              <a:t>VS </a:t>
            </a:r>
            <a:pPr algn="ctr" indent="0" marL="0">
              <a:buNone/>
            </a:pPr>
            <a:r>
              <a:rPr lang="en-US" sz="2250" b="1" spc="360" kern="0" dirty="0">
                <a:solidFill>
                  <a:srgbClr val="5A5A5A"/>
                </a:solidFill>
                <a:latin typeface="Arial" pitchFamily="34" charset="0"/>
                <a:ea typeface="Arial" pitchFamily="34" charset="-122"/>
                <a:cs typeface="Arial" pitchFamily="34" charset="-120"/>
              </a:rPr>
              <a:t>AUTOMÓVIL</a:t>
            </a:r>
            <a:endParaRPr lang="en-US" sz="2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61616"/>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A5A5A"/>
                </a:solidFill>
                <a:latin typeface="Arial" pitchFamily="34" charset="0"/>
                <a:ea typeface="Arial" pitchFamily="34" charset="-122"/>
                <a:cs typeface="Arial" pitchFamily="34" charset="-120"/>
              </a:rPr>
              <a:t>11 / 42</a:t>
            </a:r>
            <a:endParaRPr lang="en-US" sz="1800" dirty="0"/>
          </a:p>
        </p:txBody>
      </p:sp>
      <p:sp>
        <p:nvSpPr>
          <p:cNvPr id="4" name="Text 2"/>
          <p:cNvSpPr/>
          <p:nvPr/>
        </p:nvSpPr>
        <p:spPr>
          <a:xfrm>
            <a:off x="1143000" y="2549277"/>
            <a:ext cx="472529" cy="342900"/>
          </a:xfrm>
          <a:prstGeom prst="rect">
            <a:avLst/>
          </a:prstGeom>
          <a:noFill/>
          <a:ln/>
        </p:spPr>
        <p:txBody>
          <a:bodyPr wrap="square" lIns="25400" tIns="25400" rIns="25400" bIns="25400" rtlCol="0" anchor="t">
            <a:normAutofit/>
          </a:bodyPr>
          <a:lstStyle/>
          <a:p>
            <a:pPr algn="l" indent="0" marL="0">
              <a:buNone/>
            </a:pPr>
            <a:r>
              <a:rPr lang="en-US" sz="1950" b="1" spc="429" kern="0" dirty="0">
                <a:solidFill>
                  <a:srgbClr val="5A5A5A"/>
                </a:solidFill>
                <a:latin typeface="Arial" pitchFamily="34" charset="0"/>
                <a:ea typeface="Arial" pitchFamily="34" charset="-122"/>
                <a:cs typeface="Arial" pitchFamily="34" charset="-120"/>
              </a:rPr>
              <a:t>09</a:t>
            </a:r>
            <a:endParaRPr lang="en-US" sz="1950" dirty="0"/>
          </a:p>
        </p:txBody>
      </p:sp>
      <p:sp>
        <p:nvSpPr>
          <p:cNvPr id="5" name="Text 3"/>
          <p:cNvSpPr/>
          <p:nvPr/>
        </p:nvSpPr>
        <p:spPr>
          <a:xfrm>
            <a:off x="1143000" y="3158877"/>
            <a:ext cx="8422222" cy="2136577"/>
          </a:xfrm>
          <a:prstGeom prst="rect">
            <a:avLst/>
          </a:prstGeom>
          <a:noFill/>
          <a:ln/>
        </p:spPr>
        <p:txBody>
          <a:bodyPr wrap="square" lIns="25400" tIns="25400" rIns="25400" bIns="25400" rtlCol="0" anchor="t">
            <a:normAutofit/>
          </a:bodyPr>
          <a:lstStyle/>
          <a:p>
            <a:pPr algn="l" indent="0" marL="0">
              <a:lnSpc>
                <a:spcPct val="102000"/>
              </a:lnSpc>
              <a:buNone/>
            </a:pPr>
            <a:r>
              <a:rPr lang="en-US" sz="8100" spc="-178" kern="0" dirty="0">
                <a:solidFill>
                  <a:srgbClr val="161616"/>
                </a:solidFill>
                <a:latin typeface="Georgia" pitchFamily="34" charset="0"/>
                <a:ea typeface="Georgia" pitchFamily="34" charset="-122"/>
                <a:cs typeface="Georgia" pitchFamily="34" charset="-120"/>
              </a:rPr>
              <a:t>¿Por qué entramos en pánico</a:t>
            </a:r>
            <a:pPr algn="l" indent="0" marL="0">
              <a:lnSpc>
                <a:spcPct val="102000"/>
              </a:lnSpc>
              <a:buNone/>
            </a:pPr>
            <a:r>
              <a:rPr lang="en-US" sz="8100" spc="-178" kern="0" dirty="0">
                <a:solidFill>
                  <a:srgbClr val="EC4429"/>
                </a:solidFill>
                <a:latin typeface="Georgia" pitchFamily="34" charset="0"/>
                <a:ea typeface="Georgia" pitchFamily="34" charset="-122"/>
                <a:cs typeface="Georgia" pitchFamily="34" charset="-120"/>
              </a:rPr>
              <a:t>?</a:t>
            </a:r>
            <a:endParaRPr lang="en-US" sz="8100" dirty="0"/>
          </a:p>
        </p:txBody>
      </p:sp>
      <p:sp>
        <p:nvSpPr>
          <p:cNvPr id="6" name="Text 4"/>
          <p:cNvSpPr/>
          <p:nvPr/>
        </p:nvSpPr>
        <p:spPr>
          <a:xfrm>
            <a:off x="1143000" y="5943154"/>
            <a:ext cx="647700" cy="483840"/>
          </a:xfrm>
          <a:prstGeom prst="rect">
            <a:avLst/>
          </a:prstGeom>
          <a:noFill/>
          <a:ln/>
        </p:spPr>
        <p:txBody>
          <a:bodyPr wrap="square" lIns="25400" tIns="25400" rIns="25400" bIns="25400" rtlCol="0" anchor="t">
            <a:normAutofit/>
          </a:bodyPr>
          <a:lstStyle/>
          <a:p>
            <a:pPr algn="l" indent="0" marL="0">
              <a:lnSpc>
                <a:spcPct val="104000"/>
              </a:lnSpc>
              <a:buNone/>
            </a:pPr>
            <a:r>
              <a:rPr lang="en-US" sz="3300" spc="-49" kern="0" dirty="0">
                <a:solidFill>
                  <a:srgbClr val="EC4429"/>
                </a:solidFill>
                <a:latin typeface="Georgia" pitchFamily="34" charset="0"/>
                <a:ea typeface="Georgia" pitchFamily="34" charset="-122"/>
                <a:cs typeface="Georgia" pitchFamily="34" charset="-120"/>
              </a:rPr>
              <a:t>01</a:t>
            </a:r>
            <a:endParaRPr lang="en-US" sz="3300" dirty="0"/>
          </a:p>
        </p:txBody>
      </p:sp>
      <p:sp>
        <p:nvSpPr>
          <p:cNvPr id="7" name="Text 5"/>
          <p:cNvSpPr/>
          <p:nvPr/>
        </p:nvSpPr>
        <p:spPr>
          <a:xfrm>
            <a:off x="1943100" y="5943154"/>
            <a:ext cx="9315614" cy="483840"/>
          </a:xfrm>
          <a:prstGeom prst="rect">
            <a:avLst/>
          </a:prstGeom>
          <a:noFill/>
          <a:ln/>
        </p:spPr>
        <p:txBody>
          <a:bodyPr wrap="square" lIns="25400" tIns="25400" rIns="25400" bIns="25400" rtlCol="0" anchor="t">
            <a:normAutofit/>
          </a:bodyPr>
          <a:lstStyle/>
          <a:p>
            <a:pPr algn="l" indent="0" marL="0">
              <a:lnSpc>
                <a:spcPct val="130000"/>
              </a:lnSpc>
              <a:buNone/>
            </a:pPr>
            <a:r>
              <a:rPr lang="en-US" sz="2700" dirty="0">
                <a:solidFill>
                  <a:srgbClr val="161616"/>
                </a:solidFill>
                <a:latin typeface="Arial" pitchFamily="34" charset="0"/>
                <a:ea typeface="Arial" pitchFamily="34" charset="-122"/>
                <a:cs typeface="Arial" pitchFamily="34" charset="-120"/>
              </a:rPr>
              <a:t>Fácil de ver la pérdida de trabajo.</a:t>
            </a:r>
            <a:endParaRPr lang="en-US" sz="2700" dirty="0"/>
          </a:p>
        </p:txBody>
      </p:sp>
      <p:sp>
        <p:nvSpPr>
          <p:cNvPr id="8" name="Text 6"/>
          <p:cNvSpPr/>
          <p:nvPr/>
        </p:nvSpPr>
        <p:spPr>
          <a:xfrm>
            <a:off x="1143000" y="6617494"/>
            <a:ext cx="647700" cy="483840"/>
          </a:xfrm>
          <a:prstGeom prst="rect">
            <a:avLst/>
          </a:prstGeom>
          <a:noFill/>
          <a:ln/>
        </p:spPr>
        <p:txBody>
          <a:bodyPr wrap="square" lIns="25400" tIns="25400" rIns="25400" bIns="25400" rtlCol="0" anchor="t">
            <a:normAutofit/>
          </a:bodyPr>
          <a:lstStyle/>
          <a:p>
            <a:pPr algn="l" indent="0" marL="0">
              <a:lnSpc>
                <a:spcPct val="104000"/>
              </a:lnSpc>
              <a:buNone/>
            </a:pPr>
            <a:r>
              <a:rPr lang="en-US" sz="3300" spc="-49" kern="0" dirty="0">
                <a:solidFill>
                  <a:srgbClr val="EC4429"/>
                </a:solidFill>
                <a:latin typeface="Georgia" pitchFamily="34" charset="0"/>
                <a:ea typeface="Georgia" pitchFamily="34" charset="-122"/>
                <a:cs typeface="Georgia" pitchFamily="34" charset="-120"/>
              </a:rPr>
              <a:t>02</a:t>
            </a:r>
            <a:endParaRPr lang="en-US" sz="3300" dirty="0"/>
          </a:p>
        </p:txBody>
      </p:sp>
      <p:sp>
        <p:nvSpPr>
          <p:cNvPr id="9" name="Text 7"/>
          <p:cNvSpPr/>
          <p:nvPr/>
        </p:nvSpPr>
        <p:spPr>
          <a:xfrm>
            <a:off x="1943100" y="6617494"/>
            <a:ext cx="9315614" cy="483840"/>
          </a:xfrm>
          <a:prstGeom prst="rect">
            <a:avLst/>
          </a:prstGeom>
          <a:noFill/>
          <a:ln/>
        </p:spPr>
        <p:txBody>
          <a:bodyPr wrap="square" lIns="25400" tIns="25400" rIns="25400" bIns="25400" rtlCol="0" anchor="t">
            <a:normAutofit/>
          </a:bodyPr>
          <a:lstStyle/>
          <a:p>
            <a:pPr algn="l" indent="0" marL="0">
              <a:lnSpc>
                <a:spcPct val="130000"/>
              </a:lnSpc>
              <a:buNone/>
            </a:pPr>
            <a:r>
              <a:rPr lang="en-US" sz="2700" dirty="0">
                <a:solidFill>
                  <a:srgbClr val="161616"/>
                </a:solidFill>
                <a:latin typeface="Arial" pitchFamily="34" charset="0"/>
                <a:ea typeface="Arial" pitchFamily="34" charset="-122"/>
                <a:cs typeface="Arial" pitchFamily="34" charset="-120"/>
              </a:rPr>
              <a:t>Muy difícil predecir los nuevos trabajos.</a:t>
            </a:r>
            <a:endParaRPr lang="en-US" sz="2700" dirty="0"/>
          </a:p>
        </p:txBody>
      </p:sp>
      <p:sp>
        <p:nvSpPr>
          <p:cNvPr id="10" name="Text 8"/>
          <p:cNvSpPr/>
          <p:nvPr/>
        </p:nvSpPr>
        <p:spPr>
          <a:xfrm>
            <a:off x="1143000" y="7291834"/>
            <a:ext cx="647700" cy="483840"/>
          </a:xfrm>
          <a:prstGeom prst="rect">
            <a:avLst/>
          </a:prstGeom>
          <a:noFill/>
          <a:ln/>
        </p:spPr>
        <p:txBody>
          <a:bodyPr wrap="square" lIns="25400" tIns="25400" rIns="25400" bIns="25400" rtlCol="0" anchor="t">
            <a:normAutofit/>
          </a:bodyPr>
          <a:lstStyle/>
          <a:p>
            <a:pPr algn="l" indent="0" marL="0">
              <a:lnSpc>
                <a:spcPct val="104000"/>
              </a:lnSpc>
              <a:buNone/>
            </a:pPr>
            <a:r>
              <a:rPr lang="en-US" sz="3300" spc="-49" kern="0" dirty="0">
                <a:solidFill>
                  <a:srgbClr val="EC4429"/>
                </a:solidFill>
                <a:latin typeface="Georgia" pitchFamily="34" charset="0"/>
                <a:ea typeface="Georgia" pitchFamily="34" charset="-122"/>
                <a:cs typeface="Georgia" pitchFamily="34" charset="-120"/>
              </a:rPr>
              <a:t>03</a:t>
            </a:r>
            <a:endParaRPr lang="en-US" sz="3300" dirty="0"/>
          </a:p>
        </p:txBody>
      </p:sp>
      <p:sp>
        <p:nvSpPr>
          <p:cNvPr id="11" name="Text 9"/>
          <p:cNvSpPr/>
          <p:nvPr/>
        </p:nvSpPr>
        <p:spPr>
          <a:xfrm>
            <a:off x="1943100" y="7291834"/>
            <a:ext cx="9315614" cy="483840"/>
          </a:xfrm>
          <a:prstGeom prst="rect">
            <a:avLst/>
          </a:prstGeom>
          <a:noFill/>
          <a:ln/>
        </p:spPr>
        <p:txBody>
          <a:bodyPr wrap="square" lIns="25400" tIns="25400" rIns="25400" bIns="25400" rtlCol="0" anchor="t">
            <a:normAutofit/>
          </a:bodyPr>
          <a:lstStyle/>
          <a:p>
            <a:pPr algn="l" indent="0" marL="0">
              <a:lnSpc>
                <a:spcPct val="130000"/>
              </a:lnSpc>
              <a:buNone/>
            </a:pPr>
            <a:r>
              <a:rPr lang="en-US" sz="2700" dirty="0">
                <a:solidFill>
                  <a:srgbClr val="161616"/>
                </a:solidFill>
                <a:latin typeface="Arial" pitchFamily="34" charset="0"/>
                <a:ea typeface="Arial" pitchFamily="34" charset="-122"/>
                <a:cs typeface="Arial" pitchFamily="34" charset="-120"/>
              </a:rPr>
              <a:t>Miedo a perder el trabajo </a:t>
            </a:r>
            <a:pPr algn="l" indent="0" marL="0">
              <a:lnSpc>
                <a:spcPct val="130000"/>
              </a:lnSpc>
              <a:buNone/>
            </a:pPr>
            <a:r>
              <a:rPr lang="en-US" sz="2700" dirty="0">
                <a:solidFill>
                  <a:srgbClr val="8A8A8A"/>
                </a:solidFill>
                <a:latin typeface="Arial" pitchFamily="34" charset="0"/>
                <a:ea typeface="Arial" pitchFamily="34" charset="-122"/>
                <a:cs typeface="Arial" pitchFamily="34" charset="-120"/>
              </a:rPr>
              <a:t>= </a:t>
            </a:r>
            <a:pPr algn="l" indent="0" marL="0">
              <a:lnSpc>
                <a:spcPct val="130000"/>
              </a:lnSpc>
              <a:buNone/>
            </a:pPr>
            <a:r>
              <a:rPr lang="en-US" sz="2700" dirty="0">
                <a:solidFill>
                  <a:srgbClr val="161616"/>
                </a:solidFill>
                <a:latin typeface="Arial" pitchFamily="34" charset="0"/>
                <a:ea typeface="Arial" pitchFamily="34" charset="-122"/>
                <a:cs typeface="Arial" pitchFamily="34" charset="-120"/>
              </a:rPr>
              <a:t>parálisis o nihilismo profesional.</a:t>
            </a:r>
            <a:endParaRPr lang="en-US" sz="2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F5F2EC"/>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7A766F"/>
                </a:solidFill>
                <a:latin typeface="Arial" pitchFamily="34" charset="0"/>
                <a:ea typeface="Arial" pitchFamily="34" charset="-122"/>
                <a:cs typeface="Arial" pitchFamily="34" charset="-120"/>
              </a:rPr>
              <a:t>12 / 42</a:t>
            </a:r>
            <a:endParaRPr lang="en-US" sz="1800" dirty="0"/>
          </a:p>
        </p:txBody>
      </p:sp>
      <p:sp>
        <p:nvSpPr>
          <p:cNvPr id="4" name="Text 2"/>
          <p:cNvSpPr/>
          <p:nvPr/>
        </p:nvSpPr>
        <p:spPr>
          <a:xfrm>
            <a:off x="1143000" y="2514600"/>
            <a:ext cx="6936200" cy="342900"/>
          </a:xfrm>
          <a:prstGeom prst="rect">
            <a:avLst/>
          </a:prstGeom>
          <a:noFill/>
          <a:ln/>
        </p:spPr>
        <p:txBody>
          <a:bodyPr wrap="square" lIns="25400" tIns="25400" rIns="25400" bIns="25400" rtlCol="0" anchor="t">
            <a:normAutofit/>
          </a:bodyPr>
          <a:lstStyle/>
          <a:p>
            <a:pPr algn="l" indent="0" marL="0">
              <a:buNone/>
            </a:pPr>
            <a:r>
              <a:rPr lang="en-US" sz="1950" b="1" spc="429" kern="0" dirty="0">
                <a:solidFill>
                  <a:srgbClr val="EC4429"/>
                </a:solidFill>
                <a:latin typeface="Arial" pitchFamily="34" charset="0"/>
                <a:ea typeface="Arial" pitchFamily="34" charset="-122"/>
                <a:cs typeface="Arial" pitchFamily="34" charset="-120"/>
              </a:rPr>
              <a:t>12 · ¿CÓMO CONSERVAMOS EL TRABAJO?</a:t>
            </a:r>
            <a:endParaRPr lang="en-US" sz="1950" dirty="0"/>
          </a:p>
        </p:txBody>
      </p:sp>
      <p:sp>
        <p:nvSpPr>
          <p:cNvPr id="5" name="Text 3"/>
          <p:cNvSpPr/>
          <p:nvPr/>
        </p:nvSpPr>
        <p:spPr>
          <a:xfrm>
            <a:off x="1143000" y="3276600"/>
            <a:ext cx="15893415" cy="3695551"/>
          </a:xfrm>
          <a:prstGeom prst="rect">
            <a:avLst/>
          </a:prstGeom>
          <a:noFill/>
          <a:ln/>
        </p:spPr>
        <p:txBody>
          <a:bodyPr wrap="square" lIns="25400" tIns="25400" rIns="25400" bIns="25400" rtlCol="0" anchor="t">
            <a:normAutofit/>
          </a:bodyPr>
          <a:lstStyle/>
          <a:p>
            <a:pPr algn="l" indent="0" marL="0">
              <a:lnSpc>
                <a:spcPct val="120000"/>
              </a:lnSpc>
              <a:buNone/>
            </a:pPr>
            <a:r>
              <a:rPr lang="en-US" sz="4800" spc="-72" kern="0" dirty="0">
                <a:solidFill>
                  <a:srgbClr val="EC4429"/>
                </a:solidFill>
                <a:latin typeface="Georgia" pitchFamily="34" charset="0"/>
                <a:ea typeface="Georgia" pitchFamily="34" charset="-122"/>
                <a:cs typeface="Georgia" pitchFamily="34" charset="-120"/>
              </a:rPr>
              <a:t>“ </a:t>
            </a:r>
            <a:pPr algn="l" indent="0" marL="0">
              <a:lnSpc>
                <a:spcPct val="120000"/>
              </a:lnSpc>
              <a:buNone/>
            </a:pPr>
            <a:r>
              <a:rPr lang="en-US" sz="4800" spc="-72" kern="0" dirty="0">
                <a:solidFill>
                  <a:srgbClr val="B8B2A8"/>
                </a:solidFill>
                <a:latin typeface="Georgia" pitchFamily="34" charset="0"/>
                <a:ea typeface="Georgia" pitchFamily="34" charset="-122"/>
                <a:cs typeface="Georgia" pitchFamily="34" charset="-120"/>
              </a:rPr>
              <a:t>No importa en qué sector estés: deberías estar probando y trasteando con la inteligencia artificial. La mejor forma de protegerte del riesgo de que la IA vuelva tu puesto irrelevante es convertirte en la versión más </a:t>
            </a:r>
            <a:pPr algn="l" indent="0" marL="0">
              <a:lnSpc>
                <a:spcPct val="120000"/>
              </a:lnSpc>
              <a:buNone/>
            </a:pPr>
            <a:r>
              <a:rPr lang="en-US" sz="4800" spc="-72" kern="0" dirty="0">
                <a:solidFill>
                  <a:srgbClr val="EC4429"/>
                </a:solidFill>
                <a:latin typeface="Georgia" pitchFamily="34" charset="0"/>
                <a:ea typeface="Georgia" pitchFamily="34" charset="-122"/>
                <a:cs typeface="Georgia" pitchFamily="34" charset="-120"/>
              </a:rPr>
              <a:t>“potenciada por IA” </a:t>
            </a:r>
            <a:pPr algn="l" indent="0" marL="0">
              <a:lnSpc>
                <a:spcPct val="120000"/>
              </a:lnSpc>
              <a:buNone/>
            </a:pPr>
            <a:r>
              <a:rPr lang="en-US" sz="4800" spc="-72" kern="0" dirty="0">
                <a:solidFill>
                  <a:srgbClr val="B8B2A8"/>
                </a:solidFill>
                <a:latin typeface="Georgia" pitchFamily="34" charset="0"/>
                <a:ea typeface="Georgia" pitchFamily="34" charset="-122"/>
                <a:cs typeface="Georgia" pitchFamily="34" charset="-120"/>
              </a:rPr>
              <a:t>de ti mismo que puedas ser.</a:t>
            </a:r>
            <a:pPr algn="l" indent="0" marL="0">
              <a:lnSpc>
                <a:spcPct val="120000"/>
              </a:lnSpc>
              <a:buNone/>
            </a:pPr>
            <a:r>
              <a:rPr lang="en-US" sz="4800" spc="-72" kern="0" dirty="0">
                <a:solidFill>
                  <a:srgbClr val="EC4429"/>
                </a:solidFill>
                <a:latin typeface="Georgia" pitchFamily="34" charset="0"/>
                <a:ea typeface="Georgia" pitchFamily="34" charset="-122"/>
                <a:cs typeface="Georgia" pitchFamily="34" charset="-120"/>
              </a:rPr>
              <a:t>”</a:t>
            </a:r>
            <a:endParaRPr lang="en-US" sz="4800" dirty="0"/>
          </a:p>
        </p:txBody>
      </p:sp>
      <p:sp>
        <p:nvSpPr>
          <p:cNvPr id="6" name="Shape 4"/>
          <p:cNvSpPr/>
          <p:nvPr/>
        </p:nvSpPr>
        <p:spPr>
          <a:xfrm>
            <a:off x="1143000" y="7610326"/>
            <a:ext cx="609600" cy="19050"/>
          </a:xfrm>
          <a:prstGeom prst="rect">
            <a:avLst/>
          </a:prstGeom>
          <a:solidFill>
            <a:srgbClr val="EC4429"/>
          </a:solidFill>
          <a:ln/>
        </p:spPr>
      </p:sp>
      <p:sp>
        <p:nvSpPr>
          <p:cNvPr id="7" name="Text 5"/>
          <p:cNvSpPr/>
          <p:nvPr/>
        </p:nvSpPr>
        <p:spPr>
          <a:xfrm>
            <a:off x="2057400" y="7467451"/>
            <a:ext cx="2063055" cy="342900"/>
          </a:xfrm>
          <a:prstGeom prst="rect">
            <a:avLst/>
          </a:prstGeom>
          <a:noFill/>
          <a:ln/>
        </p:spPr>
        <p:txBody>
          <a:bodyPr wrap="square" lIns="25400" tIns="25400" rIns="25400" bIns="25400" rtlCol="0" anchor="t">
            <a:normAutofit/>
          </a:bodyPr>
          <a:lstStyle/>
          <a:p>
            <a:pPr algn="l" indent="0" marL="0">
              <a:buNone/>
            </a:pPr>
            <a:r>
              <a:rPr lang="en-US" sz="1950" b="1" spc="351" kern="0" dirty="0">
                <a:solidFill>
                  <a:srgbClr val="F5F2EC"/>
                </a:solidFill>
                <a:latin typeface="Arial" pitchFamily="34" charset="0"/>
                <a:ea typeface="Arial" pitchFamily="34" charset="-122"/>
                <a:cs typeface="Arial" pitchFamily="34" charset="-120"/>
              </a:rPr>
              <a:t>BILL GURLEY</a:t>
            </a:r>
            <a:endParaRPr lang="en-US" sz="1950" dirty="0"/>
          </a:p>
        </p:txBody>
      </p:sp>
      <p:sp>
        <p:nvSpPr>
          <p:cNvPr id="8" name="Text 6"/>
          <p:cNvSpPr/>
          <p:nvPr/>
        </p:nvSpPr>
        <p:spPr>
          <a:xfrm>
            <a:off x="4349055" y="7486501"/>
            <a:ext cx="539162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B8B2A8"/>
                </a:solidFill>
                <a:latin typeface="Arial" pitchFamily="34" charset="0"/>
                <a:ea typeface="Arial" pitchFamily="34" charset="-122"/>
                <a:cs typeface="Arial" pitchFamily="34" charset="-120"/>
              </a:rPr>
              <a:t>Famoso inversor americano · Uber, Zillow, Grubhub</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61616"/>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A5A5A"/>
                </a:solidFill>
                <a:latin typeface="Arial" pitchFamily="34" charset="0"/>
                <a:ea typeface="Arial" pitchFamily="34" charset="-122"/>
                <a:cs typeface="Arial" pitchFamily="34" charset="-120"/>
              </a:rPr>
              <a:t>13 / 42</a:t>
            </a:r>
            <a:endParaRPr lang="en-US" sz="1800" dirty="0"/>
          </a:p>
        </p:txBody>
      </p:sp>
      <p:sp>
        <p:nvSpPr>
          <p:cNvPr id="4" name="Text 2"/>
          <p:cNvSpPr/>
          <p:nvPr/>
        </p:nvSpPr>
        <p:spPr>
          <a:xfrm>
            <a:off x="1143000" y="1104900"/>
            <a:ext cx="9612849" cy="342900"/>
          </a:xfrm>
          <a:prstGeom prst="rect">
            <a:avLst/>
          </a:prstGeom>
          <a:noFill/>
          <a:ln/>
        </p:spPr>
        <p:txBody>
          <a:bodyPr wrap="square" lIns="25400" tIns="25400" rIns="25400" bIns="25400" rtlCol="0" anchor="t">
            <a:normAutofit/>
          </a:bodyPr>
          <a:lstStyle/>
          <a:p>
            <a:pPr algn="l" indent="0" marL="0">
              <a:buNone/>
            </a:pPr>
            <a:r>
              <a:rPr lang="en-US" sz="1950" b="1" spc="429" kern="0" dirty="0">
                <a:solidFill>
                  <a:srgbClr val="EC4429"/>
                </a:solidFill>
                <a:latin typeface="Arial" pitchFamily="34" charset="0"/>
                <a:ea typeface="Arial" pitchFamily="34" charset="-122"/>
                <a:cs typeface="Arial" pitchFamily="34" charset="-120"/>
              </a:rPr>
              <a:t>AUTODIAGNÓSTICO HONESTO</a:t>
            </a:r>
            <a:endParaRPr lang="en-US" sz="1950" dirty="0"/>
          </a:p>
        </p:txBody>
      </p:sp>
      <p:sp>
        <p:nvSpPr>
          <p:cNvPr id="5" name="Text 3"/>
          <p:cNvSpPr/>
          <p:nvPr/>
        </p:nvSpPr>
        <p:spPr>
          <a:xfrm>
            <a:off x="1143000" y="1638300"/>
            <a:ext cx="9612849" cy="1478161"/>
          </a:xfrm>
          <a:prstGeom prst="rect">
            <a:avLst/>
          </a:prstGeom>
          <a:noFill/>
          <a:ln/>
        </p:spPr>
        <p:txBody>
          <a:bodyPr wrap="square" lIns="25400" tIns="25400" rIns="25400" bIns="25400" rtlCol="0" anchor="t">
            <a:normAutofit/>
          </a:bodyPr>
          <a:lstStyle/>
          <a:p>
            <a:pPr algn="l" indent="0" marL="0">
              <a:lnSpc>
                <a:spcPct val="105000"/>
              </a:lnSpc>
              <a:buNone/>
            </a:pPr>
            <a:r>
              <a:rPr lang="en-US" sz="5400" spc="-108" kern="0" dirty="0">
                <a:solidFill>
                  <a:srgbClr val="161616"/>
                </a:solidFill>
                <a:latin typeface="Georgia" pitchFamily="34" charset="0"/>
                <a:ea typeface="Georgia" pitchFamily="34" charset="-122"/>
                <a:cs typeface="Georgia" pitchFamily="34" charset="-120"/>
              </a:rPr>
              <a:t>Donde estás tú, está tu empresa. Pero normalmente, </a:t>
            </a:r>
            <a:pPr algn="l" indent="0" marL="0">
              <a:lnSpc>
                <a:spcPct val="105000"/>
              </a:lnSpc>
              <a:buNone/>
            </a:pPr>
            <a:r>
              <a:rPr lang="en-US" sz="5400" i="1" spc="-108" kern="0" dirty="0">
                <a:solidFill>
                  <a:srgbClr val="EC4429"/>
                </a:solidFill>
                <a:latin typeface="Georgia" pitchFamily="34" charset="0"/>
                <a:ea typeface="Georgia" pitchFamily="34" charset="-122"/>
                <a:cs typeface="Georgia" pitchFamily="34" charset="-120"/>
              </a:rPr>
              <a:t>peor.</a:t>
            </a:r>
            <a:endParaRPr lang="en-US" sz="5400" dirty="0"/>
          </a:p>
        </p:txBody>
      </p:sp>
      <p:sp>
        <p:nvSpPr>
          <p:cNvPr id="6" name="Shape 4"/>
          <p:cNvSpPr/>
          <p:nvPr/>
        </p:nvSpPr>
        <p:spPr>
          <a:xfrm>
            <a:off x="1143000" y="3535561"/>
            <a:ext cx="16002000" cy="3920282"/>
          </a:xfrm>
          <a:prstGeom prst="rect">
            <a:avLst/>
          </a:prstGeom>
          <a:ln w="9525">
            <a:solidFill>
              <a:srgbClr val="D9D2C5"/>
            </a:solidFill>
            <a:prstDash val="solid"/>
          </a:ln>
        </p:spPr>
      </p:sp>
      <p:sp>
        <p:nvSpPr>
          <p:cNvPr id="7" name="Text 5"/>
          <p:cNvSpPr/>
          <p:nvPr/>
        </p:nvSpPr>
        <p:spPr>
          <a:xfrm>
            <a:off x="1609725" y="4154686"/>
            <a:ext cx="7289387" cy="323850"/>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5A5A5A"/>
                </a:solidFill>
                <a:latin typeface="Arial" pitchFamily="34" charset="0"/>
                <a:ea typeface="Arial" pitchFamily="34" charset="-122"/>
                <a:cs typeface="Arial" pitchFamily="34" charset="-120"/>
              </a:rPr>
              <a:t>TÚ </a:t>
            </a:r>
            <a:pPr algn="l" indent="0" marL="0">
              <a:buNone/>
            </a:pPr>
            <a:r>
              <a:rPr lang="en-US" sz="1800" spc="396" kern="0" dirty="0">
                <a:solidFill>
                  <a:srgbClr val="8A8A8A"/>
                </a:solidFill>
                <a:latin typeface="Arial" pitchFamily="34" charset="0"/>
                <a:ea typeface="Arial" pitchFamily="34" charset="-122"/>
                <a:cs typeface="Arial" pitchFamily="34" charset="-120"/>
              </a:rPr>
              <a:t>(DIRECTIVO)</a:t>
            </a:r>
            <a:endParaRPr lang="en-US" sz="1800" dirty="0"/>
          </a:p>
        </p:txBody>
      </p:sp>
      <p:sp>
        <p:nvSpPr>
          <p:cNvPr id="8" name="Text 6"/>
          <p:cNvSpPr/>
          <p:nvPr/>
        </p:nvSpPr>
        <p:spPr>
          <a:xfrm>
            <a:off x="1609725" y="4611886"/>
            <a:ext cx="7289387" cy="1341090"/>
          </a:xfrm>
          <a:prstGeom prst="rect">
            <a:avLst/>
          </a:prstGeom>
          <a:noFill/>
          <a:ln/>
        </p:spPr>
        <p:txBody>
          <a:bodyPr wrap="square" lIns="25400" tIns="25400" rIns="25400" bIns="25400" rtlCol="0" anchor="t">
            <a:normAutofit/>
          </a:bodyPr>
          <a:lstStyle/>
          <a:p>
            <a:pPr algn="l" indent="0" marL="0">
              <a:lnSpc>
                <a:spcPct val="95000"/>
              </a:lnSpc>
              <a:buNone/>
            </a:pPr>
            <a:r>
              <a:rPr lang="en-US" sz="10800" spc="-216" kern="0" dirty="0">
                <a:solidFill>
                  <a:srgbClr val="EC4429"/>
                </a:solidFill>
                <a:latin typeface="Georgia" pitchFamily="34" charset="0"/>
                <a:ea typeface="Georgia" pitchFamily="34" charset="-122"/>
                <a:cs typeface="Georgia" pitchFamily="34" charset="-120"/>
              </a:rPr>
              <a:t>Nivel 2 – 3</a:t>
            </a:r>
            <a:endParaRPr lang="en-US" sz="10800" dirty="0"/>
          </a:p>
        </p:txBody>
      </p:sp>
      <p:sp>
        <p:nvSpPr>
          <p:cNvPr id="9" name="Text 7"/>
          <p:cNvSpPr/>
          <p:nvPr/>
        </p:nvSpPr>
        <p:spPr>
          <a:xfrm>
            <a:off x="1609725" y="6143476"/>
            <a:ext cx="7289387" cy="731341"/>
          </a:xfrm>
          <a:prstGeom prst="rect">
            <a:avLst/>
          </a:prstGeom>
          <a:noFill/>
          <a:ln/>
        </p:spPr>
        <p:txBody>
          <a:bodyPr wrap="square" lIns="25400" tIns="25400" rIns="25400" bIns="25400" rtlCol="0" anchor="t">
            <a:normAutofit/>
          </a:bodyPr>
          <a:lstStyle/>
          <a:p>
            <a:pPr algn="l" indent="0" marL="0">
              <a:lnSpc>
                <a:spcPct val="130000"/>
              </a:lnSpc>
              <a:buNone/>
            </a:pPr>
            <a:r>
              <a:rPr lang="en-US" sz="2100" dirty="0">
                <a:solidFill>
                  <a:srgbClr val="5A5A5A"/>
                </a:solidFill>
                <a:latin typeface="Arial" pitchFamily="34" charset="0"/>
                <a:ea typeface="Arial" pitchFamily="34" charset="-122"/>
                <a:cs typeface="Arial" pitchFamily="34" charset="-120"/>
              </a:rPr>
              <a:t>Pruebas herramientas. Tienes una intuición de hacia dónde va.</a:t>
            </a:r>
            <a:endParaRPr lang="en-US" sz="2100" dirty="0"/>
          </a:p>
        </p:txBody>
      </p:sp>
      <p:sp>
        <p:nvSpPr>
          <p:cNvPr id="10" name="Shape 8"/>
          <p:cNvSpPr/>
          <p:nvPr/>
        </p:nvSpPr>
        <p:spPr>
          <a:xfrm>
            <a:off x="9144000" y="3545086"/>
            <a:ext cx="9525" cy="3901232"/>
          </a:xfrm>
          <a:prstGeom prst="rect">
            <a:avLst/>
          </a:prstGeom>
          <a:solidFill>
            <a:srgbClr val="D9D2C5"/>
          </a:solidFill>
          <a:ln/>
        </p:spPr>
      </p:sp>
      <p:sp>
        <p:nvSpPr>
          <p:cNvPr id="11" name="Text 9"/>
          <p:cNvSpPr/>
          <p:nvPr/>
        </p:nvSpPr>
        <p:spPr>
          <a:xfrm>
            <a:off x="9610725" y="4154686"/>
            <a:ext cx="7279577" cy="323850"/>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5A5A5A"/>
                </a:solidFill>
                <a:latin typeface="Arial" pitchFamily="34" charset="0"/>
                <a:ea typeface="Arial" pitchFamily="34" charset="-122"/>
                <a:cs typeface="Arial" pitchFamily="34" charset="-120"/>
              </a:rPr>
              <a:t>TU EMPRESA </a:t>
            </a:r>
            <a:pPr algn="l" indent="0" marL="0">
              <a:buNone/>
            </a:pPr>
            <a:r>
              <a:rPr lang="en-US" sz="1800" spc="396" kern="0" dirty="0">
                <a:solidFill>
                  <a:srgbClr val="8A8A8A"/>
                </a:solidFill>
                <a:latin typeface="Arial" pitchFamily="34" charset="0"/>
                <a:ea typeface="Arial" pitchFamily="34" charset="-122"/>
                <a:cs typeface="Arial" pitchFamily="34" charset="-120"/>
              </a:rPr>
              <a:t>(VA DETRÁS)</a:t>
            </a:r>
            <a:endParaRPr lang="en-US" sz="1800" dirty="0"/>
          </a:p>
        </p:txBody>
      </p:sp>
      <p:sp>
        <p:nvSpPr>
          <p:cNvPr id="12" name="Text 10"/>
          <p:cNvSpPr/>
          <p:nvPr/>
        </p:nvSpPr>
        <p:spPr>
          <a:xfrm>
            <a:off x="9610725" y="4611886"/>
            <a:ext cx="7279577" cy="1341090"/>
          </a:xfrm>
          <a:prstGeom prst="rect">
            <a:avLst/>
          </a:prstGeom>
          <a:noFill/>
          <a:ln/>
        </p:spPr>
        <p:txBody>
          <a:bodyPr wrap="square" lIns="25400" tIns="25400" rIns="25400" bIns="25400" rtlCol="0" anchor="t">
            <a:normAutofit/>
          </a:bodyPr>
          <a:lstStyle/>
          <a:p>
            <a:pPr algn="l" indent="0" marL="0">
              <a:lnSpc>
                <a:spcPct val="95000"/>
              </a:lnSpc>
              <a:buNone/>
            </a:pPr>
            <a:r>
              <a:rPr lang="en-US" sz="10800" spc="-216" kern="0" dirty="0">
                <a:solidFill>
                  <a:srgbClr val="8A8A8A"/>
                </a:solidFill>
                <a:latin typeface="Georgia" pitchFamily="34" charset="0"/>
                <a:ea typeface="Georgia" pitchFamily="34" charset="-122"/>
                <a:cs typeface="Georgia" pitchFamily="34" charset="-120"/>
              </a:rPr>
              <a:t>Nivel 1 – 2</a:t>
            </a:r>
            <a:endParaRPr lang="en-US" sz="10800" dirty="0"/>
          </a:p>
        </p:txBody>
      </p:sp>
      <p:sp>
        <p:nvSpPr>
          <p:cNvPr id="13" name="Text 11"/>
          <p:cNvSpPr/>
          <p:nvPr/>
        </p:nvSpPr>
        <p:spPr>
          <a:xfrm>
            <a:off x="9610725" y="6143476"/>
            <a:ext cx="7279577" cy="384721"/>
          </a:xfrm>
          <a:prstGeom prst="rect">
            <a:avLst/>
          </a:prstGeom>
          <a:noFill/>
          <a:ln/>
        </p:spPr>
        <p:txBody>
          <a:bodyPr wrap="square" lIns="25400" tIns="25400" rIns="25400" bIns="25400" rtlCol="0" anchor="t">
            <a:normAutofit/>
          </a:bodyPr>
          <a:lstStyle/>
          <a:p>
            <a:pPr algn="l" indent="0" marL="0">
              <a:lnSpc>
                <a:spcPct val="130000"/>
              </a:lnSpc>
              <a:buNone/>
            </a:pPr>
            <a:r>
              <a:rPr lang="en-US" sz="2100" dirty="0">
                <a:solidFill>
                  <a:srgbClr val="5A5A5A"/>
                </a:solidFill>
                <a:latin typeface="Arial" pitchFamily="34" charset="0"/>
                <a:ea typeface="Arial" pitchFamily="34" charset="-122"/>
                <a:cs typeface="Arial" pitchFamily="34" charset="-120"/>
              </a:rPr>
              <a:t>Algunos pilotos sueltos. Sin criterio compartido ni método.</a:t>
            </a:r>
            <a:endParaRPr lang="en-US" sz="2100" dirty="0"/>
          </a:p>
        </p:txBody>
      </p:sp>
      <p:sp>
        <p:nvSpPr>
          <p:cNvPr id="14" name="Shape 12"/>
          <p:cNvSpPr/>
          <p:nvPr/>
        </p:nvSpPr>
        <p:spPr>
          <a:xfrm>
            <a:off x="1143000" y="8370243"/>
            <a:ext cx="38100" cy="502890"/>
          </a:xfrm>
          <a:prstGeom prst="rect">
            <a:avLst/>
          </a:prstGeom>
          <a:solidFill>
            <a:srgbClr val="EC4429"/>
          </a:solidFill>
          <a:ln/>
        </p:spPr>
      </p:sp>
      <p:sp>
        <p:nvSpPr>
          <p:cNvPr id="15" name="Text 13"/>
          <p:cNvSpPr/>
          <p:nvPr/>
        </p:nvSpPr>
        <p:spPr>
          <a:xfrm>
            <a:off x="1485900" y="8370243"/>
            <a:ext cx="12904832" cy="540990"/>
          </a:xfrm>
          <a:prstGeom prst="rect">
            <a:avLst/>
          </a:prstGeom>
          <a:noFill/>
          <a:ln/>
        </p:spPr>
        <p:txBody>
          <a:bodyPr wrap="square" lIns="25400" tIns="25400" rIns="25400" bIns="25400" rtlCol="0" anchor="t">
            <a:normAutofit/>
          </a:bodyPr>
          <a:lstStyle/>
          <a:p>
            <a:pPr algn="l" indent="0" marL="0">
              <a:lnSpc>
                <a:spcPct val="120000"/>
              </a:lnSpc>
              <a:buNone/>
            </a:pPr>
            <a:r>
              <a:rPr lang="en-US" sz="3300" dirty="0">
                <a:solidFill>
                  <a:srgbClr val="161616"/>
                </a:solidFill>
                <a:latin typeface="Georgia" pitchFamily="34" charset="0"/>
                <a:ea typeface="Georgia" pitchFamily="34" charset="-122"/>
                <a:cs typeface="Georgia" pitchFamily="34" charset="-120"/>
              </a:rPr>
              <a:t>El nivel de IA de una empresa nunca supera el nivel de su dirección.</a:t>
            </a:r>
            <a:endParaRPr lang="en-US" sz="3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61616"/>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A5A5A"/>
                </a:solidFill>
                <a:latin typeface="Arial" pitchFamily="34" charset="0"/>
                <a:ea typeface="Arial" pitchFamily="34" charset="-122"/>
                <a:cs typeface="Arial" pitchFamily="34" charset="-120"/>
              </a:rPr>
              <a:t>14 / 42</a:t>
            </a:r>
            <a:endParaRPr lang="en-US" sz="1800" dirty="0"/>
          </a:p>
        </p:txBody>
      </p:sp>
      <p:sp>
        <p:nvSpPr>
          <p:cNvPr id="4" name="Text 2"/>
          <p:cNvSpPr/>
          <p:nvPr/>
        </p:nvSpPr>
        <p:spPr>
          <a:xfrm>
            <a:off x="1143000" y="2654945"/>
            <a:ext cx="6885000" cy="342900"/>
          </a:xfrm>
          <a:prstGeom prst="rect">
            <a:avLst/>
          </a:prstGeom>
          <a:noFill/>
          <a:ln/>
        </p:spPr>
        <p:txBody>
          <a:bodyPr wrap="square" lIns="25400" tIns="25400" rIns="25400" bIns="25400" rtlCol="0" anchor="t">
            <a:normAutofit/>
          </a:bodyPr>
          <a:lstStyle/>
          <a:p>
            <a:pPr algn="l" indent="0" marL="0">
              <a:buNone/>
            </a:pPr>
            <a:r>
              <a:rPr lang="en-US" sz="1950" b="1" spc="429" kern="0" dirty="0">
                <a:solidFill>
                  <a:srgbClr val="EC4429"/>
                </a:solidFill>
                <a:latin typeface="Arial" pitchFamily="34" charset="0"/>
                <a:ea typeface="Arial" pitchFamily="34" charset="-122"/>
                <a:cs typeface="Arial" pitchFamily="34" charset="-120"/>
              </a:rPr>
              <a:t>LOS 3 PILARES DEL CRITERIO EJECUTIVO</a:t>
            </a:r>
            <a:endParaRPr lang="en-US" sz="1950" dirty="0"/>
          </a:p>
        </p:txBody>
      </p:sp>
      <p:sp>
        <p:nvSpPr>
          <p:cNvPr id="5" name="Text 3"/>
          <p:cNvSpPr/>
          <p:nvPr/>
        </p:nvSpPr>
        <p:spPr>
          <a:xfrm>
            <a:off x="1143000" y="3416945"/>
            <a:ext cx="2747010" cy="2266950"/>
          </a:xfrm>
          <a:prstGeom prst="rect">
            <a:avLst/>
          </a:prstGeom>
          <a:noFill/>
          <a:ln/>
        </p:spPr>
        <p:txBody>
          <a:bodyPr wrap="square" lIns="25400" tIns="25400" rIns="25400" bIns="25400" rtlCol="0" anchor="t">
            <a:normAutofit/>
          </a:bodyPr>
          <a:lstStyle/>
          <a:p>
            <a:pPr algn="l" indent="0" marL="0">
              <a:lnSpc>
                <a:spcPct val="90000"/>
              </a:lnSpc>
              <a:buNone/>
            </a:pPr>
            <a:r>
              <a:rPr lang="en-US" sz="19500" spc="-780" kern="0" dirty="0">
                <a:solidFill>
                  <a:srgbClr val="EC4429"/>
                </a:solidFill>
                <a:latin typeface="Georgia" pitchFamily="34" charset="0"/>
                <a:ea typeface="Georgia" pitchFamily="34" charset="-122"/>
                <a:cs typeface="Georgia" pitchFamily="34" charset="-120"/>
              </a:rPr>
              <a:t>01</a:t>
            </a:r>
            <a:endParaRPr lang="en-US" sz="19500" dirty="0"/>
          </a:p>
        </p:txBody>
      </p:sp>
      <p:sp>
        <p:nvSpPr>
          <p:cNvPr id="6" name="Text 4"/>
          <p:cNvSpPr/>
          <p:nvPr/>
        </p:nvSpPr>
        <p:spPr>
          <a:xfrm>
            <a:off x="4572000" y="3416945"/>
            <a:ext cx="11772900" cy="892969"/>
          </a:xfrm>
          <a:prstGeom prst="rect">
            <a:avLst/>
          </a:prstGeom>
          <a:noFill/>
          <a:ln/>
        </p:spPr>
        <p:txBody>
          <a:bodyPr wrap="square" lIns="25400" tIns="25400" rIns="25400" bIns="25400" rtlCol="0" anchor="t">
            <a:normAutofit/>
          </a:bodyPr>
          <a:lstStyle/>
          <a:p>
            <a:pPr algn="l" indent="0" marL="0">
              <a:lnSpc>
                <a:spcPct val="102000"/>
              </a:lnSpc>
              <a:buNone/>
            </a:pPr>
            <a:r>
              <a:rPr lang="en-US" sz="6600" b="1" spc="-132" kern="0" dirty="0">
                <a:solidFill>
                  <a:srgbClr val="161616"/>
                </a:solidFill>
                <a:latin typeface="Georgia" pitchFamily="34" charset="0"/>
                <a:ea typeface="Georgia" pitchFamily="34" charset="-122"/>
                <a:cs typeface="Georgia" pitchFamily="34" charset="-120"/>
              </a:rPr>
              <a:t>Criterio</a:t>
            </a:r>
            <a:pPr algn="l" indent="0" marL="0">
              <a:lnSpc>
                <a:spcPct val="102000"/>
              </a:lnSpc>
              <a:buNone/>
            </a:pPr>
            <a:r>
              <a:rPr lang="en-US" sz="6600" b="1" spc="-132" kern="0" dirty="0">
                <a:solidFill>
                  <a:srgbClr val="EC4429"/>
                </a:solidFill>
                <a:latin typeface="Georgia" pitchFamily="34" charset="0"/>
                <a:ea typeface="Georgia" pitchFamily="34" charset="-122"/>
                <a:cs typeface="Georgia" pitchFamily="34" charset="-120"/>
              </a:rPr>
              <a:t>.</a:t>
            </a:r>
            <a:endParaRPr lang="en-US" sz="6600" dirty="0"/>
          </a:p>
        </p:txBody>
      </p:sp>
      <p:sp>
        <p:nvSpPr>
          <p:cNvPr id="7" name="Text 5"/>
          <p:cNvSpPr/>
          <p:nvPr/>
        </p:nvSpPr>
        <p:spPr>
          <a:xfrm>
            <a:off x="4572000" y="4538514"/>
            <a:ext cx="10791825" cy="1426666"/>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5A5A5A"/>
                </a:solidFill>
                <a:latin typeface="Arial" pitchFamily="34" charset="0"/>
                <a:ea typeface="Arial" pitchFamily="34" charset="-122"/>
                <a:cs typeface="Arial" pitchFamily="34" charset="-120"/>
              </a:rPr>
              <a:t>Saber qué hacer, no solo cómo hacerlo. Las herramientas las elige cualquiera. El criterio decide qué automatizar, qué externalizar, qué dejar humano. Y por qué.</a:t>
            </a:r>
            <a:endParaRPr lang="en-US" sz="2700" dirty="0"/>
          </a:p>
        </p:txBody>
      </p:sp>
      <p:sp>
        <p:nvSpPr>
          <p:cNvPr id="8" name="Text 6"/>
          <p:cNvSpPr/>
          <p:nvPr/>
        </p:nvSpPr>
        <p:spPr>
          <a:xfrm>
            <a:off x="4572000" y="6231880"/>
            <a:ext cx="10791825" cy="409575"/>
          </a:xfrm>
          <a:prstGeom prst="rect">
            <a:avLst/>
          </a:prstGeom>
          <a:noFill/>
          <a:ln/>
        </p:spPr>
        <p:txBody>
          <a:bodyPr wrap="square" lIns="25400" tIns="25400" rIns="25400" bIns="25400" rtlCol="0" anchor="t">
            <a:normAutofit/>
          </a:bodyPr>
          <a:lstStyle/>
          <a:p>
            <a:pPr algn="l" indent="0" marL="0">
              <a:lnSpc>
                <a:spcPct val="130000"/>
              </a:lnSpc>
              <a:buNone/>
            </a:pPr>
            <a:r>
              <a:rPr lang="en-US" sz="2250" b="1" dirty="0">
                <a:solidFill>
                  <a:srgbClr val="EC4429"/>
                </a:solidFill>
                <a:latin typeface="Arial" pitchFamily="34" charset="0"/>
                <a:ea typeface="Arial" pitchFamily="34" charset="-122"/>
                <a:cs typeface="Arial" pitchFamily="34" charset="-120"/>
              </a:rPr>
              <a:t>Sin criterio, todo lo demás es ruido caro.</a:t>
            </a:r>
            <a:endParaRPr lang="en-US" sz="2250" dirty="0"/>
          </a:p>
        </p:txBody>
      </p:sp>
      <p:sp>
        <p:nvSpPr>
          <p:cNvPr id="9" name="Shape 7"/>
          <p:cNvSpPr/>
          <p:nvPr/>
        </p:nvSpPr>
        <p:spPr>
          <a:xfrm>
            <a:off x="4572000" y="6984355"/>
            <a:ext cx="10477500" cy="9525"/>
          </a:xfrm>
          <a:prstGeom prst="rect">
            <a:avLst/>
          </a:prstGeom>
          <a:solidFill>
            <a:srgbClr val="D9D2C5"/>
          </a:solidFill>
          <a:ln/>
        </p:spPr>
      </p:sp>
      <p:sp>
        <p:nvSpPr>
          <p:cNvPr id="10" name="Text 8"/>
          <p:cNvSpPr/>
          <p:nvPr/>
        </p:nvSpPr>
        <p:spPr>
          <a:xfrm>
            <a:off x="4572000" y="7260580"/>
            <a:ext cx="10791825" cy="409575"/>
          </a:xfrm>
          <a:prstGeom prst="rect">
            <a:avLst/>
          </a:prstGeom>
          <a:noFill/>
          <a:ln/>
        </p:spPr>
        <p:txBody>
          <a:bodyPr wrap="square" lIns="25400" tIns="25400" rIns="25400" bIns="25400" rtlCol="0" anchor="t">
            <a:normAutofit/>
          </a:bodyPr>
          <a:lstStyle/>
          <a:p>
            <a:pPr algn="l" indent="0" marL="0">
              <a:lnSpc>
                <a:spcPct val="130000"/>
              </a:lnSpc>
              <a:buNone/>
            </a:pPr>
            <a:r>
              <a:rPr lang="en-US" sz="2250" i="1" dirty="0">
                <a:solidFill>
                  <a:srgbClr val="161616"/>
                </a:solidFill>
                <a:latin typeface="Georgia" pitchFamily="34" charset="0"/>
                <a:ea typeface="Georgia" pitchFamily="34" charset="-122"/>
                <a:cs typeface="Georgia" pitchFamily="34" charset="-120"/>
              </a:rPr>
              <a:t>El 90% que falla en IA no falla por falta de herramientas. Falla por falta de criterio.</a:t>
            </a:r>
            <a:endParaRPr lang="en-US" sz="2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61616"/>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A5A5A"/>
                </a:solidFill>
                <a:latin typeface="Arial" pitchFamily="34" charset="0"/>
                <a:ea typeface="Arial" pitchFamily="34" charset="-122"/>
                <a:cs typeface="Arial" pitchFamily="34" charset="-120"/>
              </a:rPr>
              <a:t>15 / 42</a:t>
            </a:r>
            <a:endParaRPr lang="en-US" sz="1800" dirty="0"/>
          </a:p>
        </p:txBody>
      </p:sp>
      <p:sp>
        <p:nvSpPr>
          <p:cNvPr id="4" name="Text 2"/>
          <p:cNvSpPr/>
          <p:nvPr/>
        </p:nvSpPr>
        <p:spPr>
          <a:xfrm>
            <a:off x="1143000" y="2423517"/>
            <a:ext cx="6885000" cy="342900"/>
          </a:xfrm>
          <a:prstGeom prst="rect">
            <a:avLst/>
          </a:prstGeom>
          <a:noFill/>
          <a:ln/>
        </p:spPr>
        <p:txBody>
          <a:bodyPr wrap="square" lIns="25400" tIns="25400" rIns="25400" bIns="25400" rtlCol="0" anchor="t">
            <a:normAutofit/>
          </a:bodyPr>
          <a:lstStyle/>
          <a:p>
            <a:pPr algn="l" indent="0" marL="0">
              <a:buNone/>
            </a:pPr>
            <a:r>
              <a:rPr lang="en-US" sz="1950" b="1" spc="429" kern="0" dirty="0">
                <a:solidFill>
                  <a:srgbClr val="EC4429"/>
                </a:solidFill>
                <a:latin typeface="Arial" pitchFamily="34" charset="0"/>
                <a:ea typeface="Arial" pitchFamily="34" charset="-122"/>
                <a:cs typeface="Arial" pitchFamily="34" charset="-120"/>
              </a:rPr>
              <a:t>LOS 3 PILARES DEL CRITERIO EJECUTIVO</a:t>
            </a:r>
            <a:endParaRPr lang="en-US" sz="1950" dirty="0"/>
          </a:p>
        </p:txBody>
      </p:sp>
      <p:sp>
        <p:nvSpPr>
          <p:cNvPr id="5" name="Text 3"/>
          <p:cNvSpPr/>
          <p:nvPr/>
        </p:nvSpPr>
        <p:spPr>
          <a:xfrm>
            <a:off x="1143000" y="3185517"/>
            <a:ext cx="2747010" cy="2266950"/>
          </a:xfrm>
          <a:prstGeom prst="rect">
            <a:avLst/>
          </a:prstGeom>
          <a:noFill/>
          <a:ln/>
        </p:spPr>
        <p:txBody>
          <a:bodyPr wrap="square" lIns="25400" tIns="25400" rIns="25400" bIns="25400" rtlCol="0" anchor="t">
            <a:normAutofit/>
          </a:bodyPr>
          <a:lstStyle/>
          <a:p>
            <a:pPr algn="l" indent="0" marL="0">
              <a:lnSpc>
                <a:spcPct val="90000"/>
              </a:lnSpc>
              <a:buNone/>
            </a:pPr>
            <a:r>
              <a:rPr lang="en-US" sz="19500" spc="-780" kern="0" dirty="0">
                <a:solidFill>
                  <a:srgbClr val="EC4429"/>
                </a:solidFill>
                <a:latin typeface="Georgia" pitchFamily="34" charset="0"/>
                <a:ea typeface="Georgia" pitchFamily="34" charset="-122"/>
                <a:cs typeface="Georgia" pitchFamily="34" charset="-120"/>
              </a:rPr>
              <a:t>02</a:t>
            </a:r>
            <a:endParaRPr lang="en-US" sz="19500" dirty="0"/>
          </a:p>
        </p:txBody>
      </p:sp>
      <p:sp>
        <p:nvSpPr>
          <p:cNvPr id="6" name="Text 4"/>
          <p:cNvSpPr/>
          <p:nvPr/>
        </p:nvSpPr>
        <p:spPr>
          <a:xfrm>
            <a:off x="4572000" y="3185517"/>
            <a:ext cx="11772900" cy="892969"/>
          </a:xfrm>
          <a:prstGeom prst="rect">
            <a:avLst/>
          </a:prstGeom>
          <a:noFill/>
          <a:ln/>
        </p:spPr>
        <p:txBody>
          <a:bodyPr wrap="square" lIns="25400" tIns="25400" rIns="25400" bIns="25400" rtlCol="0" anchor="t">
            <a:normAutofit/>
          </a:bodyPr>
          <a:lstStyle/>
          <a:p>
            <a:pPr algn="l" indent="0" marL="0">
              <a:lnSpc>
                <a:spcPct val="102000"/>
              </a:lnSpc>
              <a:buNone/>
            </a:pPr>
            <a:r>
              <a:rPr lang="en-US" sz="6600" b="1" spc="-132" kern="0" dirty="0">
                <a:solidFill>
                  <a:srgbClr val="161616"/>
                </a:solidFill>
                <a:latin typeface="Georgia" pitchFamily="34" charset="0"/>
                <a:ea typeface="Georgia" pitchFamily="34" charset="-122"/>
                <a:cs typeface="Georgia" pitchFamily="34" charset="-120"/>
              </a:rPr>
              <a:t>Análisis de procesos</a:t>
            </a:r>
            <a:pPr algn="l" indent="0" marL="0">
              <a:lnSpc>
                <a:spcPct val="102000"/>
              </a:lnSpc>
              <a:buNone/>
            </a:pPr>
            <a:r>
              <a:rPr lang="en-US" sz="6600" b="1" spc="-132" kern="0" dirty="0">
                <a:solidFill>
                  <a:srgbClr val="EC4429"/>
                </a:solidFill>
                <a:latin typeface="Georgia" pitchFamily="34" charset="0"/>
                <a:ea typeface="Georgia" pitchFamily="34" charset="-122"/>
                <a:cs typeface="Georgia" pitchFamily="34" charset="-120"/>
              </a:rPr>
              <a:t>.</a:t>
            </a:r>
            <a:endParaRPr lang="en-US" sz="6600" dirty="0"/>
          </a:p>
        </p:txBody>
      </p:sp>
      <p:sp>
        <p:nvSpPr>
          <p:cNvPr id="7" name="Text 5"/>
          <p:cNvSpPr/>
          <p:nvPr/>
        </p:nvSpPr>
        <p:spPr>
          <a:xfrm>
            <a:off x="4572000" y="4307086"/>
            <a:ext cx="10791825" cy="1889522"/>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5A5A5A"/>
                </a:solidFill>
                <a:latin typeface="Arial" pitchFamily="34" charset="0"/>
                <a:ea typeface="Arial" pitchFamily="34" charset="-122"/>
                <a:cs typeface="Arial" pitchFamily="34" charset="-120"/>
              </a:rPr>
              <a:t>Dónde están las fugas reales en tu empresa. Antes de automatizar, hay que saber qué automatizar. Identificar las tareas que más tiempo, dinero y atención consumen. Y de esas, cuáles son automatizables y cuáles no.</a:t>
            </a:r>
            <a:endParaRPr lang="en-US" sz="2700" dirty="0"/>
          </a:p>
        </p:txBody>
      </p:sp>
      <p:sp>
        <p:nvSpPr>
          <p:cNvPr id="8" name="Text 6"/>
          <p:cNvSpPr/>
          <p:nvPr/>
        </p:nvSpPr>
        <p:spPr>
          <a:xfrm>
            <a:off x="4572000" y="6463308"/>
            <a:ext cx="10791825" cy="409575"/>
          </a:xfrm>
          <a:prstGeom prst="rect">
            <a:avLst/>
          </a:prstGeom>
          <a:noFill/>
          <a:ln/>
        </p:spPr>
        <p:txBody>
          <a:bodyPr wrap="square" lIns="25400" tIns="25400" rIns="25400" bIns="25400" rtlCol="0" anchor="t">
            <a:normAutofit/>
          </a:bodyPr>
          <a:lstStyle/>
          <a:p>
            <a:pPr algn="l" indent="0" marL="0">
              <a:lnSpc>
                <a:spcPct val="130000"/>
              </a:lnSpc>
              <a:buNone/>
            </a:pPr>
            <a:r>
              <a:rPr lang="en-US" sz="2250" b="1" dirty="0">
                <a:solidFill>
                  <a:srgbClr val="EC4429"/>
                </a:solidFill>
                <a:latin typeface="Arial" pitchFamily="34" charset="0"/>
                <a:ea typeface="Arial" pitchFamily="34" charset="-122"/>
                <a:cs typeface="Arial" pitchFamily="34" charset="-120"/>
              </a:rPr>
              <a:t>Lo que no se mide, no se mejora. Lo que no se entiende, no se automatiza.</a:t>
            </a:r>
            <a:endParaRPr lang="en-US" sz="2250" dirty="0"/>
          </a:p>
        </p:txBody>
      </p:sp>
      <p:sp>
        <p:nvSpPr>
          <p:cNvPr id="9" name="Shape 7"/>
          <p:cNvSpPr/>
          <p:nvPr/>
        </p:nvSpPr>
        <p:spPr>
          <a:xfrm>
            <a:off x="4572000" y="7215783"/>
            <a:ext cx="10477500" cy="9525"/>
          </a:xfrm>
          <a:prstGeom prst="rect">
            <a:avLst/>
          </a:prstGeom>
          <a:solidFill>
            <a:srgbClr val="D9D2C5"/>
          </a:solidFill>
          <a:ln/>
        </p:spPr>
      </p:sp>
      <p:sp>
        <p:nvSpPr>
          <p:cNvPr id="10" name="Text 8"/>
          <p:cNvSpPr/>
          <p:nvPr/>
        </p:nvSpPr>
        <p:spPr>
          <a:xfrm>
            <a:off x="4572000" y="7492008"/>
            <a:ext cx="10791825" cy="409575"/>
          </a:xfrm>
          <a:prstGeom prst="rect">
            <a:avLst/>
          </a:prstGeom>
          <a:noFill/>
          <a:ln/>
        </p:spPr>
        <p:txBody>
          <a:bodyPr wrap="square" lIns="25400" tIns="25400" rIns="25400" bIns="25400" rtlCol="0" anchor="t">
            <a:normAutofit/>
          </a:bodyPr>
          <a:lstStyle/>
          <a:p>
            <a:pPr algn="l" indent="0" marL="0">
              <a:lnSpc>
                <a:spcPct val="130000"/>
              </a:lnSpc>
              <a:buNone/>
            </a:pPr>
            <a:r>
              <a:rPr lang="en-US" sz="2250" i="1" dirty="0">
                <a:solidFill>
                  <a:srgbClr val="161616"/>
                </a:solidFill>
                <a:latin typeface="Georgia" pitchFamily="34" charset="0"/>
                <a:ea typeface="Georgia" pitchFamily="34" charset="-122"/>
                <a:cs typeface="Georgia" pitchFamily="34" charset="-120"/>
              </a:rPr>
              <a:t>La mayoría empieza por la herramienta. Tú empiezas por el proceso.</a:t>
            </a:r>
            <a:endParaRPr lang="en-US" sz="2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61616"/>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A5A5A"/>
                </a:solidFill>
                <a:latin typeface="Arial" pitchFamily="34" charset="0"/>
                <a:ea typeface="Arial" pitchFamily="34" charset="-122"/>
                <a:cs typeface="Arial" pitchFamily="34" charset="-120"/>
              </a:rPr>
              <a:t>16 / 42</a:t>
            </a:r>
            <a:endParaRPr lang="en-US" sz="1800" dirty="0"/>
          </a:p>
        </p:txBody>
      </p:sp>
      <p:sp>
        <p:nvSpPr>
          <p:cNvPr id="4" name="Text 2"/>
          <p:cNvSpPr/>
          <p:nvPr/>
        </p:nvSpPr>
        <p:spPr>
          <a:xfrm>
            <a:off x="1143000" y="2423517"/>
            <a:ext cx="6885000" cy="342900"/>
          </a:xfrm>
          <a:prstGeom prst="rect">
            <a:avLst/>
          </a:prstGeom>
          <a:noFill/>
          <a:ln/>
        </p:spPr>
        <p:txBody>
          <a:bodyPr wrap="square" lIns="25400" tIns="25400" rIns="25400" bIns="25400" rtlCol="0" anchor="t">
            <a:normAutofit/>
          </a:bodyPr>
          <a:lstStyle/>
          <a:p>
            <a:pPr algn="l" indent="0" marL="0">
              <a:buNone/>
            </a:pPr>
            <a:r>
              <a:rPr lang="en-US" sz="1950" b="1" spc="429" kern="0" dirty="0">
                <a:solidFill>
                  <a:srgbClr val="EC4429"/>
                </a:solidFill>
                <a:latin typeface="Arial" pitchFamily="34" charset="0"/>
                <a:ea typeface="Arial" pitchFamily="34" charset="-122"/>
                <a:cs typeface="Arial" pitchFamily="34" charset="-120"/>
              </a:rPr>
              <a:t>LOS 3 PILARES DEL CRITERIO EJECUTIVO</a:t>
            </a:r>
            <a:endParaRPr lang="en-US" sz="1950" dirty="0"/>
          </a:p>
        </p:txBody>
      </p:sp>
      <p:sp>
        <p:nvSpPr>
          <p:cNvPr id="5" name="Text 3"/>
          <p:cNvSpPr/>
          <p:nvPr/>
        </p:nvSpPr>
        <p:spPr>
          <a:xfrm>
            <a:off x="1143000" y="3185517"/>
            <a:ext cx="2747010" cy="2266950"/>
          </a:xfrm>
          <a:prstGeom prst="rect">
            <a:avLst/>
          </a:prstGeom>
          <a:noFill/>
          <a:ln/>
        </p:spPr>
        <p:txBody>
          <a:bodyPr wrap="square" lIns="25400" tIns="25400" rIns="25400" bIns="25400" rtlCol="0" anchor="t">
            <a:normAutofit/>
          </a:bodyPr>
          <a:lstStyle/>
          <a:p>
            <a:pPr algn="l" indent="0" marL="0">
              <a:lnSpc>
                <a:spcPct val="90000"/>
              </a:lnSpc>
              <a:buNone/>
            </a:pPr>
            <a:r>
              <a:rPr lang="en-US" sz="19500" spc="-780" kern="0" dirty="0">
                <a:solidFill>
                  <a:srgbClr val="EC4429"/>
                </a:solidFill>
                <a:latin typeface="Georgia" pitchFamily="34" charset="0"/>
                <a:ea typeface="Georgia" pitchFamily="34" charset="-122"/>
                <a:cs typeface="Georgia" pitchFamily="34" charset="-120"/>
              </a:rPr>
              <a:t>03</a:t>
            </a:r>
            <a:endParaRPr lang="en-US" sz="19500" dirty="0"/>
          </a:p>
        </p:txBody>
      </p:sp>
      <p:sp>
        <p:nvSpPr>
          <p:cNvPr id="6" name="Text 4"/>
          <p:cNvSpPr/>
          <p:nvPr/>
        </p:nvSpPr>
        <p:spPr>
          <a:xfrm>
            <a:off x="4572000" y="3185517"/>
            <a:ext cx="11772900" cy="892969"/>
          </a:xfrm>
          <a:prstGeom prst="rect">
            <a:avLst/>
          </a:prstGeom>
          <a:noFill/>
          <a:ln/>
        </p:spPr>
        <p:txBody>
          <a:bodyPr wrap="square" lIns="25400" tIns="25400" rIns="25400" bIns="25400" rtlCol="0" anchor="t">
            <a:normAutofit/>
          </a:bodyPr>
          <a:lstStyle/>
          <a:p>
            <a:pPr algn="l" indent="0" marL="0">
              <a:lnSpc>
                <a:spcPct val="102000"/>
              </a:lnSpc>
              <a:buNone/>
            </a:pPr>
            <a:r>
              <a:rPr lang="en-US" sz="6600" b="1" spc="-132" kern="0" dirty="0">
                <a:solidFill>
                  <a:srgbClr val="161616"/>
                </a:solidFill>
                <a:latin typeface="Georgia" pitchFamily="34" charset="0"/>
                <a:ea typeface="Georgia" pitchFamily="34" charset="-122"/>
                <a:cs typeface="Georgia" pitchFamily="34" charset="-120"/>
              </a:rPr>
              <a:t>Método</a:t>
            </a:r>
            <a:pPr algn="l" indent="0" marL="0">
              <a:lnSpc>
                <a:spcPct val="102000"/>
              </a:lnSpc>
              <a:buNone/>
            </a:pPr>
            <a:r>
              <a:rPr lang="en-US" sz="6600" b="1" spc="-132" kern="0" dirty="0">
                <a:solidFill>
                  <a:srgbClr val="EC4429"/>
                </a:solidFill>
                <a:latin typeface="Georgia" pitchFamily="34" charset="0"/>
                <a:ea typeface="Georgia" pitchFamily="34" charset="-122"/>
                <a:cs typeface="Georgia" pitchFamily="34" charset="-120"/>
              </a:rPr>
              <a:t>.</a:t>
            </a:r>
            <a:endParaRPr lang="en-US" sz="6600" dirty="0"/>
          </a:p>
        </p:txBody>
      </p:sp>
      <p:sp>
        <p:nvSpPr>
          <p:cNvPr id="7" name="Text 5"/>
          <p:cNvSpPr/>
          <p:nvPr/>
        </p:nvSpPr>
        <p:spPr>
          <a:xfrm>
            <a:off x="4572000" y="4307086"/>
            <a:ext cx="10791825" cy="1889522"/>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5A5A5A"/>
                </a:solidFill>
                <a:latin typeface="Arial" pitchFamily="34" charset="0"/>
                <a:ea typeface="Arial" pitchFamily="34" charset="-122"/>
                <a:cs typeface="Arial" pitchFamily="34" charset="-120"/>
              </a:rPr>
              <a:t>Un sistema que sobrevive a que las herramientas cambien cada 3 meses. ChatGPT, Claude, Gemini. La que mañana desbanque a la de hoy. Si tu método depende de la herramienta, te quedas obsoleto cada trimestre.</a:t>
            </a:r>
            <a:endParaRPr lang="en-US" sz="2700" dirty="0"/>
          </a:p>
        </p:txBody>
      </p:sp>
      <p:sp>
        <p:nvSpPr>
          <p:cNvPr id="8" name="Text 6"/>
          <p:cNvSpPr/>
          <p:nvPr/>
        </p:nvSpPr>
        <p:spPr>
          <a:xfrm>
            <a:off x="4572000" y="6463308"/>
            <a:ext cx="10791825" cy="409575"/>
          </a:xfrm>
          <a:prstGeom prst="rect">
            <a:avLst/>
          </a:prstGeom>
          <a:noFill/>
          <a:ln/>
        </p:spPr>
        <p:txBody>
          <a:bodyPr wrap="square" lIns="25400" tIns="25400" rIns="25400" bIns="25400" rtlCol="0" anchor="t">
            <a:normAutofit/>
          </a:bodyPr>
          <a:lstStyle/>
          <a:p>
            <a:pPr algn="l" indent="0" marL="0">
              <a:lnSpc>
                <a:spcPct val="130000"/>
              </a:lnSpc>
              <a:buNone/>
            </a:pPr>
            <a:r>
              <a:rPr lang="en-US" sz="2250" b="1" dirty="0">
                <a:solidFill>
                  <a:srgbClr val="EC4429"/>
                </a:solidFill>
                <a:latin typeface="Arial" pitchFamily="34" charset="0"/>
                <a:ea typeface="Arial" pitchFamily="34" charset="-122"/>
                <a:cs typeface="Arial" pitchFamily="34" charset="-120"/>
              </a:rPr>
              <a:t>Si tu método es propio, las herramientas son intercambiables.</a:t>
            </a:r>
            <a:endParaRPr lang="en-US" sz="2250" dirty="0"/>
          </a:p>
        </p:txBody>
      </p:sp>
      <p:sp>
        <p:nvSpPr>
          <p:cNvPr id="9" name="Shape 7"/>
          <p:cNvSpPr/>
          <p:nvPr/>
        </p:nvSpPr>
        <p:spPr>
          <a:xfrm>
            <a:off x="4572000" y="7215783"/>
            <a:ext cx="10477500" cy="9525"/>
          </a:xfrm>
          <a:prstGeom prst="rect">
            <a:avLst/>
          </a:prstGeom>
          <a:solidFill>
            <a:srgbClr val="D9D2C5"/>
          </a:solidFill>
          <a:ln/>
        </p:spPr>
      </p:sp>
      <p:sp>
        <p:nvSpPr>
          <p:cNvPr id="10" name="Text 8"/>
          <p:cNvSpPr/>
          <p:nvPr/>
        </p:nvSpPr>
        <p:spPr>
          <a:xfrm>
            <a:off x="4572000" y="7492008"/>
            <a:ext cx="10791825" cy="409575"/>
          </a:xfrm>
          <a:prstGeom prst="rect">
            <a:avLst/>
          </a:prstGeom>
          <a:noFill/>
          <a:ln/>
        </p:spPr>
        <p:txBody>
          <a:bodyPr wrap="square" lIns="25400" tIns="25400" rIns="25400" bIns="25400" rtlCol="0" anchor="t">
            <a:normAutofit/>
          </a:bodyPr>
          <a:lstStyle/>
          <a:p>
            <a:pPr algn="l" indent="0" marL="0">
              <a:lnSpc>
                <a:spcPct val="130000"/>
              </a:lnSpc>
              <a:buNone/>
            </a:pPr>
            <a:r>
              <a:rPr lang="en-US" sz="2250" i="1" dirty="0">
                <a:solidFill>
                  <a:srgbClr val="161616"/>
                </a:solidFill>
                <a:latin typeface="Georgia" pitchFamily="34" charset="0"/>
                <a:ea typeface="Georgia" pitchFamily="34" charset="-122"/>
                <a:cs typeface="Georgia" pitchFamily="34" charset="-120"/>
              </a:rPr>
              <a:t>El motor cambia. El arnés es tuyo.</a:t>
            </a:r>
            <a:endParaRPr lang="en-US" sz="2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61616"/>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A5A5A"/>
                </a:solidFill>
                <a:latin typeface="Arial" pitchFamily="34" charset="0"/>
                <a:ea typeface="Arial" pitchFamily="34" charset="-122"/>
                <a:cs typeface="Arial" pitchFamily="34" charset="-120"/>
              </a:rPr>
              <a:t>17 / 42</a:t>
            </a:r>
            <a:endParaRPr lang="en-US" sz="1800" dirty="0"/>
          </a:p>
        </p:txBody>
      </p:sp>
      <p:sp>
        <p:nvSpPr>
          <p:cNvPr id="4" name="Text 2"/>
          <p:cNvSpPr/>
          <p:nvPr/>
        </p:nvSpPr>
        <p:spPr>
          <a:xfrm>
            <a:off x="1143000" y="914400"/>
            <a:ext cx="8327181" cy="342900"/>
          </a:xfrm>
          <a:prstGeom prst="rect">
            <a:avLst/>
          </a:prstGeom>
          <a:noFill/>
          <a:ln/>
        </p:spPr>
        <p:txBody>
          <a:bodyPr wrap="square" lIns="25400" tIns="25400" rIns="25400" bIns="25400" rtlCol="0" anchor="t">
            <a:normAutofit/>
          </a:bodyPr>
          <a:lstStyle/>
          <a:p>
            <a:pPr algn="l" indent="0" marL="0">
              <a:buNone/>
            </a:pPr>
            <a:r>
              <a:rPr lang="en-US" sz="1950" b="1" spc="429" kern="0" dirty="0">
                <a:solidFill>
                  <a:srgbClr val="EC4429"/>
                </a:solidFill>
                <a:latin typeface="Arial" pitchFamily="34" charset="0"/>
                <a:ea typeface="Arial" pitchFamily="34" charset="-122"/>
                <a:cs typeface="Arial" pitchFamily="34" charset="-120"/>
              </a:rPr>
              <a:t>ROADMAP · 6 MESES</a:t>
            </a:r>
            <a:endParaRPr lang="en-US" sz="1950" dirty="0"/>
          </a:p>
        </p:txBody>
      </p:sp>
      <p:sp>
        <p:nvSpPr>
          <p:cNvPr id="5" name="Text 3"/>
          <p:cNvSpPr/>
          <p:nvPr/>
        </p:nvSpPr>
        <p:spPr>
          <a:xfrm>
            <a:off x="1143000" y="1390650"/>
            <a:ext cx="8327181" cy="598140"/>
          </a:xfrm>
          <a:prstGeom prst="rect">
            <a:avLst/>
          </a:prstGeom>
          <a:noFill/>
          <a:ln/>
        </p:spPr>
        <p:txBody>
          <a:bodyPr wrap="square" lIns="25400" tIns="25400" rIns="25400" bIns="25400" rtlCol="0" anchor="t">
            <a:normAutofit/>
          </a:bodyPr>
          <a:lstStyle/>
          <a:p>
            <a:pPr algn="l" indent="0" marL="0">
              <a:lnSpc>
                <a:spcPct val="105000"/>
              </a:lnSpc>
              <a:buNone/>
            </a:pPr>
            <a:r>
              <a:rPr lang="en-US" sz="4200" spc="-84" kern="0" dirty="0">
                <a:solidFill>
                  <a:srgbClr val="161616"/>
                </a:solidFill>
                <a:latin typeface="Georgia" pitchFamily="34" charset="0"/>
                <a:ea typeface="Georgia" pitchFamily="34" charset="-122"/>
                <a:cs typeface="Georgia" pitchFamily="34" charset="-120"/>
              </a:rPr>
              <a:t>Qué priorizar los próximos 6 meses</a:t>
            </a:r>
            <a:pPr algn="l" indent="0" marL="0">
              <a:lnSpc>
                <a:spcPct val="105000"/>
              </a:lnSpc>
              <a:buNone/>
            </a:pPr>
            <a:r>
              <a:rPr lang="en-US" sz="4200" spc="-84" kern="0" dirty="0">
                <a:solidFill>
                  <a:srgbClr val="EC4429"/>
                </a:solidFill>
                <a:latin typeface="Georgia" pitchFamily="34" charset="0"/>
                <a:ea typeface="Georgia" pitchFamily="34" charset="-122"/>
                <a:cs typeface="Georgia" pitchFamily="34" charset="-120"/>
              </a:rPr>
              <a:t>.</a:t>
            </a:r>
            <a:endParaRPr lang="en-US" sz="4200" dirty="0"/>
          </a:p>
        </p:txBody>
      </p:sp>
      <p:sp>
        <p:nvSpPr>
          <p:cNvPr id="6" name="Text 4"/>
          <p:cNvSpPr/>
          <p:nvPr/>
        </p:nvSpPr>
        <p:spPr>
          <a:xfrm>
            <a:off x="1143000" y="2084040"/>
            <a:ext cx="8327181" cy="333375"/>
          </a:xfrm>
          <a:prstGeom prst="rect">
            <a:avLst/>
          </a:prstGeom>
          <a:noFill/>
          <a:ln/>
        </p:spPr>
        <p:txBody>
          <a:bodyPr wrap="square" lIns="25400" tIns="25400" rIns="25400" bIns="25400" rtlCol="0" anchor="t">
            <a:normAutofit/>
          </a:bodyPr>
          <a:lstStyle/>
          <a:p>
            <a:pPr algn="l" indent="0" marL="0">
              <a:buNone/>
            </a:pPr>
            <a:r>
              <a:rPr lang="en-US" sz="1950" dirty="0">
                <a:solidFill>
                  <a:srgbClr val="5A5A5A"/>
                </a:solidFill>
                <a:latin typeface="Arial" pitchFamily="34" charset="0"/>
                <a:ea typeface="Arial" pitchFamily="34" charset="-122"/>
                <a:cs typeface="Arial" pitchFamily="34" charset="-120"/>
              </a:rPr>
              <a:t>Tanto si lo haces solo, con tu equipo, o con nosotros.</a:t>
            </a:r>
            <a:endParaRPr lang="en-US" sz="1950" dirty="0"/>
          </a:p>
        </p:txBody>
      </p:sp>
      <p:sp>
        <p:nvSpPr>
          <p:cNvPr id="7" name="Text 5"/>
          <p:cNvSpPr/>
          <p:nvPr/>
        </p:nvSpPr>
        <p:spPr>
          <a:xfrm>
            <a:off x="1143000" y="2722215"/>
            <a:ext cx="5127650" cy="314325"/>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EC4429"/>
                </a:solidFill>
                <a:latin typeface="Arial" pitchFamily="34" charset="0"/>
                <a:ea typeface="Arial" pitchFamily="34" charset="-122"/>
                <a:cs typeface="Arial" pitchFamily="34" charset="-120"/>
              </a:rPr>
              <a:t>MES 1</a:t>
            </a:r>
            <a:endParaRPr lang="en-US" sz="1800" dirty="0"/>
          </a:p>
        </p:txBody>
      </p:sp>
      <p:sp>
        <p:nvSpPr>
          <p:cNvPr id="8" name="Text 6"/>
          <p:cNvSpPr/>
          <p:nvPr/>
        </p:nvSpPr>
        <p:spPr>
          <a:xfrm>
            <a:off x="1143000" y="3227040"/>
            <a:ext cx="5127650" cy="838200"/>
          </a:xfrm>
          <a:prstGeom prst="rect">
            <a:avLst/>
          </a:prstGeom>
          <a:noFill/>
          <a:ln/>
        </p:spPr>
        <p:txBody>
          <a:bodyPr wrap="square" lIns="25400" tIns="25400" rIns="25400" bIns="25400" rtlCol="0" anchor="t">
            <a:normAutofit/>
          </a:bodyPr>
          <a:lstStyle/>
          <a:p>
            <a:pPr algn="l" indent="0" marL="0">
              <a:lnSpc>
                <a:spcPct val="105000"/>
              </a:lnSpc>
              <a:buNone/>
            </a:pPr>
            <a:r>
              <a:rPr lang="en-US" sz="3000" spc="-30" kern="0" dirty="0">
                <a:solidFill>
                  <a:srgbClr val="161616"/>
                </a:solidFill>
                <a:latin typeface="Georgia" pitchFamily="34" charset="0"/>
                <a:ea typeface="Georgia" pitchFamily="34" charset="-122"/>
                <a:cs typeface="Georgia" pitchFamily="34" charset="-120"/>
              </a:rPr>
              <a:t>Visión 360 y criterio.</a:t>
            </a:r>
            <a:endParaRPr lang="en-US" sz="3000" dirty="0"/>
          </a:p>
        </p:txBody>
      </p:sp>
      <p:sp>
        <p:nvSpPr>
          <p:cNvPr id="9" name="Text 7"/>
          <p:cNvSpPr/>
          <p:nvPr/>
        </p:nvSpPr>
        <p:spPr>
          <a:xfrm>
            <a:off x="982980" y="4350990"/>
            <a:ext cx="5214521" cy="2106216"/>
          </a:xfrm>
          <a:prstGeom prst="rect">
            <a:avLst/>
          </a:prstGeom>
          <a:noFill/>
          <a:ln/>
        </p:spPr>
        <p:txBody>
          <a:bodyPr wrap="square" lIns="25400" tIns="25400" rIns="25400" bIns="25400" rtlCol="0" anchor="t">
            <a:normAutofit/>
          </a:bodyPr>
          <a:lstStyle/>
          <a:p>
            <a:pPr algn="l" indent="0" marL="0">
              <a:lnSpc>
                <a:spcPct val="130000"/>
              </a:lnSpc>
              <a:buNone/>
            </a:pPr>
            <a:r>
              <a:rPr lang="en-US" sz="1800" dirty="0">
                <a:solidFill>
                  <a:srgbClr val="5A5A5A"/>
                </a:solidFill>
                <a:latin typeface="Arial" pitchFamily="34" charset="0"/>
                <a:ea typeface="Arial" pitchFamily="34" charset="-122"/>
                <a:cs typeface="Arial" pitchFamily="34" charset="-120"/>
              </a:rPr>
              <a:t>Visión 360 de qué puede y qué no puede hacer la IA.</a:t>
            </a:r>
            <a:endParaRPr lang="en-US" sz="1800" dirty="0"/>
          </a:p>
          <a:p>
            <a:pPr algn="l" indent="0" marL="0">
              <a:lnSpc>
                <a:spcPct val="130000"/>
              </a:lnSpc>
              <a:buNone/>
            </a:pPr>
            <a:r>
              <a:rPr lang="en-US" sz="1800" dirty="0">
                <a:solidFill>
                  <a:srgbClr val="5A5A5A"/>
                </a:solidFill>
                <a:latin typeface="Arial" pitchFamily="34" charset="0"/>
                <a:ea typeface="Arial" pitchFamily="34" charset="-122"/>
                <a:cs typeface="Arial" pitchFamily="34" charset="-120"/>
              </a:rPr>
              <a:t>Master Prompt funcional para tus áreas críticas.</a:t>
            </a:r>
            <a:endParaRPr lang="en-US" sz="1800" dirty="0"/>
          </a:p>
          <a:p>
            <a:pPr algn="l" indent="0" marL="0">
              <a:lnSpc>
                <a:spcPct val="130000"/>
              </a:lnSpc>
              <a:buNone/>
            </a:pPr>
            <a:r>
              <a:rPr lang="en-US" sz="1800" dirty="0">
                <a:solidFill>
                  <a:srgbClr val="5A5A5A"/>
                </a:solidFill>
                <a:latin typeface="Arial" pitchFamily="34" charset="0"/>
                <a:ea typeface="Arial" pitchFamily="34" charset="-122"/>
                <a:cs typeface="Arial" pitchFamily="34" charset="-120"/>
              </a:rPr>
              <a:t>Política de uso en tu equipo.</a:t>
            </a:r>
            <a:endParaRPr lang="en-US" sz="1800" dirty="0"/>
          </a:p>
          <a:p>
            <a:pPr algn="l" indent="0" marL="0">
              <a:lnSpc>
                <a:spcPct val="130000"/>
              </a:lnSpc>
              <a:buNone/>
            </a:pPr>
            <a:r>
              <a:rPr lang="en-US" sz="1800" dirty="0">
                <a:solidFill>
                  <a:srgbClr val="5A5A5A"/>
                </a:solidFill>
                <a:latin typeface="Arial" pitchFamily="34" charset="0"/>
                <a:ea typeface="Arial" pitchFamily="34" charset="-122"/>
                <a:cs typeface="Arial" pitchFamily="34" charset="-120"/>
              </a:rPr>
              <a:t>GPTs especializados para tus 2-3 áreas clave.</a:t>
            </a:r>
            <a:endParaRPr lang="en-US" sz="1800" dirty="0"/>
          </a:p>
        </p:txBody>
      </p:sp>
      <p:sp>
        <p:nvSpPr>
          <p:cNvPr id="10" name="Text 8"/>
          <p:cNvSpPr/>
          <p:nvPr/>
        </p:nvSpPr>
        <p:spPr>
          <a:xfrm>
            <a:off x="6654701" y="2722215"/>
            <a:ext cx="5127803" cy="314325"/>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EC4429"/>
                </a:solidFill>
                <a:latin typeface="Arial" pitchFamily="34" charset="0"/>
                <a:ea typeface="Arial" pitchFamily="34" charset="-122"/>
                <a:cs typeface="Arial" pitchFamily="34" charset="-120"/>
              </a:rPr>
              <a:t>MES 2 – 3</a:t>
            </a:r>
            <a:endParaRPr lang="en-US" sz="1800" dirty="0"/>
          </a:p>
        </p:txBody>
      </p:sp>
      <p:sp>
        <p:nvSpPr>
          <p:cNvPr id="11" name="Text 9"/>
          <p:cNvSpPr/>
          <p:nvPr/>
        </p:nvSpPr>
        <p:spPr>
          <a:xfrm>
            <a:off x="6654701" y="3227040"/>
            <a:ext cx="5127803"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spc="-30" kern="0" dirty="0">
                <a:solidFill>
                  <a:srgbClr val="161616"/>
                </a:solidFill>
                <a:latin typeface="Georgia" pitchFamily="34" charset="0"/>
                <a:ea typeface="Georgia" pitchFamily="34" charset="-122"/>
                <a:cs typeface="Georgia" pitchFamily="34" charset="-120"/>
              </a:rPr>
              <a:t>Quick wins</a:t>
            </a:r>
            <a:pPr algn="l" indent="0" marL="0">
              <a:lnSpc>
                <a:spcPct val="105000"/>
              </a:lnSpc>
              <a:buNone/>
            </a:pPr>
            <a:r>
              <a:rPr lang="en-US" sz="3000" spc="-30" kern="0" dirty="0">
                <a:solidFill>
                  <a:srgbClr val="EC4429"/>
                </a:solidFill>
                <a:latin typeface="Georgia" pitchFamily="34" charset="0"/>
                <a:ea typeface="Georgia" pitchFamily="34" charset="-122"/>
                <a:cs typeface="Georgia" pitchFamily="34" charset="-120"/>
              </a:rPr>
              <a:t>.</a:t>
            </a:r>
            <a:endParaRPr lang="en-US" sz="3000" dirty="0"/>
          </a:p>
        </p:txBody>
      </p:sp>
      <p:sp>
        <p:nvSpPr>
          <p:cNvPr id="12" name="Text 10"/>
          <p:cNvSpPr/>
          <p:nvPr/>
        </p:nvSpPr>
        <p:spPr>
          <a:xfrm>
            <a:off x="6494681" y="3950940"/>
            <a:ext cx="5214670" cy="1512094"/>
          </a:xfrm>
          <a:prstGeom prst="rect">
            <a:avLst/>
          </a:prstGeom>
          <a:noFill/>
          <a:ln/>
        </p:spPr>
        <p:txBody>
          <a:bodyPr wrap="square" lIns="25400" tIns="25400" rIns="25400" bIns="25400" rtlCol="0" anchor="t">
            <a:normAutofit/>
          </a:bodyPr>
          <a:lstStyle/>
          <a:p>
            <a:pPr algn="l" indent="0" marL="0">
              <a:lnSpc>
                <a:spcPct val="130000"/>
              </a:lnSpc>
              <a:buNone/>
            </a:pPr>
            <a:r>
              <a:rPr lang="en-US" sz="1800" dirty="0">
                <a:solidFill>
                  <a:srgbClr val="5A5A5A"/>
                </a:solidFill>
                <a:latin typeface="Arial" pitchFamily="34" charset="0"/>
                <a:ea typeface="Arial" pitchFamily="34" charset="-122"/>
                <a:cs typeface="Arial" pitchFamily="34" charset="-120"/>
              </a:rPr>
              <a:t>Detectar los procesos de mayor ROI.</a:t>
            </a:r>
            <a:endParaRPr lang="en-US" sz="1800" dirty="0"/>
          </a:p>
          <a:p>
            <a:pPr algn="l" indent="0" marL="0">
              <a:lnSpc>
                <a:spcPct val="130000"/>
              </a:lnSpc>
              <a:buNone/>
            </a:pPr>
            <a:r>
              <a:rPr lang="en-US" sz="1800" dirty="0">
                <a:solidFill>
                  <a:srgbClr val="5A5A5A"/>
                </a:solidFill>
                <a:latin typeface="Arial" pitchFamily="34" charset="0"/>
                <a:ea typeface="Arial" pitchFamily="34" charset="-122"/>
                <a:cs typeface="Arial" pitchFamily="34" charset="-120"/>
              </a:rPr>
              <a:t>Automatizaciones sencillas, impacto brutal.</a:t>
            </a:r>
            <a:endParaRPr lang="en-US" sz="1800" dirty="0"/>
          </a:p>
          <a:p>
            <a:pPr algn="l" indent="0" marL="0">
              <a:lnSpc>
                <a:spcPct val="130000"/>
              </a:lnSpc>
              <a:buNone/>
            </a:pPr>
            <a:r>
              <a:rPr lang="en-US" sz="1800" dirty="0">
                <a:solidFill>
                  <a:srgbClr val="5A5A5A"/>
                </a:solidFill>
                <a:latin typeface="Arial" pitchFamily="34" charset="0"/>
                <a:ea typeface="Arial" pitchFamily="34" charset="-122"/>
                <a:cs typeface="Arial" pitchFamily="34" charset="-120"/>
              </a:rPr>
              <a:t>Workflows que liberan horas cada semana.</a:t>
            </a:r>
            <a:endParaRPr lang="en-US" sz="1800" dirty="0"/>
          </a:p>
          <a:p>
            <a:pPr algn="l" indent="0" marL="0">
              <a:lnSpc>
                <a:spcPct val="130000"/>
              </a:lnSpc>
              <a:buNone/>
            </a:pPr>
            <a:r>
              <a:rPr lang="en-US" sz="1800" dirty="0">
                <a:solidFill>
                  <a:srgbClr val="5A5A5A"/>
                </a:solidFill>
                <a:latin typeface="Arial" pitchFamily="34" charset="0"/>
                <a:ea typeface="Arial" pitchFamily="34" charset="-122"/>
                <a:cs typeface="Arial" pitchFamily="34" charset="-120"/>
              </a:rPr>
              <a:t>Tu equipo nota la diferencia.</a:t>
            </a:r>
            <a:endParaRPr lang="en-US" sz="1800" dirty="0"/>
          </a:p>
        </p:txBody>
      </p:sp>
      <p:sp>
        <p:nvSpPr>
          <p:cNvPr id="13" name="Text 11"/>
          <p:cNvSpPr/>
          <p:nvPr/>
        </p:nvSpPr>
        <p:spPr>
          <a:xfrm>
            <a:off x="12166550" y="2722215"/>
            <a:ext cx="5127803" cy="314325"/>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EC4429"/>
                </a:solidFill>
                <a:latin typeface="Arial" pitchFamily="34" charset="0"/>
                <a:ea typeface="Arial" pitchFamily="34" charset="-122"/>
                <a:cs typeface="Arial" pitchFamily="34" charset="-120"/>
              </a:rPr>
              <a:t>MES 4 – 6</a:t>
            </a:r>
            <a:endParaRPr lang="en-US" sz="1800" dirty="0"/>
          </a:p>
        </p:txBody>
      </p:sp>
      <p:sp>
        <p:nvSpPr>
          <p:cNvPr id="14" name="Text 12"/>
          <p:cNvSpPr/>
          <p:nvPr/>
        </p:nvSpPr>
        <p:spPr>
          <a:xfrm>
            <a:off x="12166550" y="3227040"/>
            <a:ext cx="5127803" cy="838200"/>
          </a:xfrm>
          <a:prstGeom prst="rect">
            <a:avLst/>
          </a:prstGeom>
          <a:noFill/>
          <a:ln/>
        </p:spPr>
        <p:txBody>
          <a:bodyPr wrap="square" lIns="25400" tIns="25400" rIns="25400" bIns="25400" rtlCol="0" anchor="t">
            <a:normAutofit/>
          </a:bodyPr>
          <a:lstStyle/>
          <a:p>
            <a:pPr algn="l" indent="0" marL="0">
              <a:lnSpc>
                <a:spcPct val="105000"/>
              </a:lnSpc>
              <a:buNone/>
            </a:pPr>
            <a:r>
              <a:rPr lang="en-US" sz="3000" spc="-30" kern="0" dirty="0">
                <a:solidFill>
                  <a:srgbClr val="161616"/>
                </a:solidFill>
                <a:latin typeface="Georgia" pitchFamily="34" charset="0"/>
                <a:ea typeface="Georgia" pitchFamily="34" charset="-122"/>
                <a:cs typeface="Georgia" pitchFamily="34" charset="-120"/>
              </a:rPr>
              <a:t>Arnés y escalado</a:t>
            </a:r>
            <a:pPr algn="l" indent="0" marL="0">
              <a:lnSpc>
                <a:spcPct val="105000"/>
              </a:lnSpc>
              <a:buNone/>
            </a:pPr>
            <a:r>
              <a:rPr lang="en-US" sz="3000" spc="-30" kern="0" dirty="0">
                <a:solidFill>
                  <a:srgbClr val="EC4429"/>
                </a:solidFill>
                <a:latin typeface="Georgia" pitchFamily="34" charset="0"/>
                <a:ea typeface="Georgia" pitchFamily="34" charset="-122"/>
                <a:cs typeface="Georgia" pitchFamily="34" charset="-120"/>
              </a:rPr>
              <a:t>.</a:t>
            </a:r>
            <a:endParaRPr lang="en-US" sz="3000" dirty="0"/>
          </a:p>
        </p:txBody>
      </p:sp>
      <p:sp>
        <p:nvSpPr>
          <p:cNvPr id="15" name="Text 13"/>
          <p:cNvSpPr/>
          <p:nvPr/>
        </p:nvSpPr>
        <p:spPr>
          <a:xfrm>
            <a:off x="12006530" y="4350990"/>
            <a:ext cx="5214670" cy="1809155"/>
          </a:xfrm>
          <a:prstGeom prst="rect">
            <a:avLst/>
          </a:prstGeom>
          <a:noFill/>
          <a:ln/>
        </p:spPr>
        <p:txBody>
          <a:bodyPr wrap="square" lIns="25400" tIns="25400" rIns="25400" bIns="25400" rtlCol="0" anchor="t">
            <a:normAutofit/>
          </a:bodyPr>
          <a:lstStyle/>
          <a:p>
            <a:pPr algn="l" indent="0" marL="0">
              <a:lnSpc>
                <a:spcPct val="130000"/>
              </a:lnSpc>
              <a:buNone/>
            </a:pPr>
            <a:r>
              <a:rPr lang="en-US" sz="1800" dirty="0">
                <a:solidFill>
                  <a:srgbClr val="5A5A5A"/>
                </a:solidFill>
                <a:latin typeface="Arial" pitchFamily="34" charset="0"/>
                <a:ea typeface="Arial" pitchFamily="34" charset="-122"/>
                <a:cs typeface="Arial" pitchFamily="34" charset="-120"/>
              </a:rPr>
              <a:t>Arnés propio conectado a tu stack (Drive, Gmail, ERP).</a:t>
            </a:r>
            <a:endParaRPr lang="en-US" sz="1800" dirty="0"/>
          </a:p>
          <a:p>
            <a:pPr algn="l" indent="0" marL="0">
              <a:lnSpc>
                <a:spcPct val="130000"/>
              </a:lnSpc>
              <a:buNone/>
            </a:pPr>
            <a:r>
              <a:rPr lang="en-US" sz="1800" dirty="0">
                <a:solidFill>
                  <a:srgbClr val="5A5A5A"/>
                </a:solidFill>
                <a:latin typeface="Arial" pitchFamily="34" charset="0"/>
                <a:ea typeface="Arial" pitchFamily="34" charset="-122"/>
                <a:cs typeface="Arial" pitchFamily="34" charset="-120"/>
              </a:rPr>
              <a:t>Agentes end-to-end para procesos clave.</a:t>
            </a:r>
            <a:endParaRPr lang="en-US" sz="1800" dirty="0"/>
          </a:p>
          <a:p>
            <a:pPr algn="l" indent="0" marL="0">
              <a:lnSpc>
                <a:spcPct val="130000"/>
              </a:lnSpc>
              <a:buNone/>
            </a:pPr>
            <a:r>
              <a:rPr lang="en-US" sz="1800" dirty="0">
                <a:solidFill>
                  <a:srgbClr val="5A5A5A"/>
                </a:solidFill>
                <a:latin typeface="Arial" pitchFamily="34" charset="0"/>
                <a:ea typeface="Arial" pitchFamily="34" charset="-122"/>
                <a:cs typeface="Arial" pitchFamily="34" charset="-120"/>
              </a:rPr>
              <a:t>Shadow AI bajo control.</a:t>
            </a:r>
            <a:endParaRPr lang="en-US" sz="1800" dirty="0"/>
          </a:p>
          <a:p>
            <a:pPr algn="l" indent="0" marL="0">
              <a:lnSpc>
                <a:spcPct val="130000"/>
              </a:lnSpc>
              <a:buNone/>
            </a:pPr>
            <a:r>
              <a:rPr lang="en-US" sz="1800" dirty="0">
                <a:solidFill>
                  <a:srgbClr val="5A5A5A"/>
                </a:solidFill>
                <a:latin typeface="Arial" pitchFamily="34" charset="0"/>
                <a:ea typeface="Arial" pitchFamily="34" charset="-122"/>
                <a:cs typeface="Arial" pitchFamily="34" charset="-120"/>
              </a:rPr>
              <a:t>Oportunidades de negocio nuevas.</a:t>
            </a:r>
            <a:endParaRPr lang="en-US" sz="1800" dirty="0"/>
          </a:p>
        </p:txBody>
      </p:sp>
      <p:sp>
        <p:nvSpPr>
          <p:cNvPr id="16" name="Shape 14"/>
          <p:cNvSpPr/>
          <p:nvPr/>
        </p:nvSpPr>
        <p:spPr>
          <a:xfrm>
            <a:off x="1143000" y="7066806"/>
            <a:ext cx="13793837" cy="9525"/>
          </a:xfrm>
          <a:prstGeom prst="rect">
            <a:avLst/>
          </a:prstGeom>
          <a:solidFill>
            <a:srgbClr val="D9D2C5"/>
          </a:solidFill>
          <a:ln/>
        </p:spPr>
      </p:sp>
      <p:sp>
        <p:nvSpPr>
          <p:cNvPr id="17" name="Text 15"/>
          <p:cNvSpPr/>
          <p:nvPr/>
        </p:nvSpPr>
        <p:spPr>
          <a:xfrm>
            <a:off x="1143000" y="7304931"/>
            <a:ext cx="14207652" cy="369540"/>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161616"/>
                </a:solidFill>
                <a:latin typeface="Arial" pitchFamily="34" charset="0"/>
                <a:ea typeface="Arial" pitchFamily="34" charset="-122"/>
                <a:cs typeface="Arial" pitchFamily="34" charset="-120"/>
              </a:rPr>
              <a:t>Esto es lo que va a hacer el </a:t>
            </a:r>
            <a:pPr algn="l" indent="0" marL="0">
              <a:lnSpc>
                <a:spcPct val="130000"/>
              </a:lnSpc>
              <a:buNone/>
            </a:pPr>
            <a:r>
              <a:rPr lang="en-US" sz="1950" b="1" dirty="0">
                <a:solidFill>
                  <a:srgbClr val="EC4429"/>
                </a:solidFill>
                <a:latin typeface="Arial" pitchFamily="34" charset="0"/>
                <a:ea typeface="Arial" pitchFamily="34" charset="-122"/>
                <a:cs typeface="Arial" pitchFamily="34" charset="-120"/>
              </a:rPr>
              <a:t>10% de directivos </a:t>
            </a:r>
            <a:pPr algn="l" indent="0" marL="0">
              <a:lnSpc>
                <a:spcPct val="130000"/>
              </a:lnSpc>
              <a:buNone/>
            </a:pPr>
            <a:r>
              <a:rPr lang="en-US" sz="1950" dirty="0">
                <a:solidFill>
                  <a:srgbClr val="161616"/>
                </a:solidFill>
                <a:latin typeface="Arial" pitchFamily="34" charset="0"/>
                <a:ea typeface="Arial" pitchFamily="34" charset="-122"/>
                <a:cs typeface="Arial" pitchFamily="34" charset="-120"/>
              </a:rPr>
              <a:t>los próximos 6 meses. El otro 90% va a seguir probando herramientas sueltas.</a:t>
            </a:r>
            <a:endParaRPr lang="en-US" sz="1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F5F2EC"/>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7A766F"/>
                </a:solidFill>
                <a:latin typeface="Arial" pitchFamily="34" charset="0"/>
                <a:ea typeface="Arial" pitchFamily="34" charset="-122"/>
                <a:cs typeface="Arial" pitchFamily="34" charset="-120"/>
              </a:rPr>
              <a:t>18 / 42</a:t>
            </a:r>
            <a:endParaRPr lang="en-US" sz="1800" dirty="0"/>
          </a:p>
        </p:txBody>
      </p:sp>
      <p:sp>
        <p:nvSpPr>
          <p:cNvPr id="4" name="Text 2"/>
          <p:cNvSpPr/>
          <p:nvPr/>
        </p:nvSpPr>
        <p:spPr>
          <a:xfrm>
            <a:off x="1143000" y="2147888"/>
            <a:ext cx="2228850" cy="342900"/>
          </a:xfrm>
          <a:prstGeom prst="rect">
            <a:avLst/>
          </a:prstGeom>
          <a:noFill/>
          <a:ln/>
        </p:spPr>
        <p:txBody>
          <a:bodyPr wrap="square" lIns="25400" tIns="25400" rIns="25400" bIns="25400" rtlCol="0" anchor="t">
            <a:normAutofit/>
          </a:bodyPr>
          <a:lstStyle/>
          <a:p>
            <a:pPr algn="l" indent="0" marL="0">
              <a:buNone/>
            </a:pPr>
            <a:r>
              <a:rPr lang="en-US" sz="1950" b="1" spc="429" kern="0" dirty="0">
                <a:solidFill>
                  <a:srgbClr val="EC4429"/>
                </a:solidFill>
                <a:latin typeface="Arial" pitchFamily="34" charset="0"/>
                <a:ea typeface="Arial" pitchFamily="34" charset="-122"/>
                <a:cs typeface="Arial" pitchFamily="34" charset="-120"/>
              </a:rPr>
              <a:t>CAPÍTULO 02</a:t>
            </a:r>
            <a:endParaRPr lang="en-US" sz="1950" dirty="0"/>
          </a:p>
        </p:txBody>
      </p:sp>
      <p:sp>
        <p:nvSpPr>
          <p:cNvPr id="5" name="Text 3"/>
          <p:cNvSpPr/>
          <p:nvPr/>
        </p:nvSpPr>
        <p:spPr>
          <a:xfrm>
            <a:off x="1143000" y="2909888"/>
            <a:ext cx="12951723" cy="4381500"/>
          </a:xfrm>
          <a:prstGeom prst="rect">
            <a:avLst/>
          </a:prstGeom>
          <a:noFill/>
          <a:ln/>
        </p:spPr>
        <p:txBody>
          <a:bodyPr wrap="square" lIns="25400" tIns="25400" rIns="25400" bIns="25400" rtlCol="0" anchor="t">
            <a:normAutofit/>
          </a:bodyPr>
          <a:lstStyle/>
          <a:p>
            <a:pPr algn="l" indent="0" marL="0">
              <a:lnSpc>
                <a:spcPct val="100000"/>
              </a:lnSpc>
              <a:buNone/>
            </a:pPr>
            <a:r>
              <a:rPr lang="en-US" sz="11400" spc="-285" kern="0" dirty="0">
                <a:solidFill>
                  <a:srgbClr val="F5F2EC"/>
                </a:solidFill>
                <a:latin typeface="Georgia" pitchFamily="34" charset="0"/>
                <a:ea typeface="Georgia" pitchFamily="34" charset="-122"/>
                <a:cs typeface="Georgia" pitchFamily="34" charset="-120"/>
              </a:rPr>
              <a:t>Esto es </a:t>
            </a:r>
            <a:pPr algn="l" indent="0" marL="0">
              <a:lnSpc>
                <a:spcPct val="100000"/>
              </a:lnSpc>
              <a:buNone/>
            </a:pPr>
            <a:r>
              <a:rPr lang="en-US" sz="11400" i="1" spc="-285" kern="0" dirty="0">
                <a:solidFill>
                  <a:srgbClr val="EC4429"/>
                </a:solidFill>
                <a:latin typeface="Georgia" pitchFamily="34" charset="0"/>
                <a:ea typeface="Georgia" pitchFamily="34" charset="-122"/>
                <a:cs typeface="Georgia" pitchFamily="34" charset="-120"/>
              </a:rPr>
              <a:t>muy potente </a:t>
            </a:r>
            <a:pPr algn="l" indent="0" marL="0">
              <a:lnSpc>
                <a:spcPct val="100000"/>
              </a:lnSpc>
              <a:buNone/>
            </a:pPr>
            <a:r>
              <a:rPr lang="en-US" sz="11400" spc="-285" kern="0" dirty="0">
                <a:solidFill>
                  <a:srgbClr val="F5F2EC"/>
                </a:solidFill>
                <a:latin typeface="Georgia" pitchFamily="34" charset="0"/>
                <a:ea typeface="Georgia" pitchFamily="34" charset="-122"/>
                <a:cs typeface="Georgia" pitchFamily="34" charset="-120"/>
              </a:rPr>
              <a:t>. Y muy complicado de hacer solo</a:t>
            </a:r>
            <a:pPr algn="l" indent="0" marL="0">
              <a:lnSpc>
                <a:spcPct val="100000"/>
              </a:lnSpc>
              <a:buNone/>
            </a:pPr>
            <a:r>
              <a:rPr lang="en-US" sz="11400" spc="-285" kern="0" dirty="0">
                <a:solidFill>
                  <a:srgbClr val="EC4429"/>
                </a:solidFill>
                <a:latin typeface="Georgia" pitchFamily="34" charset="0"/>
                <a:ea typeface="Georgia" pitchFamily="34" charset="-122"/>
                <a:cs typeface="Georgia" pitchFamily="34" charset="-120"/>
              </a:rPr>
              <a:t>.</a:t>
            </a:r>
            <a:endParaRPr lang="en-US" sz="11400" dirty="0"/>
          </a:p>
        </p:txBody>
      </p:sp>
      <p:sp>
        <p:nvSpPr>
          <p:cNvPr id="6" name="Text 4"/>
          <p:cNvSpPr/>
          <p:nvPr/>
        </p:nvSpPr>
        <p:spPr>
          <a:xfrm>
            <a:off x="1143000" y="7786688"/>
            <a:ext cx="3548886" cy="390525"/>
          </a:xfrm>
          <a:prstGeom prst="rect">
            <a:avLst/>
          </a:prstGeom>
          <a:noFill/>
          <a:ln/>
        </p:spPr>
        <p:txBody>
          <a:bodyPr wrap="square" lIns="25400" tIns="25400" rIns="25400" bIns="25400" rtlCol="0" anchor="t">
            <a:normAutofit/>
          </a:bodyPr>
          <a:lstStyle/>
          <a:p>
            <a:pPr algn="l" indent="0" marL="0">
              <a:buNone/>
            </a:pPr>
            <a:r>
              <a:rPr lang="en-US" sz="2400" dirty="0">
                <a:solidFill>
                  <a:srgbClr val="B8B2A8"/>
                </a:solidFill>
                <a:latin typeface="Arial" pitchFamily="34" charset="0"/>
                <a:ea typeface="Arial" pitchFamily="34" charset="-122"/>
                <a:cs typeface="Arial" pitchFamily="34" charset="-120"/>
              </a:rPr>
              <a:t>Yo lo sé porque me pasó.</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F5F2EC"/>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7A766F"/>
                </a:solidFill>
                <a:latin typeface="Arial" pitchFamily="34" charset="0"/>
                <a:ea typeface="Arial" pitchFamily="34" charset="-122"/>
                <a:cs typeface="Arial" pitchFamily="34" charset="-120"/>
              </a:rPr>
              <a:t>19 / 42</a:t>
            </a:r>
            <a:endParaRPr lang="en-US" sz="1800" dirty="0"/>
          </a:p>
        </p:txBody>
      </p:sp>
      <p:sp>
        <p:nvSpPr>
          <p:cNvPr id="4" name="Shape 2"/>
          <p:cNvSpPr/>
          <p:nvPr/>
        </p:nvSpPr>
        <p:spPr>
          <a:xfrm>
            <a:off x="1143000" y="2286000"/>
            <a:ext cx="4572000" cy="5715000"/>
          </a:xfrm>
          <a:prstGeom prst="roundRect">
            <a:avLst>
              <a:gd name="adj" fmla="val 1250"/>
            </a:avLst>
          </a:prstGeom>
          <a:solidFill>
            <a:srgbClr val="2A2825"/>
          </a:solidFill>
          <a:ln/>
        </p:spPr>
      </p:sp>
      <p:sp>
        <p:nvSpPr>
          <p:cNvPr id="5" name="Text 3"/>
          <p:cNvSpPr/>
          <p:nvPr/>
        </p:nvSpPr>
        <p:spPr>
          <a:xfrm>
            <a:off x="1015901" y="3629025"/>
            <a:ext cx="3729005" cy="3067050"/>
          </a:xfrm>
          <a:prstGeom prst="rect">
            <a:avLst/>
          </a:prstGeom>
          <a:noFill/>
          <a:ln/>
        </p:spPr>
        <p:txBody>
          <a:bodyPr wrap="square" lIns="0" tIns="0" rIns="0" bIns="0" rtlCol="0" anchor="t">
            <a:normAutofit/>
          </a:bodyPr>
          <a:lstStyle/>
          <a:p>
            <a:pPr algn="l" indent="0" marL="0">
              <a:buNone/>
            </a:pPr>
            <a:r>
              <a:rPr lang="en-US" sz="21000" spc="-420" kern="0" dirty="0">
                <a:solidFill>
                  <a:srgbClr val="6B665C"/>
                </a:solidFill>
                <a:latin typeface="Georgia" pitchFamily="34" charset="0"/>
                <a:ea typeface="Georgia" pitchFamily="34" charset="-122"/>
                <a:cs typeface="Georgia" pitchFamily="34" charset="-120"/>
              </a:rPr>
              <a:t>EO</a:t>
            </a:r>
            <a:endParaRPr lang="en-US" sz="21000" dirty="0"/>
          </a:p>
        </p:txBody>
      </p:sp>
      <p:sp>
        <p:nvSpPr>
          <p:cNvPr id="6" name="Text 4"/>
          <p:cNvSpPr/>
          <p:nvPr/>
        </p:nvSpPr>
        <p:spPr>
          <a:xfrm>
            <a:off x="4636294" y="3629025"/>
            <a:ext cx="1282154" cy="3067050"/>
          </a:xfrm>
          <a:prstGeom prst="rect">
            <a:avLst/>
          </a:prstGeom>
          <a:noFill/>
          <a:ln/>
        </p:spPr>
        <p:txBody>
          <a:bodyPr wrap="square" lIns="25400" tIns="25400" rIns="25400" bIns="25400" rtlCol="0" anchor="t">
            <a:normAutofit/>
          </a:bodyPr>
          <a:lstStyle/>
          <a:p>
            <a:pPr algn="l" indent="0" marL="0">
              <a:buNone/>
            </a:pPr>
            <a:r>
              <a:rPr lang="en-US" sz="21000" spc="-420" kern="0" dirty="0">
                <a:solidFill>
                  <a:srgbClr val="EC4429"/>
                </a:solidFill>
                <a:latin typeface="Georgia" pitchFamily="34" charset="0"/>
                <a:ea typeface="Georgia" pitchFamily="34" charset="-122"/>
                <a:cs typeface="Georgia" pitchFamily="34" charset="-120"/>
              </a:rPr>
              <a:t>*</a:t>
            </a:r>
            <a:endParaRPr lang="en-US" sz="21000" dirty="0"/>
          </a:p>
        </p:txBody>
      </p:sp>
      <p:sp>
        <p:nvSpPr>
          <p:cNvPr id="7" name="Text 5"/>
          <p:cNvSpPr/>
          <p:nvPr/>
        </p:nvSpPr>
        <p:spPr>
          <a:xfrm>
            <a:off x="6667500" y="2336453"/>
            <a:ext cx="10791825" cy="342900"/>
          </a:xfrm>
          <a:prstGeom prst="rect">
            <a:avLst/>
          </a:prstGeom>
          <a:noFill/>
          <a:ln/>
        </p:spPr>
        <p:txBody>
          <a:bodyPr wrap="square" lIns="25400" tIns="25400" rIns="25400" bIns="25400" rtlCol="0" anchor="t">
            <a:normAutofit/>
          </a:bodyPr>
          <a:lstStyle/>
          <a:p>
            <a:pPr algn="l" indent="0" marL="0">
              <a:buNone/>
            </a:pPr>
            <a:r>
              <a:rPr lang="en-US" sz="1950" b="1" spc="429" kern="0" dirty="0">
                <a:solidFill>
                  <a:srgbClr val="EC4429"/>
                </a:solidFill>
                <a:latin typeface="Arial" pitchFamily="34" charset="0"/>
                <a:ea typeface="Arial" pitchFamily="34" charset="-122"/>
                <a:cs typeface="Arial" pitchFamily="34" charset="-120"/>
              </a:rPr>
              <a:t>EUGENIO OLLER</a:t>
            </a:r>
            <a:endParaRPr lang="en-US" sz="1950" dirty="0"/>
          </a:p>
        </p:txBody>
      </p:sp>
      <p:sp>
        <p:nvSpPr>
          <p:cNvPr id="8" name="Text 6"/>
          <p:cNvSpPr/>
          <p:nvPr/>
        </p:nvSpPr>
        <p:spPr>
          <a:xfrm>
            <a:off x="6667500" y="2812703"/>
            <a:ext cx="10791825" cy="2781300"/>
          </a:xfrm>
          <a:prstGeom prst="rect">
            <a:avLst/>
          </a:prstGeom>
          <a:noFill/>
          <a:ln/>
        </p:spPr>
        <p:txBody>
          <a:bodyPr wrap="square" lIns="25400" tIns="25400" rIns="25400" bIns="25400" rtlCol="0" anchor="t">
            <a:normAutofit/>
          </a:bodyPr>
          <a:lstStyle/>
          <a:p>
            <a:pPr algn="l" indent="0" marL="0">
              <a:lnSpc>
                <a:spcPct val="100000"/>
              </a:lnSpc>
              <a:buNone/>
            </a:pPr>
            <a:r>
              <a:rPr lang="en-US" sz="7200" b="1" spc="-144" kern="0" dirty="0">
                <a:solidFill>
                  <a:srgbClr val="F5F2EC"/>
                </a:solidFill>
                <a:latin typeface="Georgia" pitchFamily="34" charset="0"/>
                <a:ea typeface="Georgia" pitchFamily="34" charset="-122"/>
                <a:cs typeface="Georgia" pitchFamily="34" charset="-120"/>
              </a:rPr>
              <a:t>Veía mucho. Entendía poco. Aplicaba menos</a:t>
            </a:r>
            <a:pPr algn="l" indent="0" marL="0">
              <a:lnSpc>
                <a:spcPct val="100000"/>
              </a:lnSpc>
              <a:buNone/>
            </a:pPr>
            <a:r>
              <a:rPr lang="en-US" sz="7200" b="1" spc="-144" kern="0" dirty="0">
                <a:solidFill>
                  <a:srgbClr val="EC4429"/>
                </a:solidFill>
                <a:latin typeface="Georgia" pitchFamily="34" charset="0"/>
                <a:ea typeface="Georgia" pitchFamily="34" charset="-122"/>
                <a:cs typeface="Georgia" pitchFamily="34" charset="-120"/>
              </a:rPr>
              <a:t>.</a:t>
            </a:r>
            <a:endParaRPr lang="en-US" sz="7200" dirty="0"/>
          </a:p>
        </p:txBody>
      </p:sp>
      <p:sp>
        <p:nvSpPr>
          <p:cNvPr id="9" name="Text 7"/>
          <p:cNvSpPr/>
          <p:nvPr/>
        </p:nvSpPr>
        <p:spPr>
          <a:xfrm>
            <a:off x="6667500" y="5860703"/>
            <a:ext cx="10791825" cy="361950"/>
          </a:xfrm>
          <a:prstGeom prst="rect">
            <a:avLst/>
          </a:prstGeom>
          <a:noFill/>
          <a:ln/>
        </p:spPr>
        <p:txBody>
          <a:bodyPr wrap="square" lIns="25400" tIns="25400" rIns="25400" bIns="25400" rtlCol="0" anchor="t">
            <a:normAutofit/>
          </a:bodyPr>
          <a:lstStyle/>
          <a:p>
            <a:pPr algn="l" indent="0" marL="0">
              <a:buNone/>
            </a:pPr>
            <a:r>
              <a:rPr lang="en-US" sz="2100" b="1" spc="126" kern="0" dirty="0">
                <a:solidFill>
                  <a:srgbClr val="EC4429"/>
                </a:solidFill>
                <a:latin typeface="Arial" pitchFamily="34" charset="0"/>
                <a:ea typeface="Arial" pitchFamily="34" charset="-122"/>
                <a:cs typeface="Arial" pitchFamily="34" charset="-120"/>
              </a:rPr>
              <a:t>Cofundador · Executive Lab*</a:t>
            </a:r>
            <a:endParaRPr lang="en-US" sz="2100" dirty="0"/>
          </a:p>
        </p:txBody>
      </p:sp>
      <p:sp>
        <p:nvSpPr>
          <p:cNvPr id="10" name="Text 8"/>
          <p:cNvSpPr/>
          <p:nvPr/>
        </p:nvSpPr>
        <p:spPr>
          <a:xfrm>
            <a:off x="6480810" y="6565553"/>
            <a:ext cx="10740390" cy="1422946"/>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B8B2A8"/>
                </a:solidFill>
                <a:latin typeface="Arial" pitchFamily="34" charset="0"/>
                <a:ea typeface="Arial" pitchFamily="34" charset="-122"/>
                <a:cs typeface="Arial" pitchFamily="34" charset="-120"/>
              </a:rPr>
              <a:t>Mil herramientas saliendo cada semana.</a:t>
            </a:r>
            <a:endParaRPr lang="en-US" sz="2100" dirty="0"/>
          </a:p>
          <a:p>
            <a:pPr algn="l" indent="0" marL="0">
              <a:lnSpc>
                <a:spcPct val="135000"/>
              </a:lnSpc>
              <a:buNone/>
            </a:pPr>
            <a:r>
              <a:rPr lang="en-US" sz="2100" dirty="0">
                <a:solidFill>
                  <a:srgbClr val="B8B2A8"/>
                </a:solidFill>
                <a:latin typeface="Arial" pitchFamily="34" charset="0"/>
                <a:ea typeface="Arial" pitchFamily="34" charset="-122"/>
                <a:cs typeface="Arial" pitchFamily="34" charset="-120"/>
              </a:rPr>
              <a:t>Cero criterio para saber por dónde empezar.</a:t>
            </a:r>
            <a:endParaRPr lang="en-US" sz="2100" dirty="0"/>
          </a:p>
          <a:p>
            <a:pPr algn="l" indent="0" marL="0">
              <a:lnSpc>
                <a:spcPct val="135000"/>
              </a:lnSpc>
              <a:buNone/>
            </a:pPr>
            <a:r>
              <a:rPr lang="en-US" sz="2100" dirty="0">
                <a:solidFill>
                  <a:srgbClr val="B8B2A8"/>
                </a:solidFill>
                <a:latin typeface="Arial" pitchFamily="34" charset="0"/>
                <a:ea typeface="Arial" pitchFamily="34" charset="-122"/>
                <a:cs typeface="Arial" pitchFamily="34" charset="-120"/>
              </a:rPr>
              <a:t>Mucho tiempo perdido sin resultados reales.</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61616"/>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A5A5A"/>
                </a:solidFill>
                <a:latin typeface="Arial" pitchFamily="34" charset="0"/>
                <a:ea typeface="Arial" pitchFamily="34" charset="-122"/>
                <a:cs typeface="Arial" pitchFamily="34" charset="-120"/>
              </a:rPr>
              <a:t>20 / 42</a:t>
            </a:r>
            <a:endParaRPr lang="en-US" sz="1800" dirty="0"/>
          </a:p>
        </p:txBody>
      </p:sp>
      <p:sp>
        <p:nvSpPr>
          <p:cNvPr id="4" name="Text 2"/>
          <p:cNvSpPr/>
          <p:nvPr/>
        </p:nvSpPr>
        <p:spPr>
          <a:xfrm>
            <a:off x="943526" y="1522214"/>
            <a:ext cx="13697187" cy="1718072"/>
          </a:xfrm>
          <a:prstGeom prst="rect">
            <a:avLst/>
          </a:prstGeom>
          <a:noFill/>
          <a:ln/>
        </p:spPr>
        <p:txBody>
          <a:bodyPr wrap="square" lIns="25400" tIns="25400" rIns="25400" bIns="25400" rtlCol="0" anchor="t">
            <a:normAutofit/>
          </a:bodyPr>
          <a:lstStyle/>
          <a:p>
            <a:pPr algn="ctr" indent="0" marL="0">
              <a:lnSpc>
                <a:spcPct val="105000"/>
              </a:lnSpc>
              <a:buNone/>
            </a:pPr>
            <a:r>
              <a:rPr lang="en-US" sz="6300" spc="-126" kern="0" dirty="0">
                <a:solidFill>
                  <a:srgbClr val="161616"/>
                </a:solidFill>
                <a:latin typeface="Georgia" pitchFamily="34" charset="0"/>
                <a:ea typeface="Georgia" pitchFamily="34" charset="-122"/>
                <a:cs typeface="Georgia" pitchFamily="34" charset="-120"/>
              </a:rPr>
              <a:t>Necesitaba dos cosas: </a:t>
            </a:r>
            <a:pPr algn="ctr" indent="0" marL="0">
              <a:lnSpc>
                <a:spcPct val="105000"/>
              </a:lnSpc>
              <a:buNone/>
            </a:pPr>
            <a:r>
              <a:rPr lang="en-US" sz="6300" i="1" spc="-126" kern="0" dirty="0">
                <a:solidFill>
                  <a:srgbClr val="EC4429"/>
                </a:solidFill>
                <a:latin typeface="Georgia" pitchFamily="34" charset="0"/>
                <a:ea typeface="Georgia" pitchFamily="34" charset="-122"/>
                <a:cs typeface="Georgia" pitchFamily="34" charset="-120"/>
              </a:rPr>
              <a:t>bases sólidas </a:t>
            </a:r>
            <a:pPr algn="ctr" indent="0" marL="0">
              <a:lnSpc>
                <a:spcPct val="105000"/>
              </a:lnSpc>
              <a:buNone/>
            </a:pPr>
            <a:r>
              <a:rPr lang="en-US" sz="6300" spc="-126" kern="0" dirty="0">
                <a:solidFill>
                  <a:srgbClr val="161616"/>
                </a:solidFill>
                <a:latin typeface="Georgia" pitchFamily="34" charset="0"/>
                <a:ea typeface="Georgia" pitchFamily="34" charset="-122"/>
                <a:cs typeface="Georgia" pitchFamily="34" charset="-120"/>
              </a:rPr>
              <a:t>+ actualización constante</a:t>
            </a:r>
            <a:pPr algn="ctr" indent="0" marL="0">
              <a:lnSpc>
                <a:spcPct val="105000"/>
              </a:lnSpc>
              <a:buNone/>
            </a:pPr>
            <a:r>
              <a:rPr lang="en-US" sz="6300" spc="-126" kern="0" dirty="0">
                <a:solidFill>
                  <a:srgbClr val="EC4429"/>
                </a:solidFill>
                <a:latin typeface="Georgia" pitchFamily="34" charset="0"/>
                <a:ea typeface="Georgia" pitchFamily="34" charset="-122"/>
                <a:cs typeface="Georgia" pitchFamily="34" charset="-120"/>
              </a:rPr>
              <a:t>.</a:t>
            </a:r>
            <a:endParaRPr lang="en-US" sz="6300" dirty="0"/>
          </a:p>
        </p:txBody>
      </p:sp>
      <p:sp>
        <p:nvSpPr>
          <p:cNvPr id="5" name="Shape 3"/>
          <p:cNvSpPr/>
          <p:nvPr/>
        </p:nvSpPr>
        <p:spPr>
          <a:xfrm>
            <a:off x="3476625" y="4116586"/>
            <a:ext cx="3048000" cy="3048000"/>
          </a:xfrm>
          <a:prstGeom prst="ellipse">
            <a:avLst/>
          </a:prstGeom>
          <a:solidFill>
            <a:srgbClr val="2A2825"/>
          </a:solidFill>
          <a:ln/>
        </p:spPr>
      </p:sp>
      <p:sp>
        <p:nvSpPr>
          <p:cNvPr id="6" name="Text 4"/>
          <p:cNvSpPr/>
          <p:nvPr/>
        </p:nvSpPr>
        <p:spPr>
          <a:xfrm>
            <a:off x="3397895" y="4669036"/>
            <a:ext cx="2472184" cy="1981200"/>
          </a:xfrm>
          <a:prstGeom prst="rect">
            <a:avLst/>
          </a:prstGeom>
          <a:noFill/>
          <a:ln/>
        </p:spPr>
        <p:txBody>
          <a:bodyPr wrap="square" lIns="0" tIns="0" rIns="0" bIns="0" rtlCol="0" anchor="t">
            <a:normAutofit/>
          </a:bodyPr>
          <a:lstStyle/>
          <a:p>
            <a:pPr algn="ctr" indent="0" marL="0">
              <a:buNone/>
            </a:pPr>
            <a:r>
              <a:rPr lang="en-US" sz="13500" dirty="0">
                <a:solidFill>
                  <a:srgbClr val="8A8A8A"/>
                </a:solidFill>
                <a:latin typeface="Georgia" pitchFamily="34" charset="0"/>
                <a:ea typeface="Georgia" pitchFamily="34" charset="-122"/>
                <a:cs typeface="Georgia" pitchFamily="34" charset="-120"/>
              </a:rPr>
              <a:t>EO</a:t>
            </a:r>
            <a:endParaRPr lang="en-US" sz="13500" dirty="0"/>
          </a:p>
        </p:txBody>
      </p:sp>
      <p:sp>
        <p:nvSpPr>
          <p:cNvPr id="7" name="Text 5"/>
          <p:cNvSpPr/>
          <p:nvPr/>
        </p:nvSpPr>
        <p:spPr>
          <a:xfrm>
            <a:off x="5755779" y="4669036"/>
            <a:ext cx="885825" cy="1981200"/>
          </a:xfrm>
          <a:prstGeom prst="rect">
            <a:avLst/>
          </a:prstGeom>
          <a:noFill/>
          <a:ln/>
        </p:spPr>
        <p:txBody>
          <a:bodyPr wrap="square" lIns="25400" tIns="25400" rIns="25400" bIns="25400" rtlCol="0" anchor="t">
            <a:normAutofit/>
          </a:bodyPr>
          <a:lstStyle/>
          <a:p>
            <a:pPr algn="ctr" indent="0" marL="0">
              <a:buNone/>
            </a:pPr>
            <a:r>
              <a:rPr lang="en-US" sz="13500" dirty="0">
                <a:solidFill>
                  <a:srgbClr val="EC4429"/>
                </a:solidFill>
                <a:latin typeface="Georgia" pitchFamily="34" charset="0"/>
                <a:ea typeface="Georgia" pitchFamily="34" charset="-122"/>
                <a:cs typeface="Georgia" pitchFamily="34" charset="-120"/>
              </a:rPr>
              <a:t>*</a:t>
            </a:r>
            <a:endParaRPr lang="en-US" sz="13500" dirty="0"/>
          </a:p>
        </p:txBody>
      </p:sp>
      <p:sp>
        <p:nvSpPr>
          <p:cNvPr id="8" name="Text 6"/>
          <p:cNvSpPr/>
          <p:nvPr/>
        </p:nvSpPr>
        <p:spPr>
          <a:xfrm>
            <a:off x="4200823" y="7469386"/>
            <a:ext cx="1599605" cy="723900"/>
          </a:xfrm>
          <a:prstGeom prst="rect">
            <a:avLst/>
          </a:prstGeom>
          <a:noFill/>
          <a:ln/>
        </p:spPr>
        <p:txBody>
          <a:bodyPr wrap="square" lIns="25400" tIns="25400" rIns="25400" bIns="25400" rtlCol="0" anchor="t">
            <a:normAutofit/>
          </a:bodyPr>
          <a:lstStyle/>
          <a:p>
            <a:pPr algn="ctr" indent="0" marL="0">
              <a:lnSpc>
                <a:spcPct val="100000"/>
              </a:lnSpc>
              <a:buNone/>
            </a:pPr>
            <a:r>
              <a:rPr lang="en-US" sz="5400" b="1" dirty="0">
                <a:solidFill>
                  <a:srgbClr val="161616"/>
                </a:solidFill>
                <a:latin typeface="Georgia" pitchFamily="34" charset="0"/>
                <a:ea typeface="Georgia" pitchFamily="34" charset="-122"/>
                <a:cs typeface="Georgia" pitchFamily="34" charset="-120"/>
              </a:rPr>
              <a:t>Euge</a:t>
            </a:r>
            <a:endParaRPr lang="en-US" sz="5400" dirty="0"/>
          </a:p>
        </p:txBody>
      </p:sp>
      <p:sp>
        <p:nvSpPr>
          <p:cNvPr id="9" name="Text 7"/>
          <p:cNvSpPr/>
          <p:nvPr/>
        </p:nvSpPr>
        <p:spPr>
          <a:xfrm>
            <a:off x="3764310" y="8459986"/>
            <a:ext cx="2472482" cy="342900"/>
          </a:xfrm>
          <a:prstGeom prst="rect">
            <a:avLst/>
          </a:prstGeom>
          <a:noFill/>
          <a:ln/>
        </p:spPr>
        <p:txBody>
          <a:bodyPr wrap="square" lIns="25400" tIns="25400" rIns="25400" bIns="25400" rtlCol="0" anchor="t">
            <a:normAutofit/>
          </a:bodyPr>
          <a:lstStyle/>
          <a:p>
            <a:pPr algn="ctr" indent="0" marL="0">
              <a:buNone/>
            </a:pPr>
            <a:r>
              <a:rPr lang="en-US" sz="1950" b="1" spc="351" kern="0" dirty="0">
                <a:solidFill>
                  <a:srgbClr val="EC4429"/>
                </a:solidFill>
                <a:latin typeface="Arial" pitchFamily="34" charset="0"/>
                <a:ea typeface="Arial" pitchFamily="34" charset="-122"/>
                <a:cs typeface="Arial" pitchFamily="34" charset="-120"/>
              </a:rPr>
              <a:t>BASES SÓLIDAS</a:t>
            </a:r>
            <a:endParaRPr lang="en-US" sz="1950" dirty="0"/>
          </a:p>
        </p:txBody>
      </p:sp>
      <p:sp>
        <p:nvSpPr>
          <p:cNvPr id="10" name="Shape 8"/>
          <p:cNvSpPr/>
          <p:nvPr/>
        </p:nvSpPr>
        <p:spPr>
          <a:xfrm>
            <a:off x="11763375" y="4116586"/>
            <a:ext cx="3048000" cy="3048000"/>
          </a:xfrm>
          <a:prstGeom prst="ellipse">
            <a:avLst/>
          </a:prstGeom>
          <a:solidFill>
            <a:srgbClr val="2A2825"/>
          </a:solidFill>
          <a:ln/>
        </p:spPr>
      </p:sp>
      <p:sp>
        <p:nvSpPr>
          <p:cNvPr id="11" name="Text 9"/>
          <p:cNvSpPr/>
          <p:nvPr/>
        </p:nvSpPr>
        <p:spPr>
          <a:xfrm>
            <a:off x="11720959" y="4669036"/>
            <a:ext cx="2399407" cy="1981200"/>
          </a:xfrm>
          <a:prstGeom prst="rect">
            <a:avLst/>
          </a:prstGeom>
          <a:noFill/>
          <a:ln/>
        </p:spPr>
        <p:txBody>
          <a:bodyPr wrap="square" lIns="0" tIns="0" rIns="0" bIns="0" rtlCol="0" anchor="t">
            <a:normAutofit/>
          </a:bodyPr>
          <a:lstStyle/>
          <a:p>
            <a:pPr algn="ctr" indent="0" marL="0">
              <a:buNone/>
            </a:pPr>
            <a:r>
              <a:rPr lang="en-US" sz="13500" dirty="0">
                <a:solidFill>
                  <a:srgbClr val="8A8A8A"/>
                </a:solidFill>
                <a:latin typeface="Georgia" pitchFamily="34" charset="0"/>
                <a:ea typeface="Georgia" pitchFamily="34" charset="-122"/>
                <a:cs typeface="Georgia" pitchFamily="34" charset="-120"/>
              </a:rPr>
              <a:t>ER</a:t>
            </a:r>
            <a:endParaRPr lang="en-US" sz="13500" dirty="0"/>
          </a:p>
        </p:txBody>
      </p:sp>
      <p:sp>
        <p:nvSpPr>
          <p:cNvPr id="12" name="Text 10"/>
          <p:cNvSpPr/>
          <p:nvPr/>
        </p:nvSpPr>
        <p:spPr>
          <a:xfrm>
            <a:off x="14006066" y="4669036"/>
            <a:ext cx="885825" cy="1981200"/>
          </a:xfrm>
          <a:prstGeom prst="rect">
            <a:avLst/>
          </a:prstGeom>
          <a:noFill/>
          <a:ln/>
        </p:spPr>
        <p:txBody>
          <a:bodyPr wrap="square" lIns="25400" tIns="25400" rIns="25400" bIns="25400" rtlCol="0" anchor="t">
            <a:normAutofit/>
          </a:bodyPr>
          <a:lstStyle/>
          <a:p>
            <a:pPr algn="ctr" indent="0" marL="0">
              <a:buNone/>
            </a:pPr>
            <a:r>
              <a:rPr lang="en-US" sz="13500" dirty="0">
                <a:solidFill>
                  <a:srgbClr val="EC4429"/>
                </a:solidFill>
                <a:latin typeface="Georgia" pitchFamily="34" charset="0"/>
                <a:ea typeface="Georgia" pitchFamily="34" charset="-122"/>
                <a:cs typeface="Georgia" pitchFamily="34" charset="-120"/>
              </a:rPr>
              <a:t>*</a:t>
            </a:r>
            <a:endParaRPr lang="en-US" sz="13500" dirty="0"/>
          </a:p>
        </p:txBody>
      </p:sp>
      <p:sp>
        <p:nvSpPr>
          <p:cNvPr id="13" name="Text 11"/>
          <p:cNvSpPr/>
          <p:nvPr/>
        </p:nvSpPr>
        <p:spPr>
          <a:xfrm>
            <a:off x="12628513" y="7469386"/>
            <a:ext cx="1317575" cy="723900"/>
          </a:xfrm>
          <a:prstGeom prst="rect">
            <a:avLst/>
          </a:prstGeom>
          <a:noFill/>
          <a:ln/>
        </p:spPr>
        <p:txBody>
          <a:bodyPr wrap="square" lIns="25400" tIns="25400" rIns="25400" bIns="25400" rtlCol="0" anchor="t">
            <a:normAutofit/>
          </a:bodyPr>
          <a:lstStyle/>
          <a:p>
            <a:pPr algn="ctr" indent="0" marL="0">
              <a:lnSpc>
                <a:spcPct val="100000"/>
              </a:lnSpc>
              <a:buNone/>
            </a:pPr>
            <a:r>
              <a:rPr lang="en-US" sz="5400" b="1" dirty="0">
                <a:solidFill>
                  <a:srgbClr val="161616"/>
                </a:solidFill>
                <a:latin typeface="Georgia" pitchFamily="34" charset="0"/>
                <a:ea typeface="Georgia" pitchFamily="34" charset="-122"/>
                <a:cs typeface="Georgia" pitchFamily="34" charset="-120"/>
              </a:rPr>
              <a:t>Eric</a:t>
            </a:r>
            <a:endParaRPr lang="en-US" sz="5400" dirty="0"/>
          </a:p>
        </p:txBody>
      </p:sp>
      <p:sp>
        <p:nvSpPr>
          <p:cNvPr id="14" name="Text 12"/>
          <p:cNvSpPr/>
          <p:nvPr/>
        </p:nvSpPr>
        <p:spPr>
          <a:xfrm>
            <a:off x="11964150" y="8459986"/>
            <a:ext cx="2646450" cy="342900"/>
          </a:xfrm>
          <a:prstGeom prst="rect">
            <a:avLst/>
          </a:prstGeom>
          <a:noFill/>
          <a:ln/>
        </p:spPr>
        <p:txBody>
          <a:bodyPr wrap="square" lIns="25400" tIns="25400" rIns="25400" bIns="25400" rtlCol="0" anchor="t">
            <a:normAutofit/>
          </a:bodyPr>
          <a:lstStyle/>
          <a:p>
            <a:pPr algn="ctr" indent="0" marL="0">
              <a:buNone/>
            </a:pPr>
            <a:r>
              <a:rPr lang="en-US" sz="1950" b="1" spc="351" kern="0" dirty="0">
                <a:solidFill>
                  <a:srgbClr val="EC4429"/>
                </a:solidFill>
                <a:latin typeface="Arial" pitchFamily="34" charset="0"/>
                <a:ea typeface="Arial" pitchFamily="34" charset="-122"/>
                <a:cs typeface="Arial" pitchFamily="34" charset="-120"/>
              </a:rPr>
              <a:t>ACTUALIZACIÓN</a:t>
            </a:r>
            <a:endParaRPr lang="en-US" sz="1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61616"/>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A5A5A"/>
                </a:solidFill>
                <a:latin typeface="Arial" pitchFamily="34" charset="0"/>
                <a:ea typeface="Arial" pitchFamily="34" charset="-122"/>
                <a:cs typeface="Arial" pitchFamily="34" charset="-120"/>
              </a:rPr>
              <a:t>21 / 42</a:t>
            </a:r>
            <a:endParaRPr lang="en-US" sz="1800" dirty="0"/>
          </a:p>
        </p:txBody>
      </p:sp>
      <p:sp>
        <p:nvSpPr>
          <p:cNvPr id="4" name="Text 2"/>
          <p:cNvSpPr/>
          <p:nvPr/>
        </p:nvSpPr>
        <p:spPr>
          <a:xfrm>
            <a:off x="1143000" y="914400"/>
            <a:ext cx="11020998" cy="342900"/>
          </a:xfrm>
          <a:prstGeom prst="rect">
            <a:avLst/>
          </a:prstGeom>
          <a:noFill/>
          <a:ln/>
        </p:spPr>
        <p:txBody>
          <a:bodyPr wrap="square" lIns="25400" tIns="25400" rIns="25400" bIns="25400" rtlCol="0" anchor="t">
            <a:normAutofit/>
          </a:bodyPr>
          <a:lstStyle/>
          <a:p>
            <a:pPr algn="l" indent="0" marL="0">
              <a:buNone/>
            </a:pPr>
            <a:r>
              <a:rPr lang="en-US" sz="1950" b="1" spc="429" kern="0" dirty="0">
                <a:solidFill>
                  <a:srgbClr val="EC4429"/>
                </a:solidFill>
                <a:latin typeface="Arial" pitchFamily="34" charset="0"/>
                <a:ea typeface="Arial" pitchFamily="34" charset="-122"/>
                <a:cs typeface="Arial" pitchFamily="34" charset="-120"/>
              </a:rPr>
              <a:t>04</a:t>
            </a:r>
            <a:endParaRPr lang="en-US" sz="1950" dirty="0"/>
          </a:p>
        </p:txBody>
      </p:sp>
      <p:sp>
        <p:nvSpPr>
          <p:cNvPr id="5" name="Text 3"/>
          <p:cNvSpPr/>
          <p:nvPr/>
        </p:nvSpPr>
        <p:spPr>
          <a:xfrm>
            <a:off x="1143000" y="1447800"/>
            <a:ext cx="11020998" cy="1087338"/>
          </a:xfrm>
          <a:prstGeom prst="rect">
            <a:avLst/>
          </a:prstGeom>
          <a:noFill/>
          <a:ln/>
        </p:spPr>
        <p:txBody>
          <a:bodyPr wrap="square" lIns="25400" tIns="25400" rIns="25400" bIns="25400" rtlCol="0" anchor="t">
            <a:normAutofit/>
          </a:bodyPr>
          <a:lstStyle/>
          <a:p>
            <a:pPr algn="l" indent="0" marL="0">
              <a:lnSpc>
                <a:spcPct val="102000"/>
              </a:lnSpc>
              <a:buNone/>
            </a:pPr>
            <a:r>
              <a:rPr lang="en-US" sz="8100" spc="-178" kern="0" dirty="0">
                <a:solidFill>
                  <a:srgbClr val="161616"/>
                </a:solidFill>
                <a:latin typeface="Georgia" pitchFamily="34" charset="0"/>
                <a:ea typeface="Georgia" pitchFamily="34" charset="-122"/>
                <a:cs typeface="Georgia" pitchFamily="34" charset="-120"/>
              </a:rPr>
              <a:t>Así nació </a:t>
            </a:r>
            <a:pPr algn="l" indent="0" marL="0">
              <a:lnSpc>
                <a:spcPct val="102000"/>
              </a:lnSpc>
              <a:buNone/>
            </a:pPr>
            <a:r>
              <a:rPr lang="en-US" sz="8100" i="1" spc="-178" kern="0" dirty="0">
                <a:solidFill>
                  <a:srgbClr val="EC4429"/>
                </a:solidFill>
                <a:latin typeface="Georgia" pitchFamily="34" charset="0"/>
                <a:ea typeface="Georgia" pitchFamily="34" charset="-122"/>
                <a:cs typeface="Georgia" pitchFamily="34" charset="-120"/>
              </a:rPr>
              <a:t>Executive Lab*</a:t>
            </a:r>
            <a:endParaRPr lang="en-US" sz="8100" dirty="0"/>
          </a:p>
        </p:txBody>
      </p:sp>
      <p:sp>
        <p:nvSpPr>
          <p:cNvPr id="6" name="Shape 4"/>
          <p:cNvSpPr/>
          <p:nvPr/>
        </p:nvSpPr>
        <p:spPr>
          <a:xfrm>
            <a:off x="1143000" y="6169819"/>
            <a:ext cx="14389745" cy="9525"/>
          </a:xfrm>
          <a:prstGeom prst="rect">
            <a:avLst/>
          </a:prstGeom>
          <a:solidFill>
            <a:srgbClr val="D9D2C5"/>
          </a:solidFill>
          <a:ln/>
        </p:spPr>
      </p:sp>
      <p:sp>
        <p:nvSpPr>
          <p:cNvPr id="7" name="Shape 5"/>
          <p:cNvSpPr/>
          <p:nvPr/>
        </p:nvSpPr>
        <p:spPr>
          <a:xfrm>
            <a:off x="1143000" y="3259038"/>
            <a:ext cx="14389745" cy="9525"/>
          </a:xfrm>
          <a:prstGeom prst="rect">
            <a:avLst/>
          </a:prstGeom>
          <a:solidFill>
            <a:srgbClr val="D9D2C5"/>
          </a:solidFill>
          <a:ln/>
        </p:spPr>
      </p:sp>
      <p:sp>
        <p:nvSpPr>
          <p:cNvPr id="8" name="Shape 6"/>
          <p:cNvSpPr/>
          <p:nvPr/>
        </p:nvSpPr>
        <p:spPr>
          <a:xfrm>
            <a:off x="5930057" y="3268563"/>
            <a:ext cx="9525" cy="2901255"/>
          </a:xfrm>
          <a:prstGeom prst="rect">
            <a:avLst/>
          </a:prstGeom>
          <a:solidFill>
            <a:srgbClr val="D9D2C5"/>
          </a:solidFill>
          <a:ln/>
        </p:spPr>
      </p:sp>
      <p:sp>
        <p:nvSpPr>
          <p:cNvPr id="9" name="Text 7"/>
          <p:cNvSpPr/>
          <p:nvPr/>
        </p:nvSpPr>
        <p:spPr>
          <a:xfrm>
            <a:off x="1524000" y="3725763"/>
            <a:ext cx="4145808" cy="1558230"/>
          </a:xfrm>
          <a:prstGeom prst="rect">
            <a:avLst/>
          </a:prstGeom>
          <a:noFill/>
          <a:ln/>
        </p:spPr>
        <p:txBody>
          <a:bodyPr wrap="square" lIns="25400" tIns="25400" rIns="25400" bIns="25400" rtlCol="0" anchor="t">
            <a:normAutofit/>
          </a:bodyPr>
          <a:lstStyle/>
          <a:p>
            <a:pPr algn="l" indent="0" marL="0">
              <a:lnSpc>
                <a:spcPct val="95000"/>
              </a:lnSpc>
              <a:buNone/>
            </a:pPr>
            <a:r>
              <a:rPr lang="en-US" sz="12600" spc="-378" kern="0" dirty="0">
                <a:solidFill>
                  <a:srgbClr val="141414"/>
                </a:solidFill>
                <a:latin typeface="Georgia" pitchFamily="34" charset="0"/>
                <a:ea typeface="Georgia" pitchFamily="34" charset="-122"/>
                <a:cs typeface="Georgia" pitchFamily="34" charset="-120"/>
              </a:rPr>
              <a:t>+200</a:t>
            </a:r>
            <a:pPr algn="l" indent="0" marL="0">
              <a:lnSpc>
                <a:spcPct val="95000"/>
              </a:lnSpc>
              <a:buNone/>
            </a:pPr>
            <a:r>
              <a:rPr lang="en-US" sz="6300" spc="-378" kern="0" dirty="0">
                <a:solidFill>
                  <a:srgbClr val="EC4429"/>
                </a:solidFill>
                <a:latin typeface="Georgia" pitchFamily="34" charset="0"/>
                <a:ea typeface="Georgia" pitchFamily="34" charset="-122"/>
                <a:cs typeface="Georgia" pitchFamily="34" charset="-120"/>
              </a:rPr>
              <a:t>*</a:t>
            </a:r>
            <a:endParaRPr lang="en-US" sz="12600" dirty="0"/>
          </a:p>
        </p:txBody>
      </p:sp>
      <p:sp>
        <p:nvSpPr>
          <p:cNvPr id="10" name="Text 8"/>
          <p:cNvSpPr/>
          <p:nvPr/>
        </p:nvSpPr>
        <p:spPr>
          <a:xfrm>
            <a:off x="1524000" y="5436394"/>
            <a:ext cx="4145808" cy="314325"/>
          </a:xfrm>
          <a:prstGeom prst="rect">
            <a:avLst/>
          </a:prstGeom>
          <a:noFill/>
          <a:ln/>
        </p:spPr>
        <p:txBody>
          <a:bodyPr wrap="square" lIns="25400" tIns="25400" rIns="25400" bIns="25400" rtlCol="0" anchor="t">
            <a:normAutofit/>
          </a:bodyPr>
          <a:lstStyle/>
          <a:p>
            <a:pPr algn="l" indent="0" marL="0">
              <a:buNone/>
            </a:pPr>
            <a:r>
              <a:rPr lang="en-US" sz="1800" b="1" spc="324" kern="0" dirty="0">
                <a:solidFill>
                  <a:srgbClr val="5A5A5A"/>
                </a:solidFill>
                <a:latin typeface="Arial" pitchFamily="34" charset="0"/>
                <a:ea typeface="Arial" pitchFamily="34" charset="-122"/>
                <a:cs typeface="Arial" pitchFamily="34" charset="-120"/>
              </a:rPr>
              <a:t>DIRECTIVOS FORMADOS</a:t>
            </a:r>
            <a:endParaRPr lang="en-US" sz="1800" dirty="0"/>
          </a:p>
        </p:txBody>
      </p:sp>
      <p:sp>
        <p:nvSpPr>
          <p:cNvPr id="11" name="Shape 9"/>
          <p:cNvSpPr/>
          <p:nvPr/>
        </p:nvSpPr>
        <p:spPr>
          <a:xfrm>
            <a:off x="10726638" y="3268563"/>
            <a:ext cx="9525" cy="2901255"/>
          </a:xfrm>
          <a:prstGeom prst="rect">
            <a:avLst/>
          </a:prstGeom>
          <a:solidFill>
            <a:srgbClr val="D9D2C5"/>
          </a:solidFill>
          <a:ln/>
        </p:spPr>
      </p:sp>
      <p:sp>
        <p:nvSpPr>
          <p:cNvPr id="12" name="Text 10"/>
          <p:cNvSpPr/>
          <p:nvPr/>
        </p:nvSpPr>
        <p:spPr>
          <a:xfrm>
            <a:off x="6320582" y="3725763"/>
            <a:ext cx="4145808" cy="1558230"/>
          </a:xfrm>
          <a:prstGeom prst="rect">
            <a:avLst/>
          </a:prstGeom>
          <a:noFill/>
          <a:ln/>
        </p:spPr>
        <p:txBody>
          <a:bodyPr wrap="square" lIns="25400" tIns="25400" rIns="25400" bIns="25400" rtlCol="0" anchor="t">
            <a:normAutofit/>
          </a:bodyPr>
          <a:lstStyle/>
          <a:p>
            <a:pPr algn="l" indent="0" marL="0">
              <a:lnSpc>
                <a:spcPct val="95000"/>
              </a:lnSpc>
              <a:buNone/>
            </a:pPr>
            <a:r>
              <a:rPr lang="en-US" sz="12600" spc="-378" kern="0" dirty="0">
                <a:solidFill>
                  <a:srgbClr val="141414"/>
                </a:solidFill>
                <a:latin typeface="Georgia" pitchFamily="34" charset="0"/>
                <a:ea typeface="Georgia" pitchFamily="34" charset="-122"/>
                <a:cs typeface="Georgia" pitchFamily="34" charset="-120"/>
              </a:rPr>
              <a:t>+20</a:t>
            </a:r>
            <a:endParaRPr lang="en-US" sz="12600" dirty="0"/>
          </a:p>
        </p:txBody>
      </p:sp>
      <p:sp>
        <p:nvSpPr>
          <p:cNvPr id="13" name="Text 11"/>
          <p:cNvSpPr/>
          <p:nvPr/>
        </p:nvSpPr>
        <p:spPr>
          <a:xfrm>
            <a:off x="6320582" y="5436394"/>
            <a:ext cx="4145808" cy="314325"/>
          </a:xfrm>
          <a:prstGeom prst="rect">
            <a:avLst/>
          </a:prstGeom>
          <a:noFill/>
          <a:ln/>
        </p:spPr>
        <p:txBody>
          <a:bodyPr wrap="square" lIns="25400" tIns="25400" rIns="25400" bIns="25400" rtlCol="0" anchor="t">
            <a:normAutofit/>
          </a:bodyPr>
          <a:lstStyle/>
          <a:p>
            <a:pPr algn="l" indent="0" marL="0">
              <a:buNone/>
            </a:pPr>
            <a:r>
              <a:rPr lang="en-US" sz="1800" b="1" spc="324" kern="0" dirty="0">
                <a:solidFill>
                  <a:srgbClr val="5A5A5A"/>
                </a:solidFill>
                <a:latin typeface="Arial" pitchFamily="34" charset="0"/>
                <a:ea typeface="Arial" pitchFamily="34" charset="-122"/>
                <a:cs typeface="Arial" pitchFamily="34" charset="-120"/>
              </a:rPr>
              <a:t>SECTORES</a:t>
            </a:r>
            <a:endParaRPr lang="en-US" sz="1800" dirty="0"/>
          </a:p>
        </p:txBody>
      </p:sp>
      <p:sp>
        <p:nvSpPr>
          <p:cNvPr id="14" name="Text 12"/>
          <p:cNvSpPr/>
          <p:nvPr/>
        </p:nvSpPr>
        <p:spPr>
          <a:xfrm>
            <a:off x="11117163" y="3725763"/>
            <a:ext cx="4155619" cy="1558230"/>
          </a:xfrm>
          <a:prstGeom prst="rect">
            <a:avLst/>
          </a:prstGeom>
          <a:noFill/>
          <a:ln/>
        </p:spPr>
        <p:txBody>
          <a:bodyPr wrap="square" lIns="25400" tIns="25400" rIns="25400" bIns="25400" rtlCol="0" anchor="t">
            <a:normAutofit/>
          </a:bodyPr>
          <a:lstStyle/>
          <a:p>
            <a:pPr algn="l" indent="0" marL="0">
              <a:lnSpc>
                <a:spcPct val="95000"/>
              </a:lnSpc>
              <a:buNone/>
            </a:pPr>
            <a:r>
              <a:rPr lang="en-US" sz="12600" spc="-378" kern="0" dirty="0">
                <a:solidFill>
                  <a:srgbClr val="141414"/>
                </a:solidFill>
                <a:latin typeface="Georgia" pitchFamily="34" charset="0"/>
                <a:ea typeface="Georgia" pitchFamily="34" charset="-122"/>
                <a:cs typeface="Georgia" pitchFamily="34" charset="-120"/>
              </a:rPr>
              <a:t>4,59</a:t>
            </a:r>
            <a:pPr algn="l" indent="0" marL="0">
              <a:lnSpc>
                <a:spcPct val="95000"/>
              </a:lnSpc>
              <a:buNone/>
            </a:pPr>
            <a:r>
              <a:rPr lang="en-US" sz="5670" spc="-378" kern="0" dirty="0">
                <a:solidFill>
                  <a:srgbClr val="5A5A5A"/>
                </a:solidFill>
                <a:latin typeface="Georgia" pitchFamily="34" charset="0"/>
                <a:ea typeface="Georgia" pitchFamily="34" charset="-122"/>
                <a:cs typeface="Georgia" pitchFamily="34" charset="-120"/>
              </a:rPr>
              <a:t>/ 5</a:t>
            </a:r>
            <a:endParaRPr lang="en-US" sz="12600" dirty="0"/>
          </a:p>
        </p:txBody>
      </p:sp>
      <p:sp>
        <p:nvSpPr>
          <p:cNvPr id="15" name="Text 13"/>
          <p:cNvSpPr/>
          <p:nvPr/>
        </p:nvSpPr>
        <p:spPr>
          <a:xfrm>
            <a:off x="11117163" y="5436394"/>
            <a:ext cx="4155619" cy="314325"/>
          </a:xfrm>
          <a:prstGeom prst="rect">
            <a:avLst/>
          </a:prstGeom>
          <a:noFill/>
          <a:ln/>
        </p:spPr>
        <p:txBody>
          <a:bodyPr wrap="square" lIns="25400" tIns="25400" rIns="25400" bIns="25400" rtlCol="0" anchor="t">
            <a:normAutofit/>
          </a:bodyPr>
          <a:lstStyle/>
          <a:p>
            <a:pPr algn="l" indent="0" marL="0">
              <a:buNone/>
            </a:pPr>
            <a:r>
              <a:rPr lang="en-US" sz="1800" b="1" spc="324" kern="0" dirty="0">
                <a:solidFill>
                  <a:srgbClr val="5A5A5A"/>
                </a:solidFill>
                <a:latin typeface="Arial" pitchFamily="34" charset="0"/>
                <a:ea typeface="Arial" pitchFamily="34" charset="-122"/>
                <a:cs typeface="Arial" pitchFamily="34" charset="-120"/>
              </a:rPr>
              <a:t>SATISFACCIÓN</a:t>
            </a:r>
            <a:endParaRPr lang="en-US" sz="1800" dirty="0"/>
          </a:p>
        </p:txBody>
      </p:sp>
      <p:sp>
        <p:nvSpPr>
          <p:cNvPr id="16" name="Text 14"/>
          <p:cNvSpPr/>
          <p:nvPr/>
        </p:nvSpPr>
        <p:spPr>
          <a:xfrm>
            <a:off x="1143000" y="6941344"/>
            <a:ext cx="14716125" cy="879872"/>
          </a:xfrm>
          <a:prstGeom prst="rect">
            <a:avLst/>
          </a:prstGeom>
          <a:noFill/>
          <a:ln/>
        </p:spPr>
        <p:txBody>
          <a:bodyPr wrap="square" lIns="25400" tIns="25400" rIns="25400" bIns="25400" rtlCol="0" anchor="t">
            <a:normAutofit/>
          </a:bodyPr>
          <a:lstStyle/>
          <a:p>
            <a:pPr algn="l" indent="0" marL="0">
              <a:lnSpc>
                <a:spcPct val="135000"/>
              </a:lnSpc>
              <a:buNone/>
            </a:pPr>
            <a:r>
              <a:rPr lang="en-US" sz="2400" dirty="0">
                <a:solidFill>
                  <a:srgbClr val="5A5A5A"/>
                </a:solidFill>
                <a:latin typeface="Arial" pitchFamily="34" charset="0"/>
                <a:ea typeface="Arial" pitchFamily="34" charset="-122"/>
                <a:cs typeface="Arial" pitchFamily="34" charset="-120"/>
              </a:rPr>
              <a:t>Lo que empezó como clases uno a uno hoy son programas, comunidades y formaciones a empresas como </a:t>
            </a:r>
            <a:pPr algn="l" indent="0" marL="0">
              <a:lnSpc>
                <a:spcPct val="135000"/>
              </a:lnSpc>
              <a:buNone/>
            </a:pPr>
            <a:r>
              <a:rPr lang="en-US" sz="2400" b="1" dirty="0">
                <a:solidFill>
                  <a:srgbClr val="161616"/>
                </a:solidFill>
                <a:latin typeface="Arial" pitchFamily="34" charset="0"/>
                <a:ea typeface="Arial" pitchFamily="34" charset="-122"/>
                <a:cs typeface="Arial" pitchFamily="34" charset="-120"/>
              </a:rPr>
              <a:t>Andorra Telecom </a:t>
            </a:r>
            <a:pPr algn="l" indent="0" marL="0">
              <a:lnSpc>
                <a:spcPct val="135000"/>
              </a:lnSpc>
              <a:buNone/>
            </a:pPr>
            <a:r>
              <a:rPr lang="en-US" sz="2400" dirty="0">
                <a:solidFill>
                  <a:srgbClr val="5A5A5A"/>
                </a:solidFill>
                <a:latin typeface="Arial" pitchFamily="34" charset="0"/>
                <a:ea typeface="Arial" pitchFamily="34" charset="-122"/>
                <a:cs typeface="Arial" pitchFamily="34" charset="-120"/>
              </a:rPr>
              <a:t>o </a:t>
            </a:r>
            <a:pPr algn="l" indent="0" marL="0">
              <a:lnSpc>
                <a:spcPct val="135000"/>
              </a:lnSpc>
              <a:buNone/>
            </a:pPr>
            <a:r>
              <a:rPr lang="en-US" sz="2400" b="1" dirty="0">
                <a:solidFill>
                  <a:srgbClr val="161616"/>
                </a:solidFill>
                <a:latin typeface="Arial" pitchFamily="34" charset="0"/>
                <a:ea typeface="Arial" pitchFamily="34" charset="-122"/>
                <a:cs typeface="Arial" pitchFamily="34" charset="-120"/>
              </a:rPr>
              <a:t>FEDA</a:t>
            </a:r>
            <a:pPr algn="l" indent="0" marL="0">
              <a:lnSpc>
                <a:spcPct val="135000"/>
              </a:lnSpc>
              <a:buNone/>
            </a:pPr>
            <a:r>
              <a:rPr lang="en-US" sz="2400" dirty="0">
                <a:solidFill>
                  <a:srgbClr val="5A5A5A"/>
                </a:solidFill>
                <a:latin typeface="Arial" pitchFamily="34" charset="0"/>
                <a:ea typeface="Arial" pitchFamily="34" charset="-122"/>
                <a:cs typeface="Arial" pitchFamily="34" charset="-120"/>
              </a:rPr>
              <a:t>.</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61616"/>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A5A5A"/>
                </a:solidFill>
                <a:latin typeface="Arial" pitchFamily="34" charset="0"/>
                <a:ea typeface="Arial" pitchFamily="34" charset="-122"/>
                <a:cs typeface="Arial" pitchFamily="34" charset="-120"/>
              </a:rPr>
              <a:t>22 / 42</a:t>
            </a:r>
            <a:endParaRPr lang="en-US" sz="1800" dirty="0"/>
          </a:p>
        </p:txBody>
      </p:sp>
      <p:sp>
        <p:nvSpPr>
          <p:cNvPr id="4" name="Text 2"/>
          <p:cNvSpPr/>
          <p:nvPr/>
        </p:nvSpPr>
        <p:spPr>
          <a:xfrm>
            <a:off x="1143000" y="1104900"/>
            <a:ext cx="8247468" cy="342900"/>
          </a:xfrm>
          <a:prstGeom prst="rect">
            <a:avLst/>
          </a:prstGeom>
          <a:noFill/>
          <a:ln/>
        </p:spPr>
        <p:txBody>
          <a:bodyPr wrap="square" lIns="25400" tIns="25400" rIns="25400" bIns="25400" rtlCol="0" anchor="t">
            <a:normAutofit/>
          </a:bodyPr>
          <a:lstStyle/>
          <a:p>
            <a:pPr algn="l" indent="0" marL="0">
              <a:buNone/>
            </a:pPr>
            <a:r>
              <a:rPr lang="en-US" sz="1950" b="1" spc="429" kern="0" dirty="0">
                <a:solidFill>
                  <a:srgbClr val="EC4429"/>
                </a:solidFill>
                <a:latin typeface="Arial" pitchFamily="34" charset="0"/>
                <a:ea typeface="Arial" pitchFamily="34" charset="-122"/>
                <a:cs typeface="Arial" pitchFamily="34" charset="-120"/>
              </a:rPr>
              <a:t>01 · NUESTRO OBJETIVO</a:t>
            </a:r>
            <a:endParaRPr lang="en-US" sz="1950" dirty="0"/>
          </a:p>
        </p:txBody>
      </p:sp>
      <p:sp>
        <p:nvSpPr>
          <p:cNvPr id="5" name="Text 3"/>
          <p:cNvSpPr/>
          <p:nvPr/>
        </p:nvSpPr>
        <p:spPr>
          <a:xfrm>
            <a:off x="1143000" y="1638300"/>
            <a:ext cx="8247468" cy="1903214"/>
          </a:xfrm>
          <a:prstGeom prst="rect">
            <a:avLst/>
          </a:prstGeom>
          <a:noFill/>
          <a:ln/>
        </p:spPr>
        <p:txBody>
          <a:bodyPr wrap="square" lIns="25400" tIns="25400" rIns="25400" bIns="25400" rtlCol="0" anchor="t">
            <a:normAutofit/>
          </a:bodyPr>
          <a:lstStyle/>
          <a:p>
            <a:pPr algn="l" indent="0" marL="0">
              <a:lnSpc>
                <a:spcPct val="102000"/>
              </a:lnSpc>
              <a:buNone/>
            </a:pPr>
            <a:r>
              <a:rPr lang="en-US" sz="7200" spc="-158" kern="0" dirty="0">
                <a:solidFill>
                  <a:srgbClr val="161616"/>
                </a:solidFill>
                <a:latin typeface="Georgia" pitchFamily="34" charset="0"/>
                <a:ea typeface="Georgia" pitchFamily="34" charset="-122"/>
                <a:cs typeface="Georgia" pitchFamily="34" charset="-120"/>
              </a:rPr>
              <a:t>Transformarte en un </a:t>
            </a:r>
            <a:pPr algn="l" indent="0" marL="0">
              <a:lnSpc>
                <a:spcPct val="102000"/>
              </a:lnSpc>
              <a:buNone/>
            </a:pPr>
            <a:r>
              <a:rPr lang="en-US" sz="7200" i="1" spc="-158" kern="0" dirty="0">
                <a:solidFill>
                  <a:srgbClr val="EC4429"/>
                </a:solidFill>
                <a:latin typeface="Georgia" pitchFamily="34" charset="0"/>
                <a:ea typeface="Georgia" pitchFamily="34" charset="-122"/>
                <a:cs typeface="Georgia" pitchFamily="34" charset="-120"/>
              </a:rPr>
              <a:t>Heavy User.</a:t>
            </a:r>
            <a:endParaRPr lang="en-US" sz="7200" dirty="0"/>
          </a:p>
        </p:txBody>
      </p:sp>
      <p:sp>
        <p:nvSpPr>
          <p:cNvPr id="6" name="Shape 4"/>
          <p:cNvSpPr/>
          <p:nvPr/>
        </p:nvSpPr>
        <p:spPr>
          <a:xfrm>
            <a:off x="1143000" y="4113014"/>
            <a:ext cx="4419600" cy="3196382"/>
          </a:xfrm>
          <a:prstGeom prst="rect">
            <a:avLst/>
          </a:prstGeom>
          <a:solidFill>
            <a:srgbClr val="FBFAF7"/>
          </a:solidFill>
          <a:ln w="9525">
            <a:solidFill>
              <a:srgbClr val="D9D2C5"/>
            </a:solidFill>
            <a:prstDash val="solid"/>
          </a:ln>
        </p:spPr>
      </p:sp>
      <p:sp>
        <p:nvSpPr>
          <p:cNvPr id="7" name="Shape 5"/>
          <p:cNvSpPr/>
          <p:nvPr/>
        </p:nvSpPr>
        <p:spPr>
          <a:xfrm>
            <a:off x="1732062" y="4655939"/>
            <a:ext cx="3241477" cy="447675"/>
          </a:xfrm>
          <a:prstGeom prst="roundRect">
            <a:avLst>
              <a:gd name="adj" fmla="val 50000"/>
            </a:avLst>
          </a:prstGeom>
          <a:ln w="9525">
            <a:solidFill>
              <a:srgbClr val="EC4429"/>
            </a:solidFill>
            <a:prstDash val="solid"/>
          </a:ln>
        </p:spPr>
      </p:sp>
      <p:sp>
        <p:nvSpPr>
          <p:cNvPr id="8" name="Text 6"/>
          <p:cNvSpPr/>
          <p:nvPr/>
        </p:nvSpPr>
        <p:spPr>
          <a:xfrm>
            <a:off x="1864415" y="4741664"/>
            <a:ext cx="2976771" cy="314325"/>
          </a:xfrm>
          <a:prstGeom prst="rect">
            <a:avLst/>
          </a:prstGeom>
          <a:noFill/>
          <a:ln/>
        </p:spPr>
        <p:txBody>
          <a:bodyPr wrap="square" lIns="25400" tIns="25400" rIns="25400" bIns="25400" rtlCol="0" anchor="t">
            <a:normAutofit/>
          </a:bodyPr>
          <a:lstStyle/>
          <a:p>
            <a:pPr algn="ctr" indent="0" marL="0">
              <a:buNone/>
            </a:pPr>
            <a:r>
              <a:rPr lang="en-US" sz="1800" b="1" spc="360" kern="0" dirty="0">
                <a:solidFill>
                  <a:srgbClr val="EC4429"/>
                </a:solidFill>
                <a:latin typeface="Arial" pitchFamily="34" charset="0"/>
                <a:ea typeface="Arial" pitchFamily="34" charset="-122"/>
                <a:cs typeface="Arial" pitchFamily="34" charset="-120"/>
              </a:rPr>
              <a:t>PUNTO DE PARTIDA</a:t>
            </a:r>
            <a:endParaRPr lang="en-US" sz="1800" dirty="0"/>
          </a:p>
        </p:txBody>
      </p:sp>
      <p:sp>
        <p:nvSpPr>
          <p:cNvPr id="9" name="Text 7"/>
          <p:cNvSpPr/>
          <p:nvPr/>
        </p:nvSpPr>
        <p:spPr>
          <a:xfrm>
            <a:off x="1478947" y="5294114"/>
            <a:ext cx="3747707" cy="998041"/>
          </a:xfrm>
          <a:prstGeom prst="rect">
            <a:avLst/>
          </a:prstGeom>
          <a:noFill/>
          <a:ln/>
        </p:spPr>
        <p:txBody>
          <a:bodyPr wrap="square" lIns="25400" tIns="25400" rIns="25400" bIns="25400" rtlCol="0" anchor="t">
            <a:normAutofit/>
          </a:bodyPr>
          <a:lstStyle/>
          <a:p>
            <a:pPr algn="ctr" indent="0" marL="0">
              <a:lnSpc>
                <a:spcPct val="105000"/>
              </a:lnSpc>
              <a:buNone/>
            </a:pPr>
            <a:r>
              <a:rPr lang="en-US" sz="3600" b="1" dirty="0">
                <a:solidFill>
                  <a:srgbClr val="161616"/>
                </a:solidFill>
                <a:latin typeface="Georgia" pitchFamily="34" charset="0"/>
                <a:ea typeface="Georgia" pitchFamily="34" charset="-122"/>
                <a:cs typeface="Georgia" pitchFamily="34" charset="-120"/>
              </a:rPr>
              <a:t>Heavy User</a:t>
            </a:r>
            <a:endParaRPr lang="en-US" sz="3600" dirty="0"/>
          </a:p>
        </p:txBody>
      </p:sp>
      <p:sp>
        <p:nvSpPr>
          <p:cNvPr id="10" name="Text 8"/>
          <p:cNvSpPr/>
          <p:nvPr/>
        </p:nvSpPr>
        <p:spPr>
          <a:xfrm>
            <a:off x="1478947" y="6444555"/>
            <a:ext cx="3747707" cy="360015"/>
          </a:xfrm>
          <a:prstGeom prst="rect">
            <a:avLst/>
          </a:prstGeom>
          <a:noFill/>
          <a:ln/>
        </p:spPr>
        <p:txBody>
          <a:bodyPr wrap="square" lIns="25400" tIns="25400" rIns="25400" bIns="25400" rtlCol="0" anchor="t">
            <a:normAutofit/>
          </a:bodyPr>
          <a:lstStyle/>
          <a:p>
            <a:pPr algn="ctr" indent="0" marL="0">
              <a:lnSpc>
                <a:spcPct val="130000"/>
              </a:lnSpc>
              <a:buNone/>
            </a:pPr>
            <a:r>
              <a:rPr lang="en-US" sz="1950" dirty="0">
                <a:solidFill>
                  <a:srgbClr val="5A5A5A"/>
                </a:solidFill>
                <a:latin typeface="Arial" pitchFamily="34" charset="0"/>
                <a:ea typeface="Arial" pitchFamily="34" charset="-122"/>
                <a:cs typeface="Arial" pitchFamily="34" charset="-120"/>
              </a:rPr>
              <a:t>Donde estás hoy.</a:t>
            </a:r>
            <a:endParaRPr lang="en-US" sz="1950" dirty="0"/>
          </a:p>
        </p:txBody>
      </p:sp>
      <p:sp>
        <p:nvSpPr>
          <p:cNvPr id="11" name="Text 9"/>
          <p:cNvSpPr/>
          <p:nvPr/>
        </p:nvSpPr>
        <p:spPr>
          <a:xfrm>
            <a:off x="5867400" y="5330130"/>
            <a:ext cx="838200" cy="800100"/>
          </a:xfrm>
          <a:prstGeom prst="rect">
            <a:avLst/>
          </a:prstGeom>
          <a:noFill/>
          <a:ln/>
        </p:spPr>
        <p:txBody>
          <a:bodyPr wrap="square" lIns="25400" tIns="25400" rIns="25400" bIns="25400" rtlCol="0" anchor="t">
            <a:normAutofit/>
          </a:bodyPr>
          <a:lstStyle/>
          <a:p>
            <a:pPr algn="l" indent="0" marL="0">
              <a:lnSpc>
                <a:spcPct val="100000"/>
              </a:lnSpc>
              <a:buNone/>
            </a:pPr>
            <a:r>
              <a:rPr lang="en-US" sz="6000" dirty="0">
                <a:solidFill>
                  <a:srgbClr val="8A8A8A"/>
                </a:solidFill>
                <a:latin typeface="Georgia" pitchFamily="34" charset="0"/>
                <a:ea typeface="Georgia" pitchFamily="34" charset="-122"/>
                <a:cs typeface="Georgia" pitchFamily="34" charset="-120"/>
              </a:rPr>
              <a:t>→</a:t>
            </a:r>
            <a:endParaRPr lang="en-US" sz="6000" dirty="0"/>
          </a:p>
        </p:txBody>
      </p:sp>
      <p:sp>
        <p:nvSpPr>
          <p:cNvPr id="12" name="Shape 10"/>
          <p:cNvSpPr/>
          <p:nvPr/>
        </p:nvSpPr>
        <p:spPr>
          <a:xfrm>
            <a:off x="6934200" y="4113014"/>
            <a:ext cx="4419600" cy="3196382"/>
          </a:xfrm>
          <a:prstGeom prst="rect">
            <a:avLst/>
          </a:prstGeom>
          <a:solidFill>
            <a:srgbClr val="FBFAF7"/>
          </a:solidFill>
          <a:ln w="9525">
            <a:solidFill>
              <a:srgbClr val="D9D2C5"/>
            </a:solidFill>
            <a:prstDash val="solid"/>
          </a:ln>
        </p:spPr>
      </p:sp>
      <p:sp>
        <p:nvSpPr>
          <p:cNvPr id="13" name="Shape 11"/>
          <p:cNvSpPr/>
          <p:nvPr/>
        </p:nvSpPr>
        <p:spPr>
          <a:xfrm>
            <a:off x="8128248" y="4655939"/>
            <a:ext cx="2031504" cy="447675"/>
          </a:xfrm>
          <a:prstGeom prst="roundRect">
            <a:avLst>
              <a:gd name="adj" fmla="val 50000"/>
            </a:avLst>
          </a:prstGeom>
          <a:ln w="9525">
            <a:solidFill>
              <a:srgbClr val="EC4429"/>
            </a:solidFill>
            <a:prstDash val="solid"/>
          </a:ln>
        </p:spPr>
      </p:sp>
      <p:sp>
        <p:nvSpPr>
          <p:cNvPr id="14" name="Text 12"/>
          <p:cNvSpPr/>
          <p:nvPr/>
        </p:nvSpPr>
        <p:spPr>
          <a:xfrm>
            <a:off x="8271123" y="4741664"/>
            <a:ext cx="1745754" cy="314325"/>
          </a:xfrm>
          <a:prstGeom prst="rect">
            <a:avLst/>
          </a:prstGeom>
          <a:noFill/>
          <a:ln/>
        </p:spPr>
        <p:txBody>
          <a:bodyPr wrap="square" lIns="25400" tIns="25400" rIns="25400" bIns="25400" rtlCol="0" anchor="t">
            <a:normAutofit/>
          </a:bodyPr>
          <a:lstStyle/>
          <a:p>
            <a:pPr algn="ctr" indent="0" marL="0">
              <a:buNone/>
            </a:pPr>
            <a:r>
              <a:rPr lang="en-US" sz="1800" b="1" spc="360" kern="0" dirty="0">
                <a:solidFill>
                  <a:srgbClr val="EC4429"/>
                </a:solidFill>
                <a:latin typeface="Arial" pitchFamily="34" charset="0"/>
                <a:ea typeface="Arial" pitchFamily="34" charset="-122"/>
                <a:cs typeface="Arial" pitchFamily="34" charset="-120"/>
              </a:rPr>
              <a:t>BOOTCAMP</a:t>
            </a:r>
            <a:endParaRPr lang="en-US" sz="1800" dirty="0"/>
          </a:p>
        </p:txBody>
      </p:sp>
      <p:sp>
        <p:nvSpPr>
          <p:cNvPr id="15" name="Text 13"/>
          <p:cNvSpPr/>
          <p:nvPr/>
        </p:nvSpPr>
        <p:spPr>
          <a:xfrm>
            <a:off x="7270147" y="5294114"/>
            <a:ext cx="3747707" cy="998041"/>
          </a:xfrm>
          <a:prstGeom prst="rect">
            <a:avLst/>
          </a:prstGeom>
          <a:noFill/>
          <a:ln/>
        </p:spPr>
        <p:txBody>
          <a:bodyPr wrap="square" lIns="25400" tIns="25400" rIns="25400" bIns="25400" rtlCol="0" anchor="t">
            <a:normAutofit/>
          </a:bodyPr>
          <a:lstStyle/>
          <a:p>
            <a:pPr algn="ctr" indent="0" marL="0">
              <a:lnSpc>
                <a:spcPct val="105000"/>
              </a:lnSpc>
              <a:buNone/>
            </a:pPr>
            <a:r>
              <a:rPr lang="en-US" sz="3600" b="1" dirty="0">
                <a:solidFill>
                  <a:srgbClr val="161616"/>
                </a:solidFill>
                <a:latin typeface="Georgia" pitchFamily="34" charset="0"/>
                <a:ea typeface="Georgia" pitchFamily="34" charset="-122"/>
                <a:cs typeface="Georgia" pitchFamily="34" charset="-120"/>
              </a:rPr>
              <a:t>1 mes intenso</a:t>
            </a:r>
            <a:endParaRPr lang="en-US" sz="3600" dirty="0"/>
          </a:p>
        </p:txBody>
      </p:sp>
      <p:sp>
        <p:nvSpPr>
          <p:cNvPr id="16" name="Text 14"/>
          <p:cNvSpPr/>
          <p:nvPr/>
        </p:nvSpPr>
        <p:spPr>
          <a:xfrm>
            <a:off x="7270147" y="6444555"/>
            <a:ext cx="3747707" cy="360015"/>
          </a:xfrm>
          <a:prstGeom prst="rect">
            <a:avLst/>
          </a:prstGeom>
          <a:noFill/>
          <a:ln/>
        </p:spPr>
        <p:txBody>
          <a:bodyPr wrap="square" lIns="25400" tIns="25400" rIns="25400" bIns="25400" rtlCol="0" anchor="t">
            <a:normAutofit/>
          </a:bodyPr>
          <a:lstStyle/>
          <a:p>
            <a:pPr algn="ctr" indent="0" marL="0">
              <a:lnSpc>
                <a:spcPct val="130000"/>
              </a:lnSpc>
              <a:buNone/>
            </a:pPr>
            <a:r>
              <a:rPr lang="en-US" sz="1950" dirty="0">
                <a:solidFill>
                  <a:srgbClr val="5A5A5A"/>
                </a:solidFill>
                <a:latin typeface="Arial" pitchFamily="34" charset="0"/>
                <a:ea typeface="Arial" pitchFamily="34" charset="-122"/>
                <a:cs typeface="Arial" pitchFamily="34" charset="-120"/>
              </a:rPr>
              <a:t>Bases sólidas y criterio aplicado.</a:t>
            </a:r>
            <a:endParaRPr lang="en-US" sz="1950" dirty="0"/>
          </a:p>
        </p:txBody>
      </p:sp>
      <p:sp>
        <p:nvSpPr>
          <p:cNvPr id="17" name="Text 15"/>
          <p:cNvSpPr/>
          <p:nvPr/>
        </p:nvSpPr>
        <p:spPr>
          <a:xfrm>
            <a:off x="11658600" y="5330130"/>
            <a:ext cx="838200" cy="800100"/>
          </a:xfrm>
          <a:prstGeom prst="rect">
            <a:avLst/>
          </a:prstGeom>
          <a:noFill/>
          <a:ln/>
        </p:spPr>
        <p:txBody>
          <a:bodyPr wrap="square" lIns="25400" tIns="25400" rIns="25400" bIns="25400" rtlCol="0" anchor="t">
            <a:normAutofit/>
          </a:bodyPr>
          <a:lstStyle/>
          <a:p>
            <a:pPr algn="l" indent="0" marL="0">
              <a:lnSpc>
                <a:spcPct val="100000"/>
              </a:lnSpc>
              <a:buNone/>
            </a:pPr>
            <a:r>
              <a:rPr lang="en-US" sz="6000" dirty="0">
                <a:solidFill>
                  <a:srgbClr val="8A8A8A"/>
                </a:solidFill>
                <a:latin typeface="Georgia" pitchFamily="34" charset="0"/>
                <a:ea typeface="Georgia" pitchFamily="34" charset="-122"/>
                <a:cs typeface="Georgia" pitchFamily="34" charset="-120"/>
              </a:rPr>
              <a:t>→</a:t>
            </a:r>
            <a:endParaRPr lang="en-US" sz="6000" dirty="0"/>
          </a:p>
        </p:txBody>
      </p:sp>
      <p:sp>
        <p:nvSpPr>
          <p:cNvPr id="18" name="Shape 16"/>
          <p:cNvSpPr/>
          <p:nvPr/>
        </p:nvSpPr>
        <p:spPr>
          <a:xfrm>
            <a:off x="12725400" y="4113014"/>
            <a:ext cx="4419600" cy="3196382"/>
          </a:xfrm>
          <a:prstGeom prst="rect">
            <a:avLst/>
          </a:prstGeom>
          <a:solidFill>
            <a:srgbClr val="141414"/>
          </a:solidFill>
          <a:ln w="9525">
            <a:solidFill>
              <a:srgbClr val="141414"/>
            </a:solidFill>
            <a:prstDash val="solid"/>
          </a:ln>
        </p:spPr>
      </p:sp>
      <p:sp>
        <p:nvSpPr>
          <p:cNvPr id="19" name="Shape 17"/>
          <p:cNvSpPr/>
          <p:nvPr/>
        </p:nvSpPr>
        <p:spPr>
          <a:xfrm>
            <a:off x="14203412" y="4655939"/>
            <a:ext cx="1463576" cy="447675"/>
          </a:xfrm>
          <a:prstGeom prst="roundRect">
            <a:avLst>
              <a:gd name="adj" fmla="val 50000"/>
            </a:avLst>
          </a:prstGeom>
          <a:ln w="9525">
            <a:solidFill>
              <a:srgbClr val="FBFAF7"/>
            </a:solidFill>
            <a:prstDash val="solid"/>
          </a:ln>
        </p:spPr>
      </p:sp>
      <p:sp>
        <p:nvSpPr>
          <p:cNvPr id="20" name="Text 18"/>
          <p:cNvSpPr/>
          <p:nvPr/>
        </p:nvSpPr>
        <p:spPr>
          <a:xfrm>
            <a:off x="14346287" y="4741664"/>
            <a:ext cx="1177826" cy="314325"/>
          </a:xfrm>
          <a:prstGeom prst="rect">
            <a:avLst/>
          </a:prstGeom>
          <a:noFill/>
          <a:ln/>
        </p:spPr>
        <p:txBody>
          <a:bodyPr wrap="square" lIns="25400" tIns="25400" rIns="25400" bIns="25400" rtlCol="0" anchor="t">
            <a:normAutofit/>
          </a:bodyPr>
          <a:lstStyle/>
          <a:p>
            <a:pPr algn="ctr" indent="0" marL="0">
              <a:buNone/>
            </a:pPr>
            <a:r>
              <a:rPr lang="en-US" sz="1800" b="1" spc="360" kern="0" dirty="0">
                <a:solidFill>
                  <a:srgbClr val="FBFAF7"/>
                </a:solidFill>
                <a:latin typeface="Arial" pitchFamily="34" charset="0"/>
                <a:ea typeface="Arial" pitchFamily="34" charset="-122"/>
                <a:cs typeface="Arial" pitchFamily="34" charset="-120"/>
              </a:rPr>
              <a:t>+1 AÑO</a:t>
            </a:r>
            <a:endParaRPr lang="en-US" sz="1800" dirty="0"/>
          </a:p>
        </p:txBody>
      </p:sp>
      <p:sp>
        <p:nvSpPr>
          <p:cNvPr id="21" name="Text 19"/>
          <p:cNvSpPr/>
          <p:nvPr/>
        </p:nvSpPr>
        <p:spPr>
          <a:xfrm>
            <a:off x="13061347" y="5294114"/>
            <a:ext cx="3747707" cy="998041"/>
          </a:xfrm>
          <a:prstGeom prst="rect">
            <a:avLst/>
          </a:prstGeom>
          <a:noFill/>
          <a:ln/>
        </p:spPr>
        <p:txBody>
          <a:bodyPr wrap="square" lIns="25400" tIns="25400" rIns="25400" bIns="25400" rtlCol="0" anchor="t">
            <a:normAutofit/>
          </a:bodyPr>
          <a:lstStyle/>
          <a:p>
            <a:pPr algn="ctr" indent="0" marL="0">
              <a:lnSpc>
                <a:spcPct val="105000"/>
              </a:lnSpc>
              <a:buNone/>
            </a:pPr>
            <a:r>
              <a:rPr lang="en-US" sz="3600" b="1" dirty="0">
                <a:solidFill>
                  <a:srgbClr val="F5F2EC"/>
                </a:solidFill>
                <a:latin typeface="Georgia" pitchFamily="34" charset="0"/>
                <a:ea typeface="Georgia" pitchFamily="34" charset="-122"/>
                <a:cs typeface="Georgia" pitchFamily="34" charset="-120"/>
              </a:rPr>
              <a:t>Heavy User actualizado</a:t>
            </a:r>
            <a:pPr algn="ctr" indent="0" marL="0">
              <a:lnSpc>
                <a:spcPct val="105000"/>
              </a:lnSpc>
              <a:buNone/>
            </a:pPr>
            <a:r>
              <a:rPr lang="en-US" sz="3600" b="1" dirty="0">
                <a:solidFill>
                  <a:srgbClr val="EC4429"/>
                </a:solidFill>
                <a:latin typeface="Georgia" pitchFamily="34" charset="0"/>
                <a:ea typeface="Georgia" pitchFamily="34" charset="-122"/>
                <a:cs typeface="Georgia" pitchFamily="34" charset="-120"/>
              </a:rPr>
              <a:t>*</a:t>
            </a:r>
            <a:endParaRPr lang="en-US" sz="3600" dirty="0"/>
          </a:p>
        </p:txBody>
      </p:sp>
      <p:sp>
        <p:nvSpPr>
          <p:cNvPr id="22" name="Text 20"/>
          <p:cNvSpPr/>
          <p:nvPr/>
        </p:nvSpPr>
        <p:spPr>
          <a:xfrm>
            <a:off x="13061347" y="6444555"/>
            <a:ext cx="3747707" cy="360015"/>
          </a:xfrm>
          <a:prstGeom prst="rect">
            <a:avLst/>
          </a:prstGeom>
          <a:noFill/>
          <a:ln/>
        </p:spPr>
        <p:txBody>
          <a:bodyPr wrap="square" lIns="25400" tIns="25400" rIns="25400" bIns="25400" rtlCol="0" anchor="t">
            <a:normAutofit/>
          </a:bodyPr>
          <a:lstStyle/>
          <a:p>
            <a:pPr algn="ctr" indent="0" marL="0">
              <a:lnSpc>
                <a:spcPct val="130000"/>
              </a:lnSpc>
              <a:buNone/>
            </a:pPr>
            <a:r>
              <a:rPr lang="en-US" sz="1950" dirty="0">
                <a:solidFill>
                  <a:srgbClr val="5A5A5A"/>
                </a:solidFill>
                <a:latin typeface="Arial" pitchFamily="34" charset="0"/>
                <a:ea typeface="Arial" pitchFamily="34" charset="-122"/>
                <a:cs typeface="Arial" pitchFamily="34" charset="-120"/>
              </a:rPr>
              <a:t>Comunidad + acceso a expertos.</a:t>
            </a:r>
            <a:endParaRPr lang="en-US" sz="1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61616"/>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A5A5A"/>
                </a:solidFill>
                <a:latin typeface="Arial" pitchFamily="34" charset="0"/>
                <a:ea typeface="Arial" pitchFamily="34" charset="-122"/>
                <a:cs typeface="Arial" pitchFamily="34" charset="-120"/>
              </a:rPr>
              <a:t>23 / 42</a:t>
            </a:r>
            <a:endParaRPr lang="en-US" sz="1800" dirty="0"/>
          </a:p>
        </p:txBody>
      </p:sp>
      <p:sp>
        <p:nvSpPr>
          <p:cNvPr id="4" name="Text 2"/>
          <p:cNvSpPr/>
          <p:nvPr/>
        </p:nvSpPr>
        <p:spPr>
          <a:xfrm>
            <a:off x="1143000" y="1275606"/>
            <a:ext cx="9350871" cy="342900"/>
          </a:xfrm>
          <a:prstGeom prst="rect">
            <a:avLst/>
          </a:prstGeom>
          <a:noFill/>
          <a:ln/>
        </p:spPr>
        <p:txBody>
          <a:bodyPr wrap="square" lIns="25400" tIns="25400" rIns="25400" bIns="25400" rtlCol="0" anchor="t">
            <a:normAutofit/>
          </a:bodyPr>
          <a:lstStyle/>
          <a:p>
            <a:pPr algn="l" indent="0" marL="0">
              <a:buNone/>
            </a:pPr>
            <a:r>
              <a:rPr lang="en-US" sz="1950" b="1" spc="429" kern="0" dirty="0">
                <a:solidFill>
                  <a:srgbClr val="EC4429"/>
                </a:solidFill>
                <a:latin typeface="Arial" pitchFamily="34" charset="0"/>
                <a:ea typeface="Arial" pitchFamily="34" charset="-122"/>
                <a:cs typeface="Arial" pitchFamily="34" charset="-120"/>
              </a:rPr>
              <a:t>SOLUCIÓN · 03</a:t>
            </a:r>
            <a:endParaRPr lang="en-US" sz="1950" dirty="0"/>
          </a:p>
        </p:txBody>
      </p:sp>
      <p:sp>
        <p:nvSpPr>
          <p:cNvPr id="5" name="Text 3"/>
          <p:cNvSpPr/>
          <p:nvPr/>
        </p:nvSpPr>
        <p:spPr>
          <a:xfrm>
            <a:off x="1143000" y="1809006"/>
            <a:ext cx="9350871" cy="2058888"/>
          </a:xfrm>
          <a:prstGeom prst="rect">
            <a:avLst/>
          </a:prstGeom>
          <a:noFill/>
          <a:ln/>
        </p:spPr>
        <p:txBody>
          <a:bodyPr wrap="square" lIns="25400" tIns="25400" rIns="25400" bIns="25400" rtlCol="0" anchor="t">
            <a:normAutofit/>
          </a:bodyPr>
          <a:lstStyle/>
          <a:p>
            <a:pPr algn="l" indent="0" marL="0">
              <a:lnSpc>
                <a:spcPct val="102000"/>
              </a:lnSpc>
              <a:buNone/>
            </a:pPr>
            <a:r>
              <a:rPr lang="en-US" sz="7800" spc="-172" kern="0" dirty="0">
                <a:solidFill>
                  <a:srgbClr val="161616"/>
                </a:solidFill>
                <a:latin typeface="Georgia" pitchFamily="34" charset="0"/>
                <a:ea typeface="Georgia" pitchFamily="34" charset="-122"/>
                <a:cs typeface="Georgia" pitchFamily="34" charset="-120"/>
              </a:rPr>
              <a:t>Bootcamp </a:t>
            </a:r>
            <a:pPr algn="l" indent="0" marL="0">
              <a:lnSpc>
                <a:spcPct val="102000"/>
              </a:lnSpc>
              <a:buNone/>
            </a:pPr>
            <a:r>
              <a:rPr lang="en-US" sz="7800" spc="-172" kern="0" dirty="0">
                <a:solidFill>
                  <a:srgbClr val="8A8A8A"/>
                </a:solidFill>
                <a:latin typeface="Georgia" pitchFamily="34" charset="0"/>
                <a:ea typeface="Georgia" pitchFamily="34" charset="-122"/>
                <a:cs typeface="Georgia" pitchFamily="34" charset="-120"/>
              </a:rPr>
              <a:t>+ </a:t>
            </a:r>
            <a:pPr algn="l" indent="0" marL="0">
              <a:lnSpc>
                <a:spcPct val="102000"/>
              </a:lnSpc>
              <a:buNone/>
            </a:pPr>
            <a:r>
              <a:rPr lang="en-US" sz="7800" spc="-172" kern="0" dirty="0">
                <a:solidFill>
                  <a:srgbClr val="161616"/>
                </a:solidFill>
                <a:latin typeface="Georgia" pitchFamily="34" charset="0"/>
                <a:ea typeface="Georgia" pitchFamily="34" charset="-122"/>
                <a:cs typeface="Georgia" pitchFamily="34" charset="-120"/>
              </a:rPr>
              <a:t>Departamento I+D</a:t>
            </a:r>
            <a:pPr algn="l" indent="0" marL="0">
              <a:lnSpc>
                <a:spcPct val="102000"/>
              </a:lnSpc>
              <a:buNone/>
            </a:pPr>
            <a:r>
              <a:rPr lang="en-US" sz="7800" spc="-172" kern="0" dirty="0">
                <a:solidFill>
                  <a:srgbClr val="EC4429"/>
                </a:solidFill>
                <a:latin typeface="Georgia" pitchFamily="34" charset="0"/>
                <a:ea typeface="Georgia" pitchFamily="34" charset="-122"/>
                <a:cs typeface="Georgia" pitchFamily="34" charset="-120"/>
              </a:rPr>
              <a:t>.</a:t>
            </a:r>
            <a:endParaRPr lang="en-US" sz="7800" dirty="0"/>
          </a:p>
        </p:txBody>
      </p:sp>
      <p:sp>
        <p:nvSpPr>
          <p:cNvPr id="6" name="Shape 4"/>
          <p:cNvSpPr/>
          <p:nvPr/>
        </p:nvSpPr>
        <p:spPr>
          <a:xfrm>
            <a:off x="1143000" y="4439394"/>
            <a:ext cx="7810500" cy="4572000"/>
          </a:xfrm>
          <a:prstGeom prst="rect">
            <a:avLst/>
          </a:prstGeom>
          <a:solidFill>
            <a:srgbClr val="141414"/>
          </a:solidFill>
          <a:ln/>
        </p:spPr>
      </p:sp>
      <p:sp>
        <p:nvSpPr>
          <p:cNvPr id="7" name="Text 5"/>
          <p:cNvSpPr/>
          <p:nvPr/>
        </p:nvSpPr>
        <p:spPr>
          <a:xfrm>
            <a:off x="1676400" y="5048994"/>
            <a:ext cx="6946011" cy="314325"/>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EC4429">
                    <a:alpha val="85000"/>
                  </a:srgbClr>
                </a:solidFill>
                <a:latin typeface="Arial" pitchFamily="34" charset="0"/>
                <a:ea typeface="Arial" pitchFamily="34" charset="-122"/>
                <a:cs typeface="Arial" pitchFamily="34" charset="-120"/>
              </a:rPr>
              <a:t>MOTOR 01</a:t>
            </a:r>
            <a:endParaRPr lang="en-US" sz="1800" dirty="0"/>
          </a:p>
        </p:txBody>
      </p:sp>
      <p:sp>
        <p:nvSpPr>
          <p:cNvPr id="8" name="Text 6"/>
          <p:cNvSpPr/>
          <p:nvPr/>
        </p:nvSpPr>
        <p:spPr>
          <a:xfrm>
            <a:off x="1676400" y="5496669"/>
            <a:ext cx="6946011" cy="1714500"/>
          </a:xfrm>
          <a:prstGeom prst="rect">
            <a:avLst/>
          </a:prstGeom>
          <a:noFill/>
          <a:ln/>
        </p:spPr>
        <p:txBody>
          <a:bodyPr wrap="square" lIns="25400" tIns="25400" rIns="25400" bIns="25400" rtlCol="0" anchor="t">
            <a:normAutofit/>
          </a:bodyPr>
          <a:lstStyle/>
          <a:p>
            <a:pPr algn="l" indent="0" marL="0">
              <a:lnSpc>
                <a:spcPct val="100000"/>
              </a:lnSpc>
              <a:buNone/>
            </a:pPr>
            <a:r>
              <a:rPr lang="en-US" sz="6600" b="1" spc="-132" kern="0" dirty="0">
                <a:solidFill>
                  <a:srgbClr val="F5F2EC"/>
                </a:solidFill>
                <a:latin typeface="Georgia" pitchFamily="34" charset="0"/>
                <a:ea typeface="Georgia" pitchFamily="34" charset="-122"/>
                <a:cs typeface="Georgia" pitchFamily="34" charset="-120"/>
              </a:rPr>
              <a:t>Bootcamp ejecutivo online</a:t>
            </a:r>
            <a:pPr algn="l" indent="0" marL="0">
              <a:lnSpc>
                <a:spcPct val="100000"/>
              </a:lnSpc>
              <a:buNone/>
            </a:pPr>
            <a:r>
              <a:rPr lang="en-US" sz="6600" b="1" spc="-132" kern="0" dirty="0">
                <a:solidFill>
                  <a:srgbClr val="EC4429"/>
                </a:solidFill>
                <a:latin typeface="Georgia" pitchFamily="34" charset="0"/>
                <a:ea typeface="Georgia" pitchFamily="34" charset="-122"/>
                <a:cs typeface="Georgia" pitchFamily="34" charset="-120"/>
              </a:rPr>
              <a:t>*</a:t>
            </a:r>
            <a:endParaRPr lang="en-US" sz="6600" dirty="0"/>
          </a:p>
        </p:txBody>
      </p:sp>
      <p:sp>
        <p:nvSpPr>
          <p:cNvPr id="9" name="Text 7"/>
          <p:cNvSpPr/>
          <p:nvPr/>
        </p:nvSpPr>
        <p:spPr>
          <a:xfrm>
            <a:off x="1676400" y="7681764"/>
            <a:ext cx="6946011" cy="758130"/>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F5F2EC">
                    <a:alpha val="90000"/>
                  </a:srgbClr>
                </a:solidFill>
                <a:latin typeface="Arial" pitchFamily="34" charset="0"/>
                <a:ea typeface="Arial" pitchFamily="34" charset="-122"/>
                <a:cs typeface="Arial" pitchFamily="34" charset="-120"/>
              </a:rPr>
              <a:t>4 semanas. 8 sesiones en directo. Bases sólidas, criterio y aplicación.</a:t>
            </a:r>
            <a:endParaRPr lang="en-US" sz="2100" dirty="0"/>
          </a:p>
        </p:txBody>
      </p:sp>
      <p:sp>
        <p:nvSpPr>
          <p:cNvPr id="10" name="Shape 8"/>
          <p:cNvSpPr/>
          <p:nvPr/>
        </p:nvSpPr>
        <p:spPr>
          <a:xfrm>
            <a:off x="9334500" y="4439394"/>
            <a:ext cx="7810500" cy="4572000"/>
          </a:xfrm>
          <a:prstGeom prst="rect">
            <a:avLst/>
          </a:prstGeom>
          <a:solidFill>
            <a:srgbClr val="EC4429"/>
          </a:solidFill>
          <a:ln/>
        </p:spPr>
      </p:sp>
      <p:sp>
        <p:nvSpPr>
          <p:cNvPr id="11" name="Text 9"/>
          <p:cNvSpPr/>
          <p:nvPr/>
        </p:nvSpPr>
        <p:spPr>
          <a:xfrm>
            <a:off x="9867900" y="5048994"/>
            <a:ext cx="6946011" cy="314325"/>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1F1F1F">
                    <a:alpha val="85000"/>
                  </a:srgbClr>
                </a:solidFill>
                <a:latin typeface="Arial" pitchFamily="34" charset="0"/>
                <a:ea typeface="Arial" pitchFamily="34" charset="-122"/>
                <a:cs typeface="Arial" pitchFamily="34" charset="-120"/>
              </a:rPr>
              <a:t>MOTOR 02</a:t>
            </a:r>
            <a:endParaRPr lang="en-US" sz="1800" dirty="0"/>
          </a:p>
        </p:txBody>
      </p:sp>
      <p:sp>
        <p:nvSpPr>
          <p:cNvPr id="12" name="Text 10"/>
          <p:cNvSpPr/>
          <p:nvPr/>
        </p:nvSpPr>
        <p:spPr>
          <a:xfrm>
            <a:off x="9867900" y="5496669"/>
            <a:ext cx="6946011" cy="1714500"/>
          </a:xfrm>
          <a:prstGeom prst="rect">
            <a:avLst/>
          </a:prstGeom>
          <a:noFill/>
          <a:ln/>
        </p:spPr>
        <p:txBody>
          <a:bodyPr wrap="square" lIns="25400" tIns="25400" rIns="25400" bIns="25400" rtlCol="0" anchor="t">
            <a:normAutofit/>
          </a:bodyPr>
          <a:lstStyle/>
          <a:p>
            <a:pPr algn="l" indent="0" marL="0">
              <a:lnSpc>
                <a:spcPct val="100000"/>
              </a:lnSpc>
              <a:buNone/>
            </a:pPr>
            <a:r>
              <a:rPr lang="en-US" sz="6600" b="1" spc="-132" kern="0" dirty="0">
                <a:solidFill>
                  <a:srgbClr val="1F1F1F"/>
                </a:solidFill>
                <a:latin typeface="Georgia" pitchFamily="34" charset="0"/>
                <a:ea typeface="Georgia" pitchFamily="34" charset="-122"/>
                <a:cs typeface="Georgia" pitchFamily="34" charset="-120"/>
              </a:rPr>
              <a:t>Departamento de I+D.</a:t>
            </a:r>
            <a:endParaRPr lang="en-US" sz="6600" dirty="0"/>
          </a:p>
        </p:txBody>
      </p:sp>
      <p:sp>
        <p:nvSpPr>
          <p:cNvPr id="13" name="Text 11"/>
          <p:cNvSpPr/>
          <p:nvPr/>
        </p:nvSpPr>
        <p:spPr>
          <a:xfrm>
            <a:off x="9867900" y="7681764"/>
            <a:ext cx="6946011" cy="758130"/>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1F1F1F">
                    <a:alpha val="76000"/>
                  </a:srgbClr>
                </a:solidFill>
                <a:latin typeface="Arial" pitchFamily="34" charset="0"/>
                <a:ea typeface="Arial" pitchFamily="34" charset="-122"/>
                <a:cs typeface="Arial" pitchFamily="34" charset="-120"/>
              </a:rPr>
              <a:t>12 meses de comunidad, mentores y herramientas para no perder el nivel cuando todo cambie.</a:t>
            </a:r>
            <a:endParaRPr lang="en-US" sz="2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F5F2EC"/>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7A766F"/>
                </a:solidFill>
                <a:latin typeface="Arial" pitchFamily="34" charset="0"/>
                <a:ea typeface="Arial" pitchFamily="34" charset="-122"/>
                <a:cs typeface="Arial" pitchFamily="34" charset="-120"/>
              </a:rPr>
              <a:t>24 / 42</a:t>
            </a:r>
            <a:endParaRPr lang="en-US" sz="1800" dirty="0"/>
          </a:p>
        </p:txBody>
      </p:sp>
      <p:sp>
        <p:nvSpPr>
          <p:cNvPr id="4" name="Shape 2"/>
          <p:cNvSpPr/>
          <p:nvPr/>
        </p:nvSpPr>
        <p:spPr>
          <a:xfrm>
            <a:off x="1143000" y="3543300"/>
            <a:ext cx="133350" cy="133350"/>
          </a:xfrm>
          <a:prstGeom prst="ellipse">
            <a:avLst/>
          </a:prstGeom>
          <a:solidFill>
            <a:srgbClr val="EC4429"/>
          </a:solidFill>
          <a:ln/>
        </p:spPr>
      </p:sp>
      <p:sp>
        <p:nvSpPr>
          <p:cNvPr id="5" name="Text 3"/>
          <p:cNvSpPr/>
          <p:nvPr/>
        </p:nvSpPr>
        <p:spPr>
          <a:xfrm>
            <a:off x="1657350" y="3429000"/>
            <a:ext cx="5000877" cy="342900"/>
          </a:xfrm>
          <a:prstGeom prst="rect">
            <a:avLst/>
          </a:prstGeom>
          <a:noFill/>
          <a:ln/>
        </p:spPr>
        <p:txBody>
          <a:bodyPr wrap="square" lIns="25400" tIns="25400" rIns="25400" bIns="25400" rtlCol="0" anchor="t">
            <a:normAutofit/>
          </a:bodyPr>
          <a:lstStyle/>
          <a:p>
            <a:pPr algn="l" indent="0" marL="0">
              <a:buNone/>
            </a:pPr>
            <a:r>
              <a:rPr lang="en-US" sz="1950" b="1" spc="468" kern="0" dirty="0">
                <a:solidFill>
                  <a:srgbClr val="B8B2A8"/>
                </a:solidFill>
                <a:latin typeface="Arial" pitchFamily="34" charset="0"/>
                <a:ea typeface="Arial" pitchFamily="34" charset="-122"/>
                <a:cs typeface="Arial" pitchFamily="34" charset="-120"/>
              </a:rPr>
              <a:t>MOTOR 01 · EXECUTIVE LAB*</a:t>
            </a:r>
            <a:endParaRPr lang="en-US" sz="1950" dirty="0"/>
          </a:p>
        </p:txBody>
      </p:sp>
      <p:sp>
        <p:nvSpPr>
          <p:cNvPr id="6" name="Text 4"/>
          <p:cNvSpPr/>
          <p:nvPr/>
        </p:nvSpPr>
        <p:spPr>
          <a:xfrm>
            <a:off x="1143000" y="4191000"/>
            <a:ext cx="9382296" cy="2705100"/>
          </a:xfrm>
          <a:prstGeom prst="rect">
            <a:avLst/>
          </a:prstGeom>
          <a:noFill/>
          <a:ln/>
        </p:spPr>
        <p:txBody>
          <a:bodyPr wrap="square" lIns="25400" tIns="25400" rIns="25400" bIns="25400" rtlCol="0" anchor="t">
            <a:normAutofit/>
          </a:bodyPr>
          <a:lstStyle/>
          <a:p>
            <a:pPr algn="l" indent="0" marL="0">
              <a:lnSpc>
                <a:spcPct val="100000"/>
              </a:lnSpc>
              <a:buNone/>
            </a:pPr>
            <a:r>
              <a:rPr lang="en-US" sz="10500" b="1" spc="-262" kern="0" dirty="0">
                <a:solidFill>
                  <a:srgbClr val="F5F2EC"/>
                </a:solidFill>
                <a:latin typeface="Georgia" pitchFamily="34" charset="0"/>
                <a:ea typeface="Georgia" pitchFamily="34" charset="-122"/>
                <a:cs typeface="Georgia" pitchFamily="34" charset="-120"/>
              </a:rPr>
              <a:t>Bootcamp </a:t>
            </a:r>
            <a:pPr algn="l" indent="0" marL="0">
              <a:lnSpc>
                <a:spcPct val="100000"/>
              </a:lnSpc>
              <a:buNone/>
            </a:pPr>
            <a:r>
              <a:rPr lang="en-US" sz="10500" b="1" i="1" spc="-262" kern="0" dirty="0">
                <a:solidFill>
                  <a:srgbClr val="EC4429"/>
                </a:solidFill>
                <a:latin typeface="Georgia" pitchFamily="34" charset="0"/>
                <a:ea typeface="Georgia" pitchFamily="34" charset="-122"/>
                <a:cs typeface="Georgia" pitchFamily="34" charset="-120"/>
              </a:rPr>
              <a:t>ejecutivo </a:t>
            </a:r>
            <a:pPr algn="l" indent="0" marL="0">
              <a:lnSpc>
                <a:spcPct val="100000"/>
              </a:lnSpc>
              <a:buNone/>
            </a:pPr>
            <a:r>
              <a:rPr lang="en-US" sz="10500" b="1" spc="-262" kern="0" dirty="0">
                <a:solidFill>
                  <a:srgbClr val="F5F2EC"/>
                </a:solidFill>
                <a:latin typeface="Georgia" pitchFamily="34" charset="0"/>
                <a:ea typeface="Georgia" pitchFamily="34" charset="-122"/>
                <a:cs typeface="Georgia" pitchFamily="34" charset="-120"/>
              </a:rPr>
              <a:t>online</a:t>
            </a:r>
            <a:pPr algn="l" indent="0" marL="0">
              <a:lnSpc>
                <a:spcPct val="100000"/>
              </a:lnSpc>
              <a:buNone/>
            </a:pPr>
            <a:r>
              <a:rPr lang="en-US" sz="10500" b="1" spc="-262" kern="0" dirty="0">
                <a:solidFill>
                  <a:srgbClr val="EC4429"/>
                </a:solidFill>
                <a:latin typeface="Georgia" pitchFamily="34" charset="0"/>
                <a:ea typeface="Georgia" pitchFamily="34" charset="-122"/>
                <a:cs typeface="Georgia" pitchFamily="34" charset="-120"/>
              </a:rPr>
              <a:t>.</a:t>
            </a:r>
            <a:endParaRPr lang="en-US" sz="10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61616"/>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A5A5A"/>
                </a:solidFill>
                <a:latin typeface="Arial" pitchFamily="34" charset="0"/>
                <a:ea typeface="Arial" pitchFamily="34" charset="-122"/>
                <a:cs typeface="Arial" pitchFamily="34" charset="-120"/>
              </a:rPr>
              <a:t>25 / 42</a:t>
            </a:r>
            <a:endParaRPr lang="en-US" sz="1800" dirty="0"/>
          </a:p>
        </p:txBody>
      </p:sp>
      <p:sp>
        <p:nvSpPr>
          <p:cNvPr id="4" name="Shape 2"/>
          <p:cNvSpPr/>
          <p:nvPr/>
        </p:nvSpPr>
        <p:spPr>
          <a:xfrm>
            <a:off x="1143000" y="2648396"/>
            <a:ext cx="6270575" cy="38100"/>
          </a:xfrm>
          <a:prstGeom prst="rect">
            <a:avLst/>
          </a:prstGeom>
          <a:solidFill>
            <a:srgbClr val="EC4429"/>
          </a:solidFill>
          <a:ln/>
        </p:spPr>
      </p:sp>
      <p:sp>
        <p:nvSpPr>
          <p:cNvPr id="5" name="Text 3"/>
          <p:cNvSpPr/>
          <p:nvPr/>
        </p:nvSpPr>
        <p:spPr>
          <a:xfrm>
            <a:off x="1143000" y="2991296"/>
            <a:ext cx="6458693" cy="314325"/>
          </a:xfrm>
          <a:prstGeom prst="rect">
            <a:avLst/>
          </a:prstGeom>
          <a:noFill/>
          <a:ln/>
        </p:spPr>
        <p:txBody>
          <a:bodyPr wrap="square" lIns="25400" tIns="25400" rIns="25400" bIns="25400" rtlCol="0" anchor="t">
            <a:normAutofit/>
          </a:bodyPr>
          <a:lstStyle/>
          <a:p>
            <a:pPr algn="l" indent="0" marL="0">
              <a:buNone/>
            </a:pPr>
            <a:r>
              <a:rPr lang="en-US" sz="1800" b="1" spc="504" kern="0" dirty="0">
                <a:solidFill>
                  <a:srgbClr val="EC4429"/>
                </a:solidFill>
                <a:latin typeface="Arial" pitchFamily="34" charset="0"/>
                <a:ea typeface="Arial" pitchFamily="34" charset="-122"/>
                <a:cs typeface="Arial" pitchFamily="34" charset="-120"/>
              </a:rPr>
              <a:t>SEMANA 1</a:t>
            </a:r>
            <a:endParaRPr lang="en-US" sz="1800" dirty="0"/>
          </a:p>
        </p:txBody>
      </p:sp>
      <p:sp>
        <p:nvSpPr>
          <p:cNvPr id="6" name="Text 4"/>
          <p:cNvSpPr/>
          <p:nvPr/>
        </p:nvSpPr>
        <p:spPr>
          <a:xfrm>
            <a:off x="1143000" y="3496121"/>
            <a:ext cx="6458693" cy="2438400"/>
          </a:xfrm>
          <a:prstGeom prst="rect">
            <a:avLst/>
          </a:prstGeom>
          <a:noFill/>
          <a:ln/>
        </p:spPr>
        <p:txBody>
          <a:bodyPr wrap="square" lIns="25400" tIns="25400" rIns="25400" bIns="25400" rtlCol="0" anchor="t">
            <a:normAutofit/>
          </a:bodyPr>
          <a:lstStyle/>
          <a:p>
            <a:pPr algn="l" indent="0" marL="0">
              <a:lnSpc>
                <a:spcPct val="90000"/>
              </a:lnSpc>
              <a:buNone/>
            </a:pPr>
            <a:r>
              <a:rPr lang="en-US" sz="21000" spc="-840" kern="0" dirty="0">
                <a:solidFill>
                  <a:srgbClr val="141414"/>
                </a:solidFill>
                <a:latin typeface="Georgia" pitchFamily="34" charset="0"/>
                <a:ea typeface="Georgia" pitchFamily="34" charset="-122"/>
                <a:cs typeface="Georgia" pitchFamily="34" charset="-120"/>
              </a:rPr>
              <a:t>01</a:t>
            </a:r>
            <a:endParaRPr lang="en-US" sz="21000" dirty="0"/>
          </a:p>
        </p:txBody>
      </p:sp>
      <p:sp>
        <p:nvSpPr>
          <p:cNvPr id="7" name="Text 5"/>
          <p:cNvSpPr/>
          <p:nvPr/>
        </p:nvSpPr>
        <p:spPr>
          <a:xfrm>
            <a:off x="8366075" y="2648396"/>
            <a:ext cx="9042139" cy="370284"/>
          </a:xfrm>
          <a:prstGeom prst="rect">
            <a:avLst/>
          </a:prstGeom>
          <a:noFill/>
          <a:ln/>
        </p:spPr>
        <p:txBody>
          <a:bodyPr wrap="square" lIns="25400" tIns="25400" rIns="25400" bIns="25400" rtlCol="0" anchor="t">
            <a:normAutofit/>
          </a:bodyPr>
          <a:lstStyle/>
          <a:p>
            <a:pPr algn="l" indent="0" marL="0">
              <a:lnSpc>
                <a:spcPct val="102000"/>
              </a:lnSpc>
              <a:buNone/>
            </a:pPr>
            <a:r>
              <a:rPr lang="en-US" sz="2565" b="1" spc="462" kern="0" dirty="0">
                <a:solidFill>
                  <a:srgbClr val="8A8A8A"/>
                </a:solidFill>
                <a:latin typeface="Arial" pitchFamily="34" charset="0"/>
                <a:ea typeface="Arial" pitchFamily="34" charset="-122"/>
                <a:cs typeface="Arial" pitchFamily="34" charset="-120"/>
              </a:rPr>
              <a:t>INTELIGENCIA ARTIFICIAL</a:t>
            </a:r>
            <a:endParaRPr lang="en-US" sz="2565" dirty="0"/>
          </a:p>
        </p:txBody>
      </p:sp>
      <p:sp>
        <p:nvSpPr>
          <p:cNvPr id="8" name="Text 6"/>
          <p:cNvSpPr/>
          <p:nvPr/>
        </p:nvSpPr>
        <p:spPr>
          <a:xfrm>
            <a:off x="8366075" y="3104406"/>
            <a:ext cx="5508889" cy="866775"/>
          </a:xfrm>
          <a:prstGeom prst="rect">
            <a:avLst/>
          </a:prstGeom>
          <a:noFill/>
          <a:ln/>
        </p:spPr>
        <p:txBody>
          <a:bodyPr wrap="square" lIns="0" tIns="0" rIns="0" bIns="0" rtlCol="0" anchor="t">
            <a:normAutofit/>
          </a:bodyPr>
          <a:lstStyle/>
          <a:p>
            <a:pPr algn="l" indent="0" marL="0">
              <a:lnSpc>
                <a:spcPct val="102000"/>
              </a:lnSpc>
              <a:buNone/>
            </a:pPr>
            <a:r>
              <a:rPr lang="en-US" sz="5700" b="1" spc="-85" kern="0" dirty="0">
                <a:solidFill>
                  <a:srgbClr val="161616"/>
                </a:solidFill>
                <a:latin typeface="Georgia" pitchFamily="34" charset="0"/>
                <a:ea typeface="Georgia" pitchFamily="34" charset="-122"/>
                <a:cs typeface="Georgia" pitchFamily="34" charset="-120"/>
              </a:rPr>
              <a:t>Realidad, criterio</a:t>
            </a:r>
            <a:endParaRPr lang="en-US" sz="5700" dirty="0"/>
          </a:p>
        </p:txBody>
      </p:sp>
      <p:sp>
        <p:nvSpPr>
          <p:cNvPr id="9" name="Text 7"/>
          <p:cNvSpPr/>
          <p:nvPr/>
        </p:nvSpPr>
        <p:spPr>
          <a:xfrm>
            <a:off x="8366075" y="3842742"/>
            <a:ext cx="421779" cy="866775"/>
          </a:xfrm>
          <a:prstGeom prst="rect">
            <a:avLst/>
          </a:prstGeom>
          <a:noFill/>
          <a:ln/>
        </p:spPr>
        <p:txBody>
          <a:bodyPr wrap="square" lIns="0" tIns="0" rIns="0" bIns="0" rtlCol="0" anchor="t">
            <a:normAutofit/>
          </a:bodyPr>
          <a:lstStyle/>
          <a:p>
            <a:pPr algn="l" indent="0" marL="0">
              <a:lnSpc>
                <a:spcPct val="102000"/>
              </a:lnSpc>
              <a:buNone/>
            </a:pPr>
            <a:r>
              <a:rPr lang="en-US" sz="5700" b="1" spc="-85" kern="0" dirty="0">
                <a:solidFill>
                  <a:srgbClr val="161616"/>
                </a:solidFill>
                <a:latin typeface="Georgia" pitchFamily="34" charset="0"/>
                <a:ea typeface="Georgia" pitchFamily="34" charset="-122"/>
                <a:cs typeface="Georgia" pitchFamily="34" charset="-120"/>
              </a:rPr>
              <a:t>y</a:t>
            </a:r>
            <a:endParaRPr lang="en-US" sz="5700" dirty="0"/>
          </a:p>
        </p:txBody>
      </p:sp>
      <p:sp>
        <p:nvSpPr>
          <p:cNvPr id="10" name="Text 8"/>
          <p:cNvSpPr/>
          <p:nvPr/>
        </p:nvSpPr>
        <p:spPr>
          <a:xfrm>
            <a:off x="8875365" y="3842742"/>
            <a:ext cx="3425485" cy="866775"/>
          </a:xfrm>
          <a:prstGeom prst="rect">
            <a:avLst/>
          </a:prstGeom>
          <a:noFill/>
          <a:ln/>
        </p:spPr>
        <p:txBody>
          <a:bodyPr wrap="square" lIns="25400" tIns="25400" rIns="25400" bIns="25400" rtlCol="0" anchor="t">
            <a:normAutofit/>
          </a:bodyPr>
          <a:lstStyle/>
          <a:p>
            <a:pPr algn="l" indent="0" marL="0">
              <a:lnSpc>
                <a:spcPct val="102000"/>
              </a:lnSpc>
              <a:buNone/>
            </a:pPr>
            <a:r>
              <a:rPr lang="en-US" sz="5700" b="1" spc="-85" kern="0" dirty="0">
                <a:solidFill>
                  <a:srgbClr val="EC4429"/>
                </a:solidFill>
                <a:latin typeface="Georgia" pitchFamily="34" charset="0"/>
                <a:ea typeface="Georgia" pitchFamily="34" charset="-122"/>
                <a:cs typeface="Georgia" pitchFamily="34" charset="-120"/>
              </a:rPr>
              <a:t>aplicación.</a:t>
            </a:r>
            <a:endParaRPr lang="en-US" sz="5700" dirty="0"/>
          </a:p>
        </p:txBody>
      </p:sp>
      <p:sp>
        <p:nvSpPr>
          <p:cNvPr id="11" name="Text 9"/>
          <p:cNvSpPr/>
          <p:nvPr/>
        </p:nvSpPr>
        <p:spPr>
          <a:xfrm>
            <a:off x="8366075" y="4933504"/>
            <a:ext cx="9042139"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5A5A5A"/>
                </a:solidFill>
                <a:latin typeface="Arial" pitchFamily="34" charset="0"/>
                <a:ea typeface="Arial" pitchFamily="34" charset="-122"/>
                <a:cs typeface="Arial" pitchFamily="34" charset="-120"/>
              </a:rPr>
              <a:t>El 90% de la gente usa la IA al 10% de su capacidad. No porque sea difícil. Sino porque no entienden qué tienen entre manos.</a:t>
            </a:r>
            <a:endParaRPr lang="en-US" sz="2250" dirty="0"/>
          </a:p>
        </p:txBody>
      </p:sp>
      <p:sp>
        <p:nvSpPr>
          <p:cNvPr id="12" name="Text 10"/>
          <p:cNvSpPr/>
          <p:nvPr/>
        </p:nvSpPr>
        <p:spPr>
          <a:xfrm>
            <a:off x="8366075" y="6038404"/>
            <a:ext cx="9042139" cy="16383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5A5A5A"/>
                </a:solidFill>
                <a:latin typeface="Arial" pitchFamily="34" charset="0"/>
                <a:ea typeface="Arial" pitchFamily="34" charset="-122"/>
                <a:cs typeface="Arial" pitchFamily="34" charset="-120"/>
              </a:rPr>
              <a:t>Aquí abrimos el capó. Sin fórmulas matemáticas, sin humo técnico. Solo lo que necesitas saber para exprimir cada interacción. Veremos por qué un prompt no escala pero un workflow sí. Aprenderás a pasar de </a:t>
            </a:r>
            <a:pPr algn="l" indent="0" marL="0">
              <a:lnSpc>
                <a:spcPct val="140000"/>
              </a:lnSpc>
              <a:buNone/>
            </a:pPr>
            <a:r>
              <a:rPr lang="en-US" sz="2250" i="1" dirty="0">
                <a:solidFill>
                  <a:srgbClr val="5A5A5A"/>
                </a:solidFill>
                <a:latin typeface="Arial" pitchFamily="34" charset="0"/>
                <a:ea typeface="Arial" pitchFamily="34" charset="-122"/>
                <a:cs typeface="Arial" pitchFamily="34" charset="-120"/>
              </a:rPr>
              <a:t>operar </a:t>
            </a:r>
            <a:pPr algn="l" indent="0" marL="0">
              <a:lnSpc>
                <a:spcPct val="140000"/>
              </a:lnSpc>
              <a:buNone/>
            </a:pPr>
            <a:r>
              <a:rPr lang="en-US" sz="2250" dirty="0">
                <a:solidFill>
                  <a:srgbClr val="5A5A5A"/>
                </a:solidFill>
                <a:latin typeface="Arial" pitchFamily="34" charset="0"/>
                <a:ea typeface="Arial" pitchFamily="34" charset="-122"/>
                <a:cs typeface="Arial" pitchFamily="34" charset="-120"/>
              </a:rPr>
              <a:t>la IA a </a:t>
            </a:r>
            <a:pPr algn="l" indent="0" marL="0">
              <a:lnSpc>
                <a:spcPct val="140000"/>
              </a:lnSpc>
              <a:buNone/>
            </a:pPr>
            <a:r>
              <a:rPr lang="en-US" sz="2250" i="1" dirty="0">
                <a:solidFill>
                  <a:srgbClr val="5A5A5A"/>
                </a:solidFill>
                <a:latin typeface="Arial" pitchFamily="34" charset="0"/>
                <a:ea typeface="Arial" pitchFamily="34" charset="-122"/>
                <a:cs typeface="Arial" pitchFamily="34" charset="-120"/>
              </a:rPr>
              <a:t>diseñar sistemas </a:t>
            </a:r>
            <a:pPr algn="l" indent="0" marL="0">
              <a:lnSpc>
                <a:spcPct val="140000"/>
              </a:lnSpc>
              <a:buNone/>
            </a:pPr>
            <a:r>
              <a:rPr lang="en-US" sz="2250" dirty="0">
                <a:solidFill>
                  <a:srgbClr val="5A5A5A"/>
                </a:solidFill>
                <a:latin typeface="Arial" pitchFamily="34" charset="0"/>
                <a:ea typeface="Arial" pitchFamily="34" charset="-122"/>
                <a:cs typeface="Arial" pitchFamily="34" charset="-120"/>
              </a:rPr>
              <a:t>que trabajen por ti.</a:t>
            </a:r>
            <a:endParaRPr lang="en-US" sz="2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61616"/>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A5A5A"/>
                </a:solidFill>
                <a:latin typeface="Arial" pitchFamily="34" charset="0"/>
                <a:ea typeface="Arial" pitchFamily="34" charset="-122"/>
                <a:cs typeface="Arial" pitchFamily="34" charset="-120"/>
              </a:rPr>
              <a:t>26 / 42</a:t>
            </a:r>
            <a:endParaRPr lang="en-US" sz="1800" dirty="0"/>
          </a:p>
        </p:txBody>
      </p:sp>
      <p:sp>
        <p:nvSpPr>
          <p:cNvPr id="4" name="Shape 2"/>
          <p:cNvSpPr/>
          <p:nvPr/>
        </p:nvSpPr>
        <p:spPr>
          <a:xfrm>
            <a:off x="1143000" y="3417540"/>
            <a:ext cx="6270575" cy="38100"/>
          </a:xfrm>
          <a:prstGeom prst="rect">
            <a:avLst/>
          </a:prstGeom>
          <a:solidFill>
            <a:srgbClr val="EC4429"/>
          </a:solidFill>
          <a:ln/>
        </p:spPr>
      </p:sp>
      <p:sp>
        <p:nvSpPr>
          <p:cNvPr id="5" name="Text 3"/>
          <p:cNvSpPr/>
          <p:nvPr/>
        </p:nvSpPr>
        <p:spPr>
          <a:xfrm>
            <a:off x="1143000" y="3760440"/>
            <a:ext cx="6458693" cy="314325"/>
          </a:xfrm>
          <a:prstGeom prst="rect">
            <a:avLst/>
          </a:prstGeom>
          <a:noFill/>
          <a:ln/>
        </p:spPr>
        <p:txBody>
          <a:bodyPr wrap="square" lIns="25400" tIns="25400" rIns="25400" bIns="25400" rtlCol="0" anchor="t">
            <a:normAutofit/>
          </a:bodyPr>
          <a:lstStyle/>
          <a:p>
            <a:pPr algn="l" indent="0" marL="0">
              <a:buNone/>
            </a:pPr>
            <a:r>
              <a:rPr lang="en-US" sz="1800" b="1" spc="504" kern="0" dirty="0">
                <a:solidFill>
                  <a:srgbClr val="EC4429"/>
                </a:solidFill>
                <a:latin typeface="Arial" pitchFamily="34" charset="0"/>
                <a:ea typeface="Arial" pitchFamily="34" charset="-122"/>
                <a:cs typeface="Arial" pitchFamily="34" charset="-120"/>
              </a:rPr>
              <a:t>SEMANA 2</a:t>
            </a:r>
            <a:endParaRPr lang="en-US" sz="1800" dirty="0"/>
          </a:p>
        </p:txBody>
      </p:sp>
      <p:sp>
        <p:nvSpPr>
          <p:cNvPr id="6" name="Text 4"/>
          <p:cNvSpPr/>
          <p:nvPr/>
        </p:nvSpPr>
        <p:spPr>
          <a:xfrm>
            <a:off x="1143000" y="4265265"/>
            <a:ext cx="6458693" cy="2438400"/>
          </a:xfrm>
          <a:prstGeom prst="rect">
            <a:avLst/>
          </a:prstGeom>
          <a:noFill/>
          <a:ln/>
        </p:spPr>
        <p:txBody>
          <a:bodyPr wrap="square" lIns="25400" tIns="25400" rIns="25400" bIns="25400" rtlCol="0" anchor="t">
            <a:normAutofit/>
          </a:bodyPr>
          <a:lstStyle/>
          <a:p>
            <a:pPr algn="l" indent="0" marL="0">
              <a:lnSpc>
                <a:spcPct val="90000"/>
              </a:lnSpc>
              <a:buNone/>
            </a:pPr>
            <a:r>
              <a:rPr lang="en-US" sz="21000" spc="-840" kern="0" dirty="0">
                <a:solidFill>
                  <a:srgbClr val="141414"/>
                </a:solidFill>
                <a:latin typeface="Georgia" pitchFamily="34" charset="0"/>
                <a:ea typeface="Georgia" pitchFamily="34" charset="-122"/>
                <a:cs typeface="Georgia" pitchFamily="34" charset="-120"/>
              </a:rPr>
              <a:t>02</a:t>
            </a:r>
            <a:endParaRPr lang="en-US" sz="21000" dirty="0"/>
          </a:p>
        </p:txBody>
      </p:sp>
      <p:sp>
        <p:nvSpPr>
          <p:cNvPr id="7" name="Text 5"/>
          <p:cNvSpPr/>
          <p:nvPr/>
        </p:nvSpPr>
        <p:spPr>
          <a:xfrm>
            <a:off x="8366075" y="3417540"/>
            <a:ext cx="9042139" cy="370284"/>
          </a:xfrm>
          <a:prstGeom prst="rect">
            <a:avLst/>
          </a:prstGeom>
          <a:noFill/>
          <a:ln/>
        </p:spPr>
        <p:txBody>
          <a:bodyPr wrap="square" lIns="25400" tIns="25400" rIns="25400" bIns="25400" rtlCol="0" anchor="t">
            <a:normAutofit/>
          </a:bodyPr>
          <a:lstStyle/>
          <a:p>
            <a:pPr algn="l" indent="0" marL="0">
              <a:lnSpc>
                <a:spcPct val="102000"/>
              </a:lnSpc>
              <a:buNone/>
            </a:pPr>
            <a:r>
              <a:rPr lang="en-US" sz="2565" b="1" spc="462" kern="0" dirty="0">
                <a:solidFill>
                  <a:srgbClr val="8A8A8A"/>
                </a:solidFill>
                <a:latin typeface="Arial" pitchFamily="34" charset="0"/>
                <a:ea typeface="Arial" pitchFamily="34" charset="-122"/>
                <a:cs typeface="Arial" pitchFamily="34" charset="-120"/>
              </a:rPr>
              <a:t>EFICIENCIA EXPONENCIAL</a:t>
            </a:r>
            <a:endParaRPr lang="en-US" sz="2565" dirty="0"/>
          </a:p>
        </p:txBody>
      </p:sp>
      <p:sp>
        <p:nvSpPr>
          <p:cNvPr id="8" name="Text 6"/>
          <p:cNvSpPr/>
          <p:nvPr/>
        </p:nvSpPr>
        <p:spPr>
          <a:xfrm>
            <a:off x="8366075" y="3873550"/>
            <a:ext cx="7662962" cy="866775"/>
          </a:xfrm>
          <a:prstGeom prst="rect">
            <a:avLst/>
          </a:prstGeom>
          <a:noFill/>
          <a:ln/>
        </p:spPr>
        <p:txBody>
          <a:bodyPr wrap="square" lIns="25400" tIns="25400" rIns="25400" bIns="25400" rtlCol="0" anchor="t">
            <a:normAutofit/>
          </a:bodyPr>
          <a:lstStyle/>
          <a:p>
            <a:pPr algn="l" indent="0" marL="0">
              <a:lnSpc>
                <a:spcPct val="102000"/>
              </a:lnSpc>
              <a:buNone/>
            </a:pPr>
            <a:r>
              <a:rPr lang="en-US" sz="5700" b="1" spc="-85" kern="0" dirty="0">
                <a:solidFill>
                  <a:srgbClr val="EC4429"/>
                </a:solidFill>
                <a:latin typeface="Georgia" pitchFamily="34" charset="0"/>
                <a:ea typeface="Georgia" pitchFamily="34" charset="-122"/>
                <a:cs typeface="Georgia" pitchFamily="34" charset="-120"/>
              </a:rPr>
              <a:t>Producción audiovisual.</a:t>
            </a:r>
            <a:endParaRPr lang="en-US" sz="5700" dirty="0"/>
          </a:p>
        </p:txBody>
      </p:sp>
      <p:sp>
        <p:nvSpPr>
          <p:cNvPr id="9" name="Text 7"/>
          <p:cNvSpPr/>
          <p:nvPr/>
        </p:nvSpPr>
        <p:spPr>
          <a:xfrm>
            <a:off x="8366075" y="4964311"/>
            <a:ext cx="9042139"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5A5A5A"/>
                </a:solidFill>
                <a:latin typeface="Arial" pitchFamily="34" charset="0"/>
                <a:ea typeface="Arial" pitchFamily="34" charset="-122"/>
                <a:cs typeface="Arial" pitchFamily="34" charset="-120"/>
              </a:rPr>
              <a:t>Convierte tu marketing en un sistema de producción y testeo.</a:t>
            </a:r>
            <a:endParaRPr lang="en-US" sz="2250" dirty="0"/>
          </a:p>
        </p:txBody>
      </p:sp>
      <p:sp>
        <p:nvSpPr>
          <p:cNvPr id="10" name="Text 8"/>
          <p:cNvSpPr/>
          <p:nvPr/>
        </p:nvSpPr>
        <p:spPr>
          <a:xfrm>
            <a:off x="8366075" y="5669161"/>
            <a:ext cx="9042139" cy="12382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5A5A5A"/>
                </a:solidFill>
                <a:latin typeface="Arial" pitchFamily="34" charset="0"/>
                <a:ea typeface="Arial" pitchFamily="34" charset="-122"/>
                <a:cs typeface="Arial" pitchFamily="34" charset="-120"/>
              </a:rPr>
              <a:t>Aprende a multiplicar creatividades y variantes en menos tiempo, reducir costes y mantener consistencia de marca para acelerar campañas sin depender de terceros.</a:t>
            </a:r>
            <a:endParaRPr lang="en-US" sz="2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61616"/>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A5A5A"/>
                </a:solidFill>
                <a:latin typeface="Arial" pitchFamily="34" charset="0"/>
                <a:ea typeface="Arial" pitchFamily="34" charset="-122"/>
                <a:cs typeface="Arial" pitchFamily="34" charset="-120"/>
              </a:rPr>
              <a:t>27 / 42</a:t>
            </a:r>
            <a:endParaRPr lang="en-US" sz="1800" dirty="0"/>
          </a:p>
        </p:txBody>
      </p:sp>
      <p:sp>
        <p:nvSpPr>
          <p:cNvPr id="4" name="Shape 2"/>
          <p:cNvSpPr/>
          <p:nvPr/>
        </p:nvSpPr>
        <p:spPr>
          <a:xfrm>
            <a:off x="1143000" y="3048446"/>
            <a:ext cx="6270575" cy="38100"/>
          </a:xfrm>
          <a:prstGeom prst="rect">
            <a:avLst/>
          </a:prstGeom>
          <a:solidFill>
            <a:srgbClr val="EC4429"/>
          </a:solidFill>
          <a:ln/>
        </p:spPr>
      </p:sp>
      <p:sp>
        <p:nvSpPr>
          <p:cNvPr id="5" name="Text 3"/>
          <p:cNvSpPr/>
          <p:nvPr/>
        </p:nvSpPr>
        <p:spPr>
          <a:xfrm>
            <a:off x="1143000" y="3391346"/>
            <a:ext cx="6458693" cy="314325"/>
          </a:xfrm>
          <a:prstGeom prst="rect">
            <a:avLst/>
          </a:prstGeom>
          <a:noFill/>
          <a:ln/>
        </p:spPr>
        <p:txBody>
          <a:bodyPr wrap="square" lIns="25400" tIns="25400" rIns="25400" bIns="25400" rtlCol="0" anchor="t">
            <a:normAutofit/>
          </a:bodyPr>
          <a:lstStyle/>
          <a:p>
            <a:pPr algn="l" indent="0" marL="0">
              <a:buNone/>
            </a:pPr>
            <a:r>
              <a:rPr lang="en-US" sz="1800" b="1" spc="504" kern="0" dirty="0">
                <a:solidFill>
                  <a:srgbClr val="EC4429"/>
                </a:solidFill>
                <a:latin typeface="Arial" pitchFamily="34" charset="0"/>
                <a:ea typeface="Arial" pitchFamily="34" charset="-122"/>
                <a:cs typeface="Arial" pitchFamily="34" charset="-120"/>
              </a:rPr>
              <a:t>SEMANA 3</a:t>
            </a:r>
            <a:endParaRPr lang="en-US" sz="1800" dirty="0"/>
          </a:p>
        </p:txBody>
      </p:sp>
      <p:sp>
        <p:nvSpPr>
          <p:cNvPr id="6" name="Text 4"/>
          <p:cNvSpPr/>
          <p:nvPr/>
        </p:nvSpPr>
        <p:spPr>
          <a:xfrm>
            <a:off x="1143000" y="3896171"/>
            <a:ext cx="6458693" cy="2438400"/>
          </a:xfrm>
          <a:prstGeom prst="rect">
            <a:avLst/>
          </a:prstGeom>
          <a:noFill/>
          <a:ln/>
        </p:spPr>
        <p:txBody>
          <a:bodyPr wrap="square" lIns="25400" tIns="25400" rIns="25400" bIns="25400" rtlCol="0" anchor="t">
            <a:normAutofit/>
          </a:bodyPr>
          <a:lstStyle/>
          <a:p>
            <a:pPr algn="l" indent="0" marL="0">
              <a:lnSpc>
                <a:spcPct val="90000"/>
              </a:lnSpc>
              <a:buNone/>
            </a:pPr>
            <a:r>
              <a:rPr lang="en-US" sz="21000" spc="-840" kern="0" dirty="0">
                <a:solidFill>
                  <a:srgbClr val="141414"/>
                </a:solidFill>
                <a:latin typeface="Georgia" pitchFamily="34" charset="0"/>
                <a:ea typeface="Georgia" pitchFamily="34" charset="-122"/>
                <a:cs typeface="Georgia" pitchFamily="34" charset="-120"/>
              </a:rPr>
              <a:t>03</a:t>
            </a:r>
            <a:endParaRPr lang="en-US" sz="21000" dirty="0"/>
          </a:p>
        </p:txBody>
      </p:sp>
      <p:sp>
        <p:nvSpPr>
          <p:cNvPr id="7" name="Text 5"/>
          <p:cNvSpPr/>
          <p:nvPr/>
        </p:nvSpPr>
        <p:spPr>
          <a:xfrm>
            <a:off x="8366075" y="3048446"/>
            <a:ext cx="9042139" cy="370284"/>
          </a:xfrm>
          <a:prstGeom prst="rect">
            <a:avLst/>
          </a:prstGeom>
          <a:noFill/>
          <a:ln/>
        </p:spPr>
        <p:txBody>
          <a:bodyPr wrap="square" lIns="25400" tIns="25400" rIns="25400" bIns="25400" rtlCol="0" anchor="t">
            <a:normAutofit/>
          </a:bodyPr>
          <a:lstStyle/>
          <a:p>
            <a:pPr algn="l" indent="0" marL="0">
              <a:lnSpc>
                <a:spcPct val="102000"/>
              </a:lnSpc>
              <a:buNone/>
            </a:pPr>
            <a:r>
              <a:rPr lang="en-US" sz="2565" b="1" spc="462" kern="0" dirty="0">
                <a:solidFill>
                  <a:srgbClr val="8A8A8A"/>
                </a:solidFill>
                <a:latin typeface="Arial" pitchFamily="34" charset="0"/>
                <a:ea typeface="Arial" pitchFamily="34" charset="-122"/>
                <a:cs typeface="Arial" pitchFamily="34" charset="-120"/>
              </a:rPr>
              <a:t>AUTOMATIZACIONES</a:t>
            </a:r>
            <a:endParaRPr lang="en-US" sz="2565" dirty="0"/>
          </a:p>
        </p:txBody>
      </p:sp>
      <p:sp>
        <p:nvSpPr>
          <p:cNvPr id="8" name="Text 6"/>
          <p:cNvSpPr/>
          <p:nvPr/>
        </p:nvSpPr>
        <p:spPr>
          <a:xfrm>
            <a:off x="8366075" y="3504456"/>
            <a:ext cx="6567377" cy="866775"/>
          </a:xfrm>
          <a:prstGeom prst="rect">
            <a:avLst/>
          </a:prstGeom>
          <a:noFill/>
          <a:ln/>
        </p:spPr>
        <p:txBody>
          <a:bodyPr wrap="square" lIns="0" tIns="0" rIns="0" bIns="0" rtlCol="0" anchor="t">
            <a:normAutofit/>
          </a:bodyPr>
          <a:lstStyle/>
          <a:p>
            <a:pPr algn="l" indent="0" marL="0">
              <a:lnSpc>
                <a:spcPct val="102000"/>
              </a:lnSpc>
              <a:buNone/>
            </a:pPr>
            <a:r>
              <a:rPr lang="en-US" sz="5700" b="1" spc="-85" kern="0" dirty="0">
                <a:solidFill>
                  <a:srgbClr val="161616"/>
                </a:solidFill>
                <a:latin typeface="Georgia" pitchFamily="34" charset="0"/>
                <a:ea typeface="Georgia" pitchFamily="34" charset="-122"/>
                <a:cs typeface="Georgia" pitchFamily="34" charset="-120"/>
              </a:rPr>
              <a:t>Criterio, paradigmas</a:t>
            </a:r>
            <a:endParaRPr lang="en-US" sz="5700" dirty="0"/>
          </a:p>
        </p:txBody>
      </p:sp>
      <p:sp>
        <p:nvSpPr>
          <p:cNvPr id="9" name="Text 7"/>
          <p:cNvSpPr/>
          <p:nvPr/>
        </p:nvSpPr>
        <p:spPr>
          <a:xfrm>
            <a:off x="8366075" y="4242792"/>
            <a:ext cx="421779" cy="866775"/>
          </a:xfrm>
          <a:prstGeom prst="rect">
            <a:avLst/>
          </a:prstGeom>
          <a:noFill/>
          <a:ln/>
        </p:spPr>
        <p:txBody>
          <a:bodyPr wrap="square" lIns="0" tIns="0" rIns="0" bIns="0" rtlCol="0" anchor="t">
            <a:normAutofit/>
          </a:bodyPr>
          <a:lstStyle/>
          <a:p>
            <a:pPr algn="l" indent="0" marL="0">
              <a:lnSpc>
                <a:spcPct val="102000"/>
              </a:lnSpc>
              <a:buNone/>
            </a:pPr>
            <a:r>
              <a:rPr lang="en-US" sz="5700" b="1" spc="-85" kern="0" dirty="0">
                <a:solidFill>
                  <a:srgbClr val="161616"/>
                </a:solidFill>
                <a:latin typeface="Georgia" pitchFamily="34" charset="0"/>
                <a:ea typeface="Georgia" pitchFamily="34" charset="-122"/>
                <a:cs typeface="Georgia" pitchFamily="34" charset="-120"/>
              </a:rPr>
              <a:t>y</a:t>
            </a:r>
            <a:endParaRPr lang="en-US" sz="5700" dirty="0"/>
          </a:p>
        </p:txBody>
      </p:sp>
      <p:sp>
        <p:nvSpPr>
          <p:cNvPr id="10" name="Text 8"/>
          <p:cNvSpPr/>
          <p:nvPr/>
        </p:nvSpPr>
        <p:spPr>
          <a:xfrm>
            <a:off x="8875365" y="4242792"/>
            <a:ext cx="4468337" cy="866775"/>
          </a:xfrm>
          <a:prstGeom prst="rect">
            <a:avLst/>
          </a:prstGeom>
          <a:noFill/>
          <a:ln/>
        </p:spPr>
        <p:txBody>
          <a:bodyPr wrap="square" lIns="25400" tIns="25400" rIns="25400" bIns="25400" rtlCol="0" anchor="t">
            <a:normAutofit/>
          </a:bodyPr>
          <a:lstStyle/>
          <a:p>
            <a:pPr algn="l" indent="0" marL="0">
              <a:lnSpc>
                <a:spcPct val="102000"/>
              </a:lnSpc>
              <a:buNone/>
            </a:pPr>
            <a:r>
              <a:rPr lang="en-US" sz="5700" b="1" spc="-85" kern="0" dirty="0">
                <a:solidFill>
                  <a:srgbClr val="EC4429"/>
                </a:solidFill>
                <a:latin typeface="Georgia" pitchFamily="34" charset="0"/>
                <a:ea typeface="Georgia" pitchFamily="34" charset="-122"/>
                <a:cs typeface="Georgia" pitchFamily="34" charset="-120"/>
              </a:rPr>
              <a:t>herramientas.</a:t>
            </a:r>
            <a:endParaRPr lang="en-US" sz="5700" dirty="0"/>
          </a:p>
        </p:txBody>
      </p:sp>
      <p:sp>
        <p:nvSpPr>
          <p:cNvPr id="11" name="Text 9"/>
          <p:cNvSpPr/>
          <p:nvPr/>
        </p:nvSpPr>
        <p:spPr>
          <a:xfrm>
            <a:off x="8366075" y="5333554"/>
            <a:ext cx="9042139"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5A5A5A"/>
                </a:solidFill>
                <a:latin typeface="Arial" pitchFamily="34" charset="0"/>
                <a:ea typeface="Arial" pitchFamily="34" charset="-122"/>
                <a:cs typeface="Arial" pitchFamily="34" charset="-120"/>
              </a:rPr>
              <a:t>Antes de automatizar, hay que saber qué automatizar.</a:t>
            </a:r>
            <a:endParaRPr lang="en-US" sz="2250" dirty="0"/>
          </a:p>
        </p:txBody>
      </p:sp>
      <p:sp>
        <p:nvSpPr>
          <p:cNvPr id="12" name="Text 10"/>
          <p:cNvSpPr/>
          <p:nvPr/>
        </p:nvSpPr>
        <p:spPr>
          <a:xfrm>
            <a:off x="8366075" y="6038404"/>
            <a:ext cx="9042139" cy="12382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5A5A5A"/>
                </a:solidFill>
                <a:latin typeface="Arial" pitchFamily="34" charset="0"/>
                <a:ea typeface="Arial" pitchFamily="34" charset="-122"/>
                <a:cs typeface="Arial" pitchFamily="34" charset="-120"/>
              </a:rPr>
              <a:t>Te daremos el criterio para detectar tareas automatizables y diseñar flujos robustos. Además, ejemplos reales y automatizaciones plug &amp; play del repositorio para adaptarlas a tu empresa.</a:t>
            </a:r>
            <a:endParaRPr lang="en-US" sz="2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61616"/>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A5A5A"/>
                </a:solidFill>
                <a:latin typeface="Arial" pitchFamily="34" charset="0"/>
                <a:ea typeface="Arial" pitchFamily="34" charset="-122"/>
                <a:cs typeface="Arial" pitchFamily="34" charset="-120"/>
              </a:rPr>
              <a:t>28 / 42</a:t>
            </a:r>
            <a:endParaRPr lang="en-US" sz="1800" dirty="0"/>
          </a:p>
        </p:txBody>
      </p:sp>
      <p:sp>
        <p:nvSpPr>
          <p:cNvPr id="4" name="Shape 2"/>
          <p:cNvSpPr/>
          <p:nvPr/>
        </p:nvSpPr>
        <p:spPr>
          <a:xfrm>
            <a:off x="1143000" y="2448371"/>
            <a:ext cx="6270575" cy="38100"/>
          </a:xfrm>
          <a:prstGeom prst="rect">
            <a:avLst/>
          </a:prstGeom>
          <a:solidFill>
            <a:srgbClr val="EC4429"/>
          </a:solidFill>
          <a:ln/>
        </p:spPr>
      </p:sp>
      <p:sp>
        <p:nvSpPr>
          <p:cNvPr id="5" name="Text 3"/>
          <p:cNvSpPr/>
          <p:nvPr/>
        </p:nvSpPr>
        <p:spPr>
          <a:xfrm>
            <a:off x="1143000" y="2791271"/>
            <a:ext cx="6458693" cy="314325"/>
          </a:xfrm>
          <a:prstGeom prst="rect">
            <a:avLst/>
          </a:prstGeom>
          <a:noFill/>
          <a:ln/>
        </p:spPr>
        <p:txBody>
          <a:bodyPr wrap="square" lIns="25400" tIns="25400" rIns="25400" bIns="25400" rtlCol="0" anchor="t">
            <a:normAutofit/>
          </a:bodyPr>
          <a:lstStyle/>
          <a:p>
            <a:pPr algn="l" indent="0" marL="0">
              <a:buNone/>
            </a:pPr>
            <a:r>
              <a:rPr lang="en-US" sz="1800" b="1" spc="504" kern="0" dirty="0">
                <a:solidFill>
                  <a:srgbClr val="EC4429"/>
                </a:solidFill>
                <a:latin typeface="Arial" pitchFamily="34" charset="0"/>
                <a:ea typeface="Arial" pitchFamily="34" charset="-122"/>
                <a:cs typeface="Arial" pitchFamily="34" charset="-120"/>
              </a:rPr>
              <a:t>SEMANA 4</a:t>
            </a:r>
            <a:endParaRPr lang="en-US" sz="1800" dirty="0"/>
          </a:p>
        </p:txBody>
      </p:sp>
      <p:sp>
        <p:nvSpPr>
          <p:cNvPr id="6" name="Text 4"/>
          <p:cNvSpPr/>
          <p:nvPr/>
        </p:nvSpPr>
        <p:spPr>
          <a:xfrm>
            <a:off x="1143000" y="3296096"/>
            <a:ext cx="6458693" cy="2438400"/>
          </a:xfrm>
          <a:prstGeom prst="rect">
            <a:avLst/>
          </a:prstGeom>
          <a:noFill/>
          <a:ln/>
        </p:spPr>
        <p:txBody>
          <a:bodyPr wrap="square" lIns="25400" tIns="25400" rIns="25400" bIns="25400" rtlCol="0" anchor="t">
            <a:normAutofit/>
          </a:bodyPr>
          <a:lstStyle/>
          <a:p>
            <a:pPr algn="l" indent="0" marL="0">
              <a:lnSpc>
                <a:spcPct val="90000"/>
              </a:lnSpc>
              <a:buNone/>
            </a:pPr>
            <a:r>
              <a:rPr lang="en-US" sz="21000" spc="-840" kern="0" dirty="0">
                <a:solidFill>
                  <a:srgbClr val="141414"/>
                </a:solidFill>
                <a:latin typeface="Georgia" pitchFamily="34" charset="0"/>
                <a:ea typeface="Georgia" pitchFamily="34" charset="-122"/>
                <a:cs typeface="Georgia" pitchFamily="34" charset="-120"/>
              </a:rPr>
              <a:t>04</a:t>
            </a:r>
            <a:endParaRPr lang="en-US" sz="21000" dirty="0"/>
          </a:p>
        </p:txBody>
      </p:sp>
      <p:sp>
        <p:nvSpPr>
          <p:cNvPr id="7" name="Text 5"/>
          <p:cNvSpPr/>
          <p:nvPr/>
        </p:nvSpPr>
        <p:spPr>
          <a:xfrm>
            <a:off x="8366075" y="2448371"/>
            <a:ext cx="9042139" cy="370284"/>
          </a:xfrm>
          <a:prstGeom prst="rect">
            <a:avLst/>
          </a:prstGeom>
          <a:noFill/>
          <a:ln/>
        </p:spPr>
        <p:txBody>
          <a:bodyPr wrap="square" lIns="25400" tIns="25400" rIns="25400" bIns="25400" rtlCol="0" anchor="t">
            <a:normAutofit/>
          </a:bodyPr>
          <a:lstStyle/>
          <a:p>
            <a:pPr algn="l" indent="0" marL="0">
              <a:lnSpc>
                <a:spcPct val="102000"/>
              </a:lnSpc>
              <a:buNone/>
            </a:pPr>
            <a:r>
              <a:rPr lang="en-US" sz="2565" b="1" spc="462" kern="0" dirty="0">
                <a:solidFill>
                  <a:srgbClr val="8A8A8A"/>
                </a:solidFill>
                <a:latin typeface="Arial" pitchFamily="34" charset="0"/>
                <a:ea typeface="Arial" pitchFamily="34" charset="-122"/>
                <a:cs typeface="Arial" pitchFamily="34" charset="-120"/>
              </a:rPr>
              <a:t>DIRIGE LA EJECUCIÓN</a:t>
            </a:r>
            <a:endParaRPr lang="en-US" sz="2565" dirty="0"/>
          </a:p>
        </p:txBody>
      </p:sp>
      <p:sp>
        <p:nvSpPr>
          <p:cNvPr id="8" name="Text 6"/>
          <p:cNvSpPr/>
          <p:nvPr/>
        </p:nvSpPr>
        <p:spPr>
          <a:xfrm>
            <a:off x="8366075" y="2904381"/>
            <a:ext cx="3058961" cy="866775"/>
          </a:xfrm>
          <a:prstGeom prst="rect">
            <a:avLst/>
          </a:prstGeom>
          <a:noFill/>
          <a:ln/>
        </p:spPr>
        <p:txBody>
          <a:bodyPr wrap="square" lIns="0" tIns="0" rIns="0" bIns="0" rtlCol="0" anchor="t">
            <a:normAutofit/>
          </a:bodyPr>
          <a:lstStyle/>
          <a:p>
            <a:pPr algn="l" indent="0" marL="0">
              <a:lnSpc>
                <a:spcPct val="102000"/>
              </a:lnSpc>
              <a:buNone/>
            </a:pPr>
            <a:r>
              <a:rPr lang="en-US" sz="5700" b="1" spc="-85" kern="0" dirty="0">
                <a:solidFill>
                  <a:srgbClr val="161616"/>
                </a:solidFill>
                <a:latin typeface="Georgia" pitchFamily="34" charset="0"/>
                <a:ea typeface="Georgia" pitchFamily="34" charset="-122"/>
                <a:cs typeface="Georgia" pitchFamily="34" charset="-120"/>
              </a:rPr>
              <a:t>Identifica</a:t>
            </a:r>
            <a:endParaRPr lang="en-US" sz="5700" dirty="0"/>
          </a:p>
        </p:txBody>
      </p:sp>
      <p:sp>
        <p:nvSpPr>
          <p:cNvPr id="9" name="Text 7"/>
          <p:cNvSpPr/>
          <p:nvPr/>
        </p:nvSpPr>
        <p:spPr>
          <a:xfrm>
            <a:off x="8366075" y="3642717"/>
            <a:ext cx="4839766" cy="866775"/>
          </a:xfrm>
          <a:prstGeom prst="rect">
            <a:avLst/>
          </a:prstGeom>
          <a:noFill/>
          <a:ln/>
        </p:spPr>
        <p:txBody>
          <a:bodyPr wrap="square" lIns="25400" tIns="25400" rIns="25400" bIns="25400" rtlCol="0" anchor="t">
            <a:normAutofit/>
          </a:bodyPr>
          <a:lstStyle/>
          <a:p>
            <a:pPr algn="l" indent="0" marL="0">
              <a:lnSpc>
                <a:spcPct val="102000"/>
              </a:lnSpc>
              <a:buNone/>
            </a:pPr>
            <a:r>
              <a:rPr lang="en-US" sz="5700" b="1" spc="-85" kern="0" dirty="0">
                <a:solidFill>
                  <a:srgbClr val="EC4429"/>
                </a:solidFill>
                <a:latin typeface="Georgia" pitchFamily="34" charset="0"/>
                <a:ea typeface="Georgia" pitchFamily="34" charset="-122"/>
                <a:cs typeface="Georgia" pitchFamily="34" charset="-120"/>
              </a:rPr>
              <a:t>oportunidades.</a:t>
            </a:r>
            <a:endParaRPr lang="en-US" sz="5700" dirty="0"/>
          </a:p>
        </p:txBody>
      </p:sp>
      <p:sp>
        <p:nvSpPr>
          <p:cNvPr id="10" name="Text 8"/>
          <p:cNvSpPr/>
          <p:nvPr/>
        </p:nvSpPr>
        <p:spPr>
          <a:xfrm>
            <a:off x="8366075" y="4733479"/>
            <a:ext cx="9042139" cy="16383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5A5A5A"/>
                </a:solidFill>
                <a:latin typeface="Arial" pitchFamily="34" charset="0"/>
                <a:ea typeface="Arial" pitchFamily="34" charset="-122"/>
                <a:cs typeface="Arial" pitchFamily="34" charset="-120"/>
              </a:rPr>
              <a:t>Veremos casos reales de implementación en empresa: qué ha funcionado, qué errores han costado caro y por qué. Abordaremos el elefante en la sala: la Shadow AI que probablemente ya existe en tu organización.</a:t>
            </a:r>
            <a:endParaRPr lang="en-US" sz="2250" dirty="0"/>
          </a:p>
        </p:txBody>
      </p:sp>
      <p:sp>
        <p:nvSpPr>
          <p:cNvPr id="11" name="Text 9"/>
          <p:cNvSpPr/>
          <p:nvPr/>
        </p:nvSpPr>
        <p:spPr>
          <a:xfrm>
            <a:off x="8366075" y="6638479"/>
            <a:ext cx="9042139" cy="12382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5A5A5A"/>
                </a:solidFill>
                <a:latin typeface="Arial" pitchFamily="34" charset="0"/>
                <a:ea typeface="Arial" pitchFamily="34" charset="-122"/>
                <a:cs typeface="Arial" pitchFamily="34" charset="-120"/>
              </a:rPr>
              <a:t>También exploraremos las nuevas oportunidades de negocio que la IA ha hecho viables. Modelos que hace 2 años eran imposibles, hoy están al alcance.</a:t>
            </a:r>
            <a:endParaRPr lang="en-US" sz="2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61616"/>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143000" y="954584"/>
            <a:ext cx="7811963" cy="1866900"/>
          </a:xfrm>
          <a:prstGeom prst="rect">
            <a:avLst/>
          </a:prstGeom>
          <a:noFill/>
          <a:ln/>
        </p:spPr>
        <p:txBody>
          <a:bodyPr wrap="square" lIns="25400" tIns="25400" rIns="25400" bIns="25400" rtlCol="0" anchor="t">
            <a:normAutofit/>
          </a:bodyPr>
          <a:lstStyle/>
          <a:p>
            <a:pPr algn="l" indent="0" marL="0">
              <a:lnSpc>
                <a:spcPct val="100000"/>
              </a:lnSpc>
              <a:buNone/>
            </a:pPr>
            <a:r>
              <a:rPr lang="en-US" sz="7200" spc="-158" kern="0" dirty="0">
                <a:solidFill>
                  <a:srgbClr val="161616"/>
                </a:solidFill>
                <a:latin typeface="Georgia" pitchFamily="34" charset="0"/>
                <a:ea typeface="Georgia" pitchFamily="34" charset="-122"/>
                <a:cs typeface="Georgia" pitchFamily="34" charset="-120"/>
              </a:rPr>
              <a:t>Bootcamp ejecutivo </a:t>
            </a:r>
            <a:pPr algn="l" indent="0" marL="0">
              <a:lnSpc>
                <a:spcPct val="100000"/>
              </a:lnSpc>
              <a:buNone/>
            </a:pPr>
            <a:r>
              <a:rPr lang="en-US" sz="7200" i="1" spc="-158" kern="0" dirty="0">
                <a:solidFill>
                  <a:srgbClr val="EC4429"/>
                </a:solidFill>
                <a:latin typeface="Georgia" pitchFamily="34" charset="0"/>
                <a:ea typeface="Georgia" pitchFamily="34" charset="-122"/>
                <a:cs typeface="Georgia" pitchFamily="34" charset="-120"/>
              </a:rPr>
              <a:t>online.</a:t>
            </a:r>
            <a:endParaRPr lang="en-US" sz="7200" dirty="0"/>
          </a:p>
        </p:txBody>
      </p:sp>
      <p:sp>
        <p:nvSpPr>
          <p:cNvPr id="4" name="Shape 2"/>
          <p:cNvSpPr/>
          <p:nvPr/>
        </p:nvSpPr>
        <p:spPr>
          <a:xfrm>
            <a:off x="1143000" y="3392984"/>
            <a:ext cx="16002000" cy="9525"/>
          </a:xfrm>
          <a:prstGeom prst="rect">
            <a:avLst/>
          </a:prstGeom>
          <a:solidFill>
            <a:srgbClr val="D9D2C5"/>
          </a:solidFill>
          <a:ln/>
        </p:spPr>
      </p:sp>
      <p:sp>
        <p:nvSpPr>
          <p:cNvPr id="5" name="Shape 3"/>
          <p:cNvSpPr/>
          <p:nvPr/>
        </p:nvSpPr>
        <p:spPr>
          <a:xfrm>
            <a:off x="1143000" y="3392984"/>
            <a:ext cx="9525" cy="4996458"/>
          </a:xfrm>
          <a:prstGeom prst="rect">
            <a:avLst/>
          </a:prstGeom>
          <a:solidFill>
            <a:srgbClr val="D9D2C5"/>
          </a:solidFill>
          <a:ln/>
        </p:spPr>
      </p:sp>
      <p:sp>
        <p:nvSpPr>
          <p:cNvPr id="6" name="Shape 4"/>
          <p:cNvSpPr/>
          <p:nvPr/>
        </p:nvSpPr>
        <p:spPr>
          <a:xfrm>
            <a:off x="1152525" y="3402509"/>
            <a:ext cx="7996237" cy="2295525"/>
          </a:xfrm>
          <a:prstGeom prst="rect">
            <a:avLst/>
          </a:prstGeom>
          <a:solidFill>
            <a:srgbClr val="FBFAF7"/>
          </a:solidFill>
          <a:ln/>
        </p:spPr>
      </p:sp>
      <p:sp>
        <p:nvSpPr>
          <p:cNvPr id="7" name="Shape 5"/>
          <p:cNvSpPr/>
          <p:nvPr/>
        </p:nvSpPr>
        <p:spPr>
          <a:xfrm>
            <a:off x="1152525" y="5688509"/>
            <a:ext cx="7996237" cy="9525"/>
          </a:xfrm>
          <a:prstGeom prst="rect">
            <a:avLst/>
          </a:prstGeom>
          <a:solidFill>
            <a:srgbClr val="D9D2C5"/>
          </a:solidFill>
          <a:ln/>
        </p:spPr>
      </p:sp>
      <p:sp>
        <p:nvSpPr>
          <p:cNvPr id="8" name="Shape 6"/>
          <p:cNvSpPr/>
          <p:nvPr/>
        </p:nvSpPr>
        <p:spPr>
          <a:xfrm>
            <a:off x="9139238" y="3402509"/>
            <a:ext cx="9525" cy="2295525"/>
          </a:xfrm>
          <a:prstGeom prst="rect">
            <a:avLst/>
          </a:prstGeom>
          <a:solidFill>
            <a:srgbClr val="D9D2C5"/>
          </a:solidFill>
          <a:ln/>
        </p:spPr>
      </p:sp>
      <p:sp>
        <p:nvSpPr>
          <p:cNvPr id="9" name="Text 7"/>
          <p:cNvSpPr/>
          <p:nvPr/>
        </p:nvSpPr>
        <p:spPr>
          <a:xfrm>
            <a:off x="1685925" y="3859709"/>
            <a:ext cx="1790700" cy="1409700"/>
          </a:xfrm>
          <a:prstGeom prst="rect">
            <a:avLst/>
          </a:prstGeom>
          <a:noFill/>
          <a:ln/>
        </p:spPr>
        <p:txBody>
          <a:bodyPr wrap="square" lIns="25400" tIns="25400" rIns="25400" bIns="25400" rtlCol="0" anchor="t">
            <a:normAutofit/>
          </a:bodyPr>
          <a:lstStyle/>
          <a:p>
            <a:pPr algn="l" indent="0" marL="0">
              <a:lnSpc>
                <a:spcPct val="90000"/>
              </a:lnSpc>
              <a:buNone/>
            </a:pPr>
            <a:r>
              <a:rPr lang="en-US" sz="12000" spc="-480" kern="0" dirty="0">
                <a:solidFill>
                  <a:srgbClr val="EC4429"/>
                </a:solidFill>
                <a:latin typeface="Georgia" pitchFamily="34" charset="0"/>
                <a:ea typeface="Georgia" pitchFamily="34" charset="-122"/>
                <a:cs typeface="Georgia" pitchFamily="34" charset="-120"/>
              </a:rPr>
              <a:t>01</a:t>
            </a:r>
            <a:endParaRPr lang="en-US" sz="12000" dirty="0"/>
          </a:p>
        </p:txBody>
      </p:sp>
      <p:sp>
        <p:nvSpPr>
          <p:cNvPr id="10" name="Text 8"/>
          <p:cNvSpPr/>
          <p:nvPr/>
        </p:nvSpPr>
        <p:spPr>
          <a:xfrm>
            <a:off x="3781425" y="3974009"/>
            <a:ext cx="4969145" cy="314325"/>
          </a:xfrm>
          <a:prstGeom prst="rect">
            <a:avLst/>
          </a:prstGeom>
          <a:noFill/>
          <a:ln/>
        </p:spPr>
        <p:txBody>
          <a:bodyPr wrap="square" lIns="25400" tIns="25400" rIns="25400" bIns="25400" rtlCol="0" anchor="t">
            <a:normAutofit/>
          </a:bodyPr>
          <a:lstStyle/>
          <a:p>
            <a:pPr algn="l" indent="0" marL="0">
              <a:buNone/>
            </a:pPr>
            <a:r>
              <a:rPr lang="en-US" sz="1800" b="1" spc="432" kern="0" dirty="0">
                <a:solidFill>
                  <a:srgbClr val="5A5A5A"/>
                </a:solidFill>
                <a:latin typeface="Arial" pitchFamily="34" charset="0"/>
                <a:ea typeface="Arial" pitchFamily="34" charset="-122"/>
                <a:cs typeface="Arial" pitchFamily="34" charset="-120"/>
              </a:rPr>
              <a:t>SEMANA 1</a:t>
            </a:r>
            <a:endParaRPr lang="en-US" sz="1800" dirty="0"/>
          </a:p>
        </p:txBody>
      </p:sp>
      <p:sp>
        <p:nvSpPr>
          <p:cNvPr id="11" name="Text 9"/>
          <p:cNvSpPr/>
          <p:nvPr/>
        </p:nvSpPr>
        <p:spPr>
          <a:xfrm>
            <a:off x="3781425" y="4329410"/>
            <a:ext cx="4969145" cy="917972"/>
          </a:xfrm>
          <a:prstGeom prst="rect">
            <a:avLst/>
          </a:prstGeom>
          <a:noFill/>
          <a:ln/>
        </p:spPr>
        <p:txBody>
          <a:bodyPr wrap="square" lIns="25400" tIns="25400" rIns="25400" bIns="25400" rtlCol="0" anchor="t">
            <a:normAutofit/>
          </a:bodyPr>
          <a:lstStyle/>
          <a:p>
            <a:pPr algn="l" indent="0" marL="0">
              <a:lnSpc>
                <a:spcPct val="110000"/>
              </a:lnSpc>
              <a:buNone/>
            </a:pPr>
            <a:r>
              <a:rPr lang="en-US" sz="3150" spc="-31" kern="0" dirty="0">
                <a:solidFill>
                  <a:srgbClr val="161616"/>
                </a:solidFill>
                <a:latin typeface="Georgia" pitchFamily="34" charset="0"/>
                <a:ea typeface="Georgia" pitchFamily="34" charset="-122"/>
                <a:cs typeface="Georgia" pitchFamily="34" charset="-120"/>
              </a:rPr>
              <a:t>Convierte la IA en tu equipo, no en tu becario</a:t>
            </a:r>
            <a:pPr algn="l" indent="0" marL="0">
              <a:lnSpc>
                <a:spcPct val="110000"/>
              </a:lnSpc>
              <a:buNone/>
            </a:pPr>
            <a:r>
              <a:rPr lang="en-US" sz="3150" spc="-31" kern="0" dirty="0">
                <a:solidFill>
                  <a:srgbClr val="EC4429"/>
                </a:solidFill>
                <a:latin typeface="Georgia" pitchFamily="34" charset="0"/>
                <a:ea typeface="Georgia" pitchFamily="34" charset="-122"/>
                <a:cs typeface="Georgia" pitchFamily="34" charset="-120"/>
              </a:rPr>
              <a:t>.</a:t>
            </a:r>
            <a:endParaRPr lang="en-US" sz="3150" dirty="0"/>
          </a:p>
        </p:txBody>
      </p:sp>
      <p:sp>
        <p:nvSpPr>
          <p:cNvPr id="12" name="Shape 10"/>
          <p:cNvSpPr/>
          <p:nvPr/>
        </p:nvSpPr>
        <p:spPr>
          <a:xfrm>
            <a:off x="9148763" y="3402509"/>
            <a:ext cx="7996237" cy="2295525"/>
          </a:xfrm>
          <a:prstGeom prst="rect">
            <a:avLst/>
          </a:prstGeom>
          <a:solidFill>
            <a:srgbClr val="FBFAF7"/>
          </a:solidFill>
          <a:ln/>
        </p:spPr>
      </p:sp>
      <p:sp>
        <p:nvSpPr>
          <p:cNvPr id="13" name="Shape 11"/>
          <p:cNvSpPr/>
          <p:nvPr/>
        </p:nvSpPr>
        <p:spPr>
          <a:xfrm>
            <a:off x="9148763" y="5688509"/>
            <a:ext cx="7996237" cy="9525"/>
          </a:xfrm>
          <a:prstGeom prst="rect">
            <a:avLst/>
          </a:prstGeom>
          <a:solidFill>
            <a:srgbClr val="D9D2C5"/>
          </a:solidFill>
          <a:ln/>
        </p:spPr>
      </p:sp>
      <p:sp>
        <p:nvSpPr>
          <p:cNvPr id="14" name="Shape 12"/>
          <p:cNvSpPr/>
          <p:nvPr/>
        </p:nvSpPr>
        <p:spPr>
          <a:xfrm>
            <a:off x="17135475" y="3402509"/>
            <a:ext cx="9525" cy="2295525"/>
          </a:xfrm>
          <a:prstGeom prst="rect">
            <a:avLst/>
          </a:prstGeom>
          <a:solidFill>
            <a:srgbClr val="D9D2C5"/>
          </a:solidFill>
          <a:ln/>
        </p:spPr>
      </p:sp>
      <p:sp>
        <p:nvSpPr>
          <p:cNvPr id="15" name="Text 13"/>
          <p:cNvSpPr/>
          <p:nvPr/>
        </p:nvSpPr>
        <p:spPr>
          <a:xfrm>
            <a:off x="9682163" y="3859709"/>
            <a:ext cx="1790700" cy="1409700"/>
          </a:xfrm>
          <a:prstGeom prst="rect">
            <a:avLst/>
          </a:prstGeom>
          <a:noFill/>
          <a:ln/>
        </p:spPr>
        <p:txBody>
          <a:bodyPr wrap="square" lIns="25400" tIns="25400" rIns="25400" bIns="25400" rtlCol="0" anchor="t">
            <a:normAutofit/>
          </a:bodyPr>
          <a:lstStyle/>
          <a:p>
            <a:pPr algn="l" indent="0" marL="0">
              <a:lnSpc>
                <a:spcPct val="90000"/>
              </a:lnSpc>
              <a:buNone/>
            </a:pPr>
            <a:r>
              <a:rPr lang="en-US" sz="12000" spc="-480" kern="0" dirty="0">
                <a:solidFill>
                  <a:srgbClr val="EC4429"/>
                </a:solidFill>
                <a:latin typeface="Georgia" pitchFamily="34" charset="0"/>
                <a:ea typeface="Georgia" pitchFamily="34" charset="-122"/>
                <a:cs typeface="Georgia" pitchFamily="34" charset="-120"/>
              </a:rPr>
              <a:t>02</a:t>
            </a:r>
            <a:endParaRPr lang="en-US" sz="12000" dirty="0"/>
          </a:p>
        </p:txBody>
      </p:sp>
      <p:sp>
        <p:nvSpPr>
          <p:cNvPr id="16" name="Text 14"/>
          <p:cNvSpPr/>
          <p:nvPr/>
        </p:nvSpPr>
        <p:spPr>
          <a:xfrm>
            <a:off x="11777663" y="3974009"/>
            <a:ext cx="4969145" cy="314325"/>
          </a:xfrm>
          <a:prstGeom prst="rect">
            <a:avLst/>
          </a:prstGeom>
          <a:noFill/>
          <a:ln/>
        </p:spPr>
        <p:txBody>
          <a:bodyPr wrap="square" lIns="25400" tIns="25400" rIns="25400" bIns="25400" rtlCol="0" anchor="t">
            <a:normAutofit/>
          </a:bodyPr>
          <a:lstStyle/>
          <a:p>
            <a:pPr algn="l" indent="0" marL="0">
              <a:buNone/>
            </a:pPr>
            <a:r>
              <a:rPr lang="en-US" sz="1800" b="1" spc="432" kern="0" dirty="0">
                <a:solidFill>
                  <a:srgbClr val="5A5A5A"/>
                </a:solidFill>
                <a:latin typeface="Arial" pitchFamily="34" charset="0"/>
                <a:ea typeface="Arial" pitchFamily="34" charset="-122"/>
                <a:cs typeface="Arial" pitchFamily="34" charset="-120"/>
              </a:rPr>
              <a:t>SEMANA 2</a:t>
            </a:r>
            <a:endParaRPr lang="en-US" sz="1800" dirty="0"/>
          </a:p>
        </p:txBody>
      </p:sp>
      <p:sp>
        <p:nvSpPr>
          <p:cNvPr id="17" name="Text 15"/>
          <p:cNvSpPr/>
          <p:nvPr/>
        </p:nvSpPr>
        <p:spPr>
          <a:xfrm>
            <a:off x="11777663" y="4329410"/>
            <a:ext cx="4969145" cy="917972"/>
          </a:xfrm>
          <a:prstGeom prst="rect">
            <a:avLst/>
          </a:prstGeom>
          <a:noFill/>
          <a:ln/>
        </p:spPr>
        <p:txBody>
          <a:bodyPr wrap="square" lIns="25400" tIns="25400" rIns="25400" bIns="25400" rtlCol="0" anchor="t">
            <a:normAutofit/>
          </a:bodyPr>
          <a:lstStyle/>
          <a:p>
            <a:pPr algn="l" indent="0" marL="0">
              <a:lnSpc>
                <a:spcPct val="110000"/>
              </a:lnSpc>
              <a:buNone/>
            </a:pPr>
            <a:r>
              <a:rPr lang="en-US" sz="3150" spc="-31" kern="0" dirty="0">
                <a:solidFill>
                  <a:srgbClr val="161616"/>
                </a:solidFill>
                <a:latin typeface="Georgia" pitchFamily="34" charset="0"/>
                <a:ea typeface="Georgia" pitchFamily="34" charset="-122"/>
                <a:cs typeface="Georgia" pitchFamily="34" charset="-120"/>
              </a:rPr>
              <a:t>IA aplicada al marketing y la comunicación </a:t>
            </a:r>
            <a:pPr algn="l" indent="0" marL="0">
              <a:lnSpc>
                <a:spcPct val="110000"/>
              </a:lnSpc>
              <a:buNone/>
            </a:pPr>
            <a:r>
              <a:rPr lang="en-US" sz="3150" spc="-31" kern="0" dirty="0">
                <a:solidFill>
                  <a:srgbClr val="EC4429"/>
                </a:solidFill>
                <a:latin typeface="Georgia" pitchFamily="34" charset="0"/>
                <a:ea typeface="Georgia" pitchFamily="34" charset="-122"/>
                <a:cs typeface="Georgia" pitchFamily="34" charset="-120"/>
              </a:rPr>
              <a:t>.</a:t>
            </a:r>
            <a:endParaRPr lang="en-US" sz="3150" dirty="0"/>
          </a:p>
        </p:txBody>
      </p:sp>
      <p:sp>
        <p:nvSpPr>
          <p:cNvPr id="18" name="Shape 16"/>
          <p:cNvSpPr/>
          <p:nvPr/>
        </p:nvSpPr>
        <p:spPr>
          <a:xfrm>
            <a:off x="1152525" y="5698034"/>
            <a:ext cx="7996237" cy="2691408"/>
          </a:xfrm>
          <a:prstGeom prst="rect">
            <a:avLst/>
          </a:prstGeom>
          <a:solidFill>
            <a:srgbClr val="FBFAF7"/>
          </a:solidFill>
          <a:ln/>
        </p:spPr>
      </p:sp>
      <p:sp>
        <p:nvSpPr>
          <p:cNvPr id="19" name="Shape 17"/>
          <p:cNvSpPr/>
          <p:nvPr/>
        </p:nvSpPr>
        <p:spPr>
          <a:xfrm>
            <a:off x="1152525" y="8379916"/>
            <a:ext cx="7996237" cy="9525"/>
          </a:xfrm>
          <a:prstGeom prst="rect">
            <a:avLst/>
          </a:prstGeom>
          <a:solidFill>
            <a:srgbClr val="D9D2C5"/>
          </a:solidFill>
          <a:ln/>
        </p:spPr>
      </p:sp>
      <p:sp>
        <p:nvSpPr>
          <p:cNvPr id="20" name="Shape 18"/>
          <p:cNvSpPr/>
          <p:nvPr/>
        </p:nvSpPr>
        <p:spPr>
          <a:xfrm>
            <a:off x="9139238" y="5698034"/>
            <a:ext cx="9525" cy="2691408"/>
          </a:xfrm>
          <a:prstGeom prst="rect">
            <a:avLst/>
          </a:prstGeom>
          <a:solidFill>
            <a:srgbClr val="D9D2C5"/>
          </a:solidFill>
          <a:ln/>
        </p:spPr>
      </p:sp>
      <p:sp>
        <p:nvSpPr>
          <p:cNvPr id="21" name="Text 19"/>
          <p:cNvSpPr/>
          <p:nvPr/>
        </p:nvSpPr>
        <p:spPr>
          <a:xfrm>
            <a:off x="1685925" y="6155234"/>
            <a:ext cx="1790700" cy="1409700"/>
          </a:xfrm>
          <a:prstGeom prst="rect">
            <a:avLst/>
          </a:prstGeom>
          <a:noFill/>
          <a:ln/>
        </p:spPr>
        <p:txBody>
          <a:bodyPr wrap="square" lIns="25400" tIns="25400" rIns="25400" bIns="25400" rtlCol="0" anchor="t">
            <a:normAutofit/>
          </a:bodyPr>
          <a:lstStyle/>
          <a:p>
            <a:pPr algn="l" indent="0" marL="0">
              <a:lnSpc>
                <a:spcPct val="90000"/>
              </a:lnSpc>
              <a:buNone/>
            </a:pPr>
            <a:r>
              <a:rPr lang="en-US" sz="12000" spc="-480" kern="0" dirty="0">
                <a:solidFill>
                  <a:srgbClr val="EC4429"/>
                </a:solidFill>
                <a:latin typeface="Georgia" pitchFamily="34" charset="0"/>
                <a:ea typeface="Georgia" pitchFamily="34" charset="-122"/>
                <a:cs typeface="Georgia" pitchFamily="34" charset="-120"/>
              </a:rPr>
              <a:t>03</a:t>
            </a:r>
            <a:endParaRPr lang="en-US" sz="12000" dirty="0"/>
          </a:p>
        </p:txBody>
      </p:sp>
      <p:sp>
        <p:nvSpPr>
          <p:cNvPr id="22" name="Text 20"/>
          <p:cNvSpPr/>
          <p:nvPr/>
        </p:nvSpPr>
        <p:spPr>
          <a:xfrm>
            <a:off x="3781425" y="6269534"/>
            <a:ext cx="4969145" cy="314325"/>
          </a:xfrm>
          <a:prstGeom prst="rect">
            <a:avLst/>
          </a:prstGeom>
          <a:noFill/>
          <a:ln/>
        </p:spPr>
        <p:txBody>
          <a:bodyPr wrap="square" lIns="25400" tIns="25400" rIns="25400" bIns="25400" rtlCol="0" anchor="t">
            <a:normAutofit/>
          </a:bodyPr>
          <a:lstStyle/>
          <a:p>
            <a:pPr algn="l" indent="0" marL="0">
              <a:buNone/>
            </a:pPr>
            <a:r>
              <a:rPr lang="en-US" sz="1800" b="1" spc="432" kern="0" dirty="0">
                <a:solidFill>
                  <a:srgbClr val="5A5A5A"/>
                </a:solidFill>
                <a:latin typeface="Arial" pitchFamily="34" charset="0"/>
                <a:ea typeface="Arial" pitchFamily="34" charset="-122"/>
                <a:cs typeface="Arial" pitchFamily="34" charset="-120"/>
              </a:rPr>
              <a:t>SEMANA 3</a:t>
            </a:r>
            <a:endParaRPr lang="en-US" sz="1800" dirty="0"/>
          </a:p>
        </p:txBody>
      </p:sp>
      <p:sp>
        <p:nvSpPr>
          <p:cNvPr id="23" name="Text 21"/>
          <p:cNvSpPr/>
          <p:nvPr/>
        </p:nvSpPr>
        <p:spPr>
          <a:xfrm>
            <a:off x="3781425" y="6822877"/>
            <a:ext cx="4969145" cy="917972"/>
          </a:xfrm>
          <a:prstGeom prst="rect">
            <a:avLst/>
          </a:prstGeom>
          <a:noFill/>
          <a:ln/>
        </p:spPr>
        <p:txBody>
          <a:bodyPr wrap="square" lIns="25400" tIns="25400" rIns="25400" bIns="25400" rtlCol="0" anchor="t">
            <a:normAutofit/>
          </a:bodyPr>
          <a:lstStyle/>
          <a:p>
            <a:pPr algn="l" indent="0" marL="0">
              <a:lnSpc>
                <a:spcPct val="110000"/>
              </a:lnSpc>
              <a:buNone/>
            </a:pPr>
            <a:r>
              <a:rPr lang="en-US" sz="3150" spc="-31" kern="0" dirty="0">
                <a:solidFill>
                  <a:srgbClr val="161616"/>
                </a:solidFill>
                <a:latin typeface="Georgia" pitchFamily="34" charset="0"/>
                <a:ea typeface="Georgia" pitchFamily="34" charset="-122"/>
                <a:cs typeface="Georgia" pitchFamily="34" charset="-120"/>
              </a:rPr>
              <a:t>Decide qué automatizar, prioriza y ejecuta </a:t>
            </a:r>
            <a:pPr algn="l" indent="0" marL="0">
              <a:lnSpc>
                <a:spcPct val="110000"/>
              </a:lnSpc>
              <a:buNone/>
            </a:pPr>
            <a:r>
              <a:rPr lang="en-US" sz="3150" spc="-31" kern="0" dirty="0">
                <a:solidFill>
                  <a:srgbClr val="EC4429"/>
                </a:solidFill>
                <a:latin typeface="Georgia" pitchFamily="34" charset="0"/>
                <a:ea typeface="Georgia" pitchFamily="34" charset="-122"/>
                <a:cs typeface="Georgia" pitchFamily="34" charset="-120"/>
              </a:rPr>
              <a:t>.</a:t>
            </a:r>
            <a:endParaRPr lang="en-US" sz="3150" dirty="0"/>
          </a:p>
        </p:txBody>
      </p:sp>
      <p:sp>
        <p:nvSpPr>
          <p:cNvPr id="24" name="Shape 22"/>
          <p:cNvSpPr/>
          <p:nvPr/>
        </p:nvSpPr>
        <p:spPr>
          <a:xfrm>
            <a:off x="9148763" y="5698034"/>
            <a:ext cx="7996237" cy="2691408"/>
          </a:xfrm>
          <a:prstGeom prst="rect">
            <a:avLst/>
          </a:prstGeom>
          <a:solidFill>
            <a:srgbClr val="FBFAF7"/>
          </a:solidFill>
          <a:ln/>
        </p:spPr>
      </p:sp>
      <p:sp>
        <p:nvSpPr>
          <p:cNvPr id="25" name="Shape 23"/>
          <p:cNvSpPr/>
          <p:nvPr/>
        </p:nvSpPr>
        <p:spPr>
          <a:xfrm>
            <a:off x="9148763" y="8379916"/>
            <a:ext cx="7996237" cy="9525"/>
          </a:xfrm>
          <a:prstGeom prst="rect">
            <a:avLst/>
          </a:prstGeom>
          <a:solidFill>
            <a:srgbClr val="D9D2C5"/>
          </a:solidFill>
          <a:ln/>
        </p:spPr>
      </p:sp>
      <p:sp>
        <p:nvSpPr>
          <p:cNvPr id="26" name="Shape 24"/>
          <p:cNvSpPr/>
          <p:nvPr/>
        </p:nvSpPr>
        <p:spPr>
          <a:xfrm>
            <a:off x="17135475" y="5698034"/>
            <a:ext cx="9525" cy="2691408"/>
          </a:xfrm>
          <a:prstGeom prst="rect">
            <a:avLst/>
          </a:prstGeom>
          <a:solidFill>
            <a:srgbClr val="D9D2C5"/>
          </a:solidFill>
          <a:ln/>
        </p:spPr>
      </p:sp>
      <p:sp>
        <p:nvSpPr>
          <p:cNvPr id="27" name="Text 25"/>
          <p:cNvSpPr/>
          <p:nvPr/>
        </p:nvSpPr>
        <p:spPr>
          <a:xfrm>
            <a:off x="9682163" y="6155234"/>
            <a:ext cx="1790700" cy="1409700"/>
          </a:xfrm>
          <a:prstGeom prst="rect">
            <a:avLst/>
          </a:prstGeom>
          <a:noFill/>
          <a:ln/>
        </p:spPr>
        <p:txBody>
          <a:bodyPr wrap="square" lIns="25400" tIns="25400" rIns="25400" bIns="25400" rtlCol="0" anchor="t">
            <a:normAutofit/>
          </a:bodyPr>
          <a:lstStyle/>
          <a:p>
            <a:pPr algn="l" indent="0" marL="0">
              <a:lnSpc>
                <a:spcPct val="90000"/>
              </a:lnSpc>
              <a:buNone/>
            </a:pPr>
            <a:r>
              <a:rPr lang="en-US" sz="12000" spc="-480" kern="0" dirty="0">
                <a:solidFill>
                  <a:srgbClr val="EC4429"/>
                </a:solidFill>
                <a:latin typeface="Georgia" pitchFamily="34" charset="0"/>
                <a:ea typeface="Georgia" pitchFamily="34" charset="-122"/>
                <a:cs typeface="Georgia" pitchFamily="34" charset="-120"/>
              </a:rPr>
              <a:t>04</a:t>
            </a:r>
            <a:endParaRPr lang="en-US" sz="12000" dirty="0"/>
          </a:p>
        </p:txBody>
      </p:sp>
      <p:sp>
        <p:nvSpPr>
          <p:cNvPr id="28" name="Text 26"/>
          <p:cNvSpPr/>
          <p:nvPr/>
        </p:nvSpPr>
        <p:spPr>
          <a:xfrm>
            <a:off x="11777663" y="6269534"/>
            <a:ext cx="4969145" cy="314325"/>
          </a:xfrm>
          <a:prstGeom prst="rect">
            <a:avLst/>
          </a:prstGeom>
          <a:noFill/>
          <a:ln/>
        </p:spPr>
        <p:txBody>
          <a:bodyPr wrap="square" lIns="25400" tIns="25400" rIns="25400" bIns="25400" rtlCol="0" anchor="t">
            <a:normAutofit/>
          </a:bodyPr>
          <a:lstStyle/>
          <a:p>
            <a:pPr algn="l" indent="0" marL="0">
              <a:buNone/>
            </a:pPr>
            <a:r>
              <a:rPr lang="en-US" sz="1800" b="1" spc="432" kern="0" dirty="0">
                <a:solidFill>
                  <a:srgbClr val="5A5A5A"/>
                </a:solidFill>
                <a:latin typeface="Arial" pitchFamily="34" charset="0"/>
                <a:ea typeface="Arial" pitchFamily="34" charset="-122"/>
                <a:cs typeface="Arial" pitchFamily="34" charset="-120"/>
              </a:rPr>
              <a:t>SEMANA 4</a:t>
            </a:r>
            <a:endParaRPr lang="en-US" sz="1800" dirty="0"/>
          </a:p>
        </p:txBody>
      </p:sp>
      <p:sp>
        <p:nvSpPr>
          <p:cNvPr id="29" name="Text 27"/>
          <p:cNvSpPr/>
          <p:nvPr/>
        </p:nvSpPr>
        <p:spPr>
          <a:xfrm>
            <a:off x="11777663" y="6602909"/>
            <a:ext cx="4969145" cy="1357908"/>
          </a:xfrm>
          <a:prstGeom prst="rect">
            <a:avLst/>
          </a:prstGeom>
          <a:noFill/>
          <a:ln/>
        </p:spPr>
        <p:txBody>
          <a:bodyPr wrap="square" lIns="25400" tIns="25400" rIns="25400" bIns="25400" rtlCol="0" anchor="t">
            <a:normAutofit/>
          </a:bodyPr>
          <a:lstStyle/>
          <a:p>
            <a:pPr algn="l" indent="0" marL="0">
              <a:lnSpc>
                <a:spcPct val="110000"/>
              </a:lnSpc>
              <a:buNone/>
            </a:pPr>
            <a:r>
              <a:rPr lang="en-US" sz="3150" spc="-31" kern="0" dirty="0">
                <a:solidFill>
                  <a:srgbClr val="161616"/>
                </a:solidFill>
                <a:latin typeface="Georgia" pitchFamily="34" charset="0"/>
                <a:ea typeface="Georgia" pitchFamily="34" charset="-122"/>
                <a:cs typeface="Georgia" pitchFamily="34" charset="-120"/>
              </a:rPr>
              <a:t>De controlar el riesgo a detectar el próximo negocio </a:t>
            </a:r>
            <a:pPr algn="l" indent="0" marL="0">
              <a:lnSpc>
                <a:spcPct val="110000"/>
              </a:lnSpc>
              <a:buNone/>
            </a:pPr>
            <a:r>
              <a:rPr lang="en-US" sz="3150" spc="-31" kern="0" dirty="0">
                <a:solidFill>
                  <a:srgbClr val="EC4429"/>
                </a:solidFill>
                <a:latin typeface="Georgia" pitchFamily="34" charset="0"/>
                <a:ea typeface="Georgia" pitchFamily="34" charset="-122"/>
                <a:cs typeface="Georgia" pitchFamily="34" charset="-120"/>
              </a:rPr>
              <a:t>.</a:t>
            </a:r>
            <a:endParaRPr lang="en-US" sz="3150" dirty="0"/>
          </a:p>
        </p:txBody>
      </p:sp>
      <p:sp>
        <p:nvSpPr>
          <p:cNvPr id="30" name="Text 28"/>
          <p:cNvSpPr/>
          <p:nvPr/>
        </p:nvSpPr>
        <p:spPr>
          <a:xfrm>
            <a:off x="1143000" y="8999041"/>
            <a:ext cx="2395984" cy="371475"/>
          </a:xfrm>
          <a:prstGeom prst="rect">
            <a:avLst/>
          </a:prstGeom>
          <a:noFill/>
          <a:ln/>
        </p:spPr>
        <p:txBody>
          <a:bodyPr wrap="square" lIns="25400" tIns="25400" rIns="25400" bIns="25400" rtlCol="0" anchor="t">
            <a:normAutofit/>
          </a:bodyPr>
          <a:lstStyle/>
          <a:p>
            <a:pPr algn="l" indent="0" marL="0">
              <a:buNone/>
            </a:pPr>
            <a:r>
              <a:rPr lang="en-US" sz="2100" b="1" spc="84" kern="0" dirty="0">
                <a:solidFill>
                  <a:srgbClr val="161616"/>
                </a:solidFill>
                <a:latin typeface="Arial" pitchFamily="34" charset="0"/>
                <a:ea typeface="Arial" pitchFamily="34" charset="-122"/>
                <a:cs typeface="Arial" pitchFamily="34" charset="-120"/>
              </a:rPr>
              <a:t>4 semanas en vivo</a:t>
            </a:r>
            <a:endParaRPr lang="en-US" sz="2100" dirty="0"/>
          </a:p>
        </p:txBody>
      </p:sp>
      <p:sp>
        <p:nvSpPr>
          <p:cNvPr id="31" name="Text 29"/>
          <p:cNvSpPr/>
          <p:nvPr/>
        </p:nvSpPr>
        <p:spPr>
          <a:xfrm>
            <a:off x="3729484" y="9013329"/>
            <a:ext cx="175766" cy="342900"/>
          </a:xfrm>
          <a:prstGeom prst="rect">
            <a:avLst/>
          </a:prstGeom>
          <a:noFill/>
          <a:ln/>
        </p:spPr>
        <p:txBody>
          <a:bodyPr wrap="square" lIns="25400" tIns="25400" rIns="25400" bIns="25400" rtlCol="0" anchor="t">
            <a:normAutofit/>
          </a:bodyPr>
          <a:lstStyle/>
          <a:p>
            <a:pPr algn="l" indent="0" marL="0">
              <a:buNone/>
            </a:pPr>
            <a:r>
              <a:rPr lang="en-US" sz="2100" spc="84" kern="0" dirty="0">
                <a:solidFill>
                  <a:srgbClr val="8A8A8A"/>
                </a:solidFill>
                <a:latin typeface="Arial" pitchFamily="34" charset="0"/>
                <a:ea typeface="Arial" pitchFamily="34" charset="-122"/>
                <a:cs typeface="Arial" pitchFamily="34" charset="-120"/>
              </a:rPr>
              <a:t>·</a:t>
            </a:r>
            <a:endParaRPr lang="en-US" sz="2100" dirty="0"/>
          </a:p>
        </p:txBody>
      </p:sp>
      <p:sp>
        <p:nvSpPr>
          <p:cNvPr id="32" name="Text 30"/>
          <p:cNvSpPr/>
          <p:nvPr/>
        </p:nvSpPr>
        <p:spPr>
          <a:xfrm>
            <a:off x="4095750" y="9013329"/>
            <a:ext cx="2826876" cy="342900"/>
          </a:xfrm>
          <a:prstGeom prst="rect">
            <a:avLst/>
          </a:prstGeom>
          <a:noFill/>
          <a:ln/>
        </p:spPr>
        <p:txBody>
          <a:bodyPr wrap="square" lIns="25400" tIns="25400" rIns="25400" bIns="25400" rtlCol="0" anchor="t">
            <a:normAutofit/>
          </a:bodyPr>
          <a:lstStyle/>
          <a:p>
            <a:pPr algn="l" indent="0" marL="0">
              <a:buNone/>
            </a:pPr>
            <a:r>
              <a:rPr lang="en-US" sz="2100" spc="84" kern="0" dirty="0">
                <a:solidFill>
                  <a:srgbClr val="5A5A5A"/>
                </a:solidFill>
                <a:latin typeface="Arial" pitchFamily="34" charset="0"/>
                <a:ea typeface="Arial" pitchFamily="34" charset="-122"/>
                <a:cs typeface="Arial" pitchFamily="34" charset="-120"/>
              </a:rPr>
              <a:t>8 sesiones en directo</a:t>
            </a:r>
            <a:endParaRPr lang="en-US" sz="2100" dirty="0"/>
          </a:p>
        </p:txBody>
      </p:sp>
      <p:sp>
        <p:nvSpPr>
          <p:cNvPr id="33" name="Text 31"/>
          <p:cNvSpPr/>
          <p:nvPr/>
        </p:nvSpPr>
        <p:spPr>
          <a:xfrm>
            <a:off x="7106989" y="9013329"/>
            <a:ext cx="175766" cy="342900"/>
          </a:xfrm>
          <a:prstGeom prst="rect">
            <a:avLst/>
          </a:prstGeom>
          <a:noFill/>
          <a:ln/>
        </p:spPr>
        <p:txBody>
          <a:bodyPr wrap="square" lIns="25400" tIns="25400" rIns="25400" bIns="25400" rtlCol="0" anchor="t">
            <a:normAutofit/>
          </a:bodyPr>
          <a:lstStyle/>
          <a:p>
            <a:pPr algn="l" indent="0" marL="0">
              <a:buNone/>
            </a:pPr>
            <a:r>
              <a:rPr lang="en-US" sz="2100" spc="84" kern="0" dirty="0">
                <a:solidFill>
                  <a:srgbClr val="8A8A8A"/>
                </a:solidFill>
                <a:latin typeface="Arial" pitchFamily="34" charset="0"/>
                <a:ea typeface="Arial" pitchFamily="34" charset="-122"/>
                <a:cs typeface="Arial" pitchFamily="34" charset="-120"/>
              </a:rPr>
              <a:t>·</a:t>
            </a:r>
            <a:endParaRPr lang="en-US" sz="2100" dirty="0"/>
          </a:p>
        </p:txBody>
      </p:sp>
      <p:sp>
        <p:nvSpPr>
          <p:cNvPr id="34" name="Text 32"/>
          <p:cNvSpPr/>
          <p:nvPr/>
        </p:nvSpPr>
        <p:spPr>
          <a:xfrm>
            <a:off x="7473255" y="9013329"/>
            <a:ext cx="3614801" cy="342900"/>
          </a:xfrm>
          <a:prstGeom prst="rect">
            <a:avLst/>
          </a:prstGeom>
          <a:noFill/>
          <a:ln/>
        </p:spPr>
        <p:txBody>
          <a:bodyPr wrap="square" lIns="25400" tIns="25400" rIns="25400" bIns="25400" rtlCol="0" anchor="t">
            <a:normAutofit/>
          </a:bodyPr>
          <a:lstStyle/>
          <a:p>
            <a:pPr algn="l" indent="0" marL="0">
              <a:buNone/>
            </a:pPr>
            <a:r>
              <a:rPr lang="en-US" sz="2100" spc="84" kern="0" dirty="0">
                <a:solidFill>
                  <a:srgbClr val="5A5A5A"/>
                </a:solidFill>
                <a:latin typeface="Arial" pitchFamily="34" charset="0"/>
                <a:ea typeface="Arial" pitchFamily="34" charset="-122"/>
                <a:cs typeface="Arial" pitchFamily="34" charset="-120"/>
              </a:rPr>
              <a:t>Grabaciones de todas ellas</a:t>
            </a:r>
            <a:endParaRPr lang="en-US" sz="2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F5F2EC"/>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7A766F"/>
                </a:solidFill>
                <a:latin typeface="Arial" pitchFamily="34" charset="0"/>
                <a:ea typeface="Arial" pitchFamily="34" charset="-122"/>
                <a:cs typeface="Arial" pitchFamily="34" charset="-120"/>
              </a:rPr>
              <a:t>30 / 42</a:t>
            </a:r>
            <a:endParaRPr lang="en-US" sz="1800" dirty="0"/>
          </a:p>
        </p:txBody>
      </p:sp>
      <p:sp>
        <p:nvSpPr>
          <p:cNvPr id="4" name="Shape 2"/>
          <p:cNvSpPr/>
          <p:nvPr/>
        </p:nvSpPr>
        <p:spPr>
          <a:xfrm>
            <a:off x="1143000" y="1781175"/>
            <a:ext cx="133350" cy="133350"/>
          </a:xfrm>
          <a:prstGeom prst="ellipse">
            <a:avLst/>
          </a:prstGeom>
          <a:solidFill>
            <a:srgbClr val="EC4429"/>
          </a:solidFill>
          <a:ln/>
        </p:spPr>
      </p:sp>
      <p:sp>
        <p:nvSpPr>
          <p:cNvPr id="5" name="Text 3"/>
          <p:cNvSpPr/>
          <p:nvPr/>
        </p:nvSpPr>
        <p:spPr>
          <a:xfrm>
            <a:off x="1657350" y="1666875"/>
            <a:ext cx="6202847" cy="342900"/>
          </a:xfrm>
          <a:prstGeom prst="rect">
            <a:avLst/>
          </a:prstGeom>
          <a:noFill/>
          <a:ln/>
        </p:spPr>
        <p:txBody>
          <a:bodyPr wrap="square" lIns="25400" tIns="25400" rIns="25400" bIns="25400" rtlCol="0" anchor="t">
            <a:normAutofit/>
          </a:bodyPr>
          <a:lstStyle/>
          <a:p>
            <a:pPr algn="l" indent="0" marL="0">
              <a:buNone/>
            </a:pPr>
            <a:r>
              <a:rPr lang="en-US" sz="1950" b="1" spc="468" kern="0" dirty="0">
                <a:solidFill>
                  <a:srgbClr val="B8B2A8"/>
                </a:solidFill>
                <a:latin typeface="Arial" pitchFamily="34" charset="0"/>
                <a:ea typeface="Arial" pitchFamily="34" charset="-122"/>
                <a:cs typeface="Arial" pitchFamily="34" charset="-120"/>
              </a:rPr>
              <a:t>MOTOR 02 · DEPARTAMENTO DE I+D</a:t>
            </a:r>
            <a:endParaRPr lang="en-US" sz="1950" dirty="0"/>
          </a:p>
        </p:txBody>
      </p:sp>
      <p:sp>
        <p:nvSpPr>
          <p:cNvPr id="6" name="Text 4"/>
          <p:cNvSpPr/>
          <p:nvPr/>
        </p:nvSpPr>
        <p:spPr>
          <a:xfrm>
            <a:off x="1143000" y="2428875"/>
            <a:ext cx="14716125" cy="5372100"/>
          </a:xfrm>
          <a:prstGeom prst="rect">
            <a:avLst/>
          </a:prstGeom>
          <a:noFill/>
          <a:ln/>
        </p:spPr>
        <p:txBody>
          <a:bodyPr wrap="square" lIns="25400" tIns="25400" rIns="25400" bIns="25400" rtlCol="0" anchor="t">
            <a:normAutofit/>
          </a:bodyPr>
          <a:lstStyle/>
          <a:p>
            <a:pPr algn="l" indent="0" marL="0">
              <a:lnSpc>
                <a:spcPct val="100000"/>
              </a:lnSpc>
              <a:buNone/>
            </a:pPr>
            <a:r>
              <a:rPr lang="en-US" sz="10500" b="1" spc="-262" kern="0" dirty="0">
                <a:solidFill>
                  <a:srgbClr val="F5F2EC"/>
                </a:solidFill>
                <a:latin typeface="Georgia" pitchFamily="34" charset="0"/>
                <a:ea typeface="Georgia" pitchFamily="34" charset="-122"/>
                <a:cs typeface="Georgia" pitchFamily="34" charset="-120"/>
              </a:rPr>
              <a:t>12 meses para no perder el </a:t>
            </a:r>
            <a:pPr algn="l" indent="0" marL="0">
              <a:lnSpc>
                <a:spcPct val="100000"/>
              </a:lnSpc>
              <a:buNone/>
            </a:pPr>
            <a:r>
              <a:rPr lang="en-US" sz="10500" b="1" i="1" spc="-262" kern="0" dirty="0">
                <a:solidFill>
                  <a:srgbClr val="EC4429"/>
                </a:solidFill>
                <a:latin typeface="Georgia" pitchFamily="34" charset="0"/>
                <a:ea typeface="Georgia" pitchFamily="34" charset="-122"/>
                <a:cs typeface="Georgia" pitchFamily="34" charset="-120"/>
              </a:rPr>
              <a:t>nivel </a:t>
            </a:r>
            <a:pPr algn="l" indent="0" marL="0">
              <a:lnSpc>
                <a:spcPct val="100000"/>
              </a:lnSpc>
              <a:buNone/>
            </a:pPr>
            <a:r>
              <a:rPr lang="en-US" sz="10500" b="1" spc="-262" kern="0" dirty="0">
                <a:solidFill>
                  <a:srgbClr val="F5F2EC"/>
                </a:solidFill>
                <a:latin typeface="Georgia" pitchFamily="34" charset="0"/>
                <a:ea typeface="Georgia" pitchFamily="34" charset="-122"/>
                <a:cs typeface="Georgia" pitchFamily="34" charset="-120"/>
              </a:rPr>
              <a:t>cuando todo cambie </a:t>
            </a:r>
            <a:pPr algn="l" indent="0" marL="0">
              <a:lnSpc>
                <a:spcPct val="100000"/>
              </a:lnSpc>
              <a:buNone/>
            </a:pPr>
            <a:r>
              <a:rPr lang="en-US" sz="10500" b="1" spc="-262" kern="0" dirty="0">
                <a:solidFill>
                  <a:srgbClr val="EC4429"/>
                </a:solidFill>
                <a:latin typeface="Georgia" pitchFamily="34" charset="0"/>
                <a:ea typeface="Georgia" pitchFamily="34" charset="-122"/>
                <a:cs typeface="Georgia" pitchFamily="34" charset="-120"/>
              </a:rPr>
              <a:t>.</a:t>
            </a:r>
            <a:endParaRPr lang="en-US" sz="10500" dirty="0"/>
          </a:p>
        </p:txBody>
      </p:sp>
      <p:sp>
        <p:nvSpPr>
          <p:cNvPr id="7" name="Text 5"/>
          <p:cNvSpPr/>
          <p:nvPr/>
        </p:nvSpPr>
        <p:spPr>
          <a:xfrm>
            <a:off x="1143000" y="8220075"/>
            <a:ext cx="10168996" cy="438150"/>
          </a:xfrm>
          <a:prstGeom prst="rect">
            <a:avLst/>
          </a:prstGeom>
          <a:noFill/>
          <a:ln/>
        </p:spPr>
        <p:txBody>
          <a:bodyPr wrap="square" lIns="25400" tIns="25400" rIns="25400" bIns="25400" rtlCol="0" anchor="t">
            <a:normAutofit/>
          </a:bodyPr>
          <a:lstStyle/>
          <a:p>
            <a:pPr algn="l" indent="0" marL="0">
              <a:buNone/>
            </a:pPr>
            <a:r>
              <a:rPr lang="en-US" sz="2700" dirty="0">
                <a:solidFill>
                  <a:srgbClr val="B8B2A8"/>
                </a:solidFill>
                <a:latin typeface="Arial" pitchFamily="34" charset="0"/>
                <a:ea typeface="Arial" pitchFamily="34" charset="-122"/>
                <a:cs typeface="Arial" pitchFamily="34" charset="-120"/>
              </a:rPr>
              <a:t>El intensivo termina al mes. El trabajo real con la IA empieza ahí.</a:t>
            </a:r>
            <a:endParaRPr lang="en-US" sz="2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61616"/>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A5A5A"/>
                </a:solidFill>
                <a:latin typeface="Arial" pitchFamily="34" charset="0"/>
                <a:ea typeface="Arial" pitchFamily="34" charset="-122"/>
                <a:cs typeface="Arial" pitchFamily="34" charset="-120"/>
              </a:rPr>
              <a:t>31 / 42</a:t>
            </a:r>
            <a:endParaRPr lang="en-US" sz="1800" dirty="0"/>
          </a:p>
        </p:txBody>
      </p:sp>
      <p:sp>
        <p:nvSpPr>
          <p:cNvPr id="4" name="Text 2"/>
          <p:cNvSpPr/>
          <p:nvPr/>
        </p:nvSpPr>
        <p:spPr>
          <a:xfrm>
            <a:off x="1143000" y="914400"/>
            <a:ext cx="14740499" cy="342900"/>
          </a:xfrm>
          <a:prstGeom prst="rect">
            <a:avLst/>
          </a:prstGeom>
          <a:noFill/>
          <a:ln/>
        </p:spPr>
        <p:txBody>
          <a:bodyPr wrap="square" lIns="25400" tIns="25400" rIns="25400" bIns="25400" rtlCol="0" anchor="t">
            <a:normAutofit/>
          </a:bodyPr>
          <a:lstStyle/>
          <a:p>
            <a:pPr algn="l" indent="0" marL="0">
              <a:buNone/>
            </a:pPr>
            <a:r>
              <a:rPr lang="en-US" sz="1950" b="1" spc="429" kern="0" dirty="0">
                <a:solidFill>
                  <a:srgbClr val="EC4429"/>
                </a:solidFill>
                <a:latin typeface="Arial" pitchFamily="34" charset="0"/>
                <a:ea typeface="Arial" pitchFamily="34" charset="-122"/>
                <a:cs typeface="Arial" pitchFamily="34" charset="-120"/>
              </a:rPr>
              <a:t>14 · DEPARTAMENTO DE I+D EXTERNALIZADO</a:t>
            </a:r>
            <a:endParaRPr lang="en-US" sz="1950" dirty="0"/>
          </a:p>
        </p:txBody>
      </p:sp>
      <p:sp>
        <p:nvSpPr>
          <p:cNvPr id="5" name="Text 3"/>
          <p:cNvSpPr/>
          <p:nvPr/>
        </p:nvSpPr>
        <p:spPr>
          <a:xfrm>
            <a:off x="1143000" y="1447800"/>
            <a:ext cx="14740499" cy="1558230"/>
          </a:xfrm>
          <a:prstGeom prst="rect">
            <a:avLst/>
          </a:prstGeom>
          <a:noFill/>
          <a:ln/>
        </p:spPr>
        <p:txBody>
          <a:bodyPr wrap="square" lIns="25400" tIns="25400" rIns="25400" bIns="25400" rtlCol="0" anchor="t">
            <a:normAutofit/>
          </a:bodyPr>
          <a:lstStyle/>
          <a:p>
            <a:pPr algn="l" indent="0" marL="0">
              <a:lnSpc>
                <a:spcPct val="105000"/>
              </a:lnSpc>
              <a:buNone/>
            </a:pPr>
            <a:r>
              <a:rPr lang="en-US" sz="5700" spc="-114" kern="0" dirty="0">
                <a:solidFill>
                  <a:srgbClr val="161616"/>
                </a:solidFill>
                <a:latin typeface="Georgia" pitchFamily="34" charset="0"/>
                <a:ea typeface="Georgia" pitchFamily="34" charset="-122"/>
                <a:cs typeface="Georgia" pitchFamily="34" charset="-120"/>
              </a:rPr>
              <a:t>Las grandes empresas tienen un departamento de I+D interno. Tú tienes </a:t>
            </a:r>
            <a:pPr algn="l" indent="0" marL="0">
              <a:lnSpc>
                <a:spcPct val="105000"/>
              </a:lnSpc>
              <a:buNone/>
            </a:pPr>
            <a:r>
              <a:rPr lang="en-US" sz="5700" i="1" spc="-114" kern="0" dirty="0">
                <a:solidFill>
                  <a:srgbClr val="EC4429"/>
                </a:solidFill>
                <a:latin typeface="Georgia" pitchFamily="34" charset="0"/>
                <a:ea typeface="Georgia" pitchFamily="34" charset="-122"/>
                <a:cs typeface="Georgia" pitchFamily="34" charset="-120"/>
              </a:rPr>
              <a:t>uno externo</a:t>
            </a:r>
            <a:pPr algn="l" indent="0" marL="0">
              <a:lnSpc>
                <a:spcPct val="105000"/>
              </a:lnSpc>
              <a:buNone/>
            </a:pPr>
            <a:r>
              <a:rPr lang="en-US" sz="5700" spc="-114" kern="0" dirty="0">
                <a:solidFill>
                  <a:srgbClr val="EC4429"/>
                </a:solidFill>
                <a:latin typeface="Georgia" pitchFamily="34" charset="0"/>
                <a:ea typeface="Georgia" pitchFamily="34" charset="-122"/>
                <a:cs typeface="Georgia" pitchFamily="34" charset="-120"/>
              </a:rPr>
              <a:t>.</a:t>
            </a:r>
            <a:endParaRPr lang="en-US" sz="5700" dirty="0"/>
          </a:p>
        </p:txBody>
      </p:sp>
      <p:sp>
        <p:nvSpPr>
          <p:cNvPr id="6" name="Shape 4"/>
          <p:cNvSpPr/>
          <p:nvPr/>
        </p:nvSpPr>
        <p:spPr>
          <a:xfrm>
            <a:off x="1143000" y="3501330"/>
            <a:ext cx="5905054" cy="4068812"/>
          </a:xfrm>
          <a:prstGeom prst="rect">
            <a:avLst/>
          </a:prstGeom>
          <a:solidFill>
            <a:srgbClr val="ECE7DD"/>
          </a:solidFill>
          <a:ln/>
        </p:spPr>
      </p:sp>
      <p:sp>
        <p:nvSpPr>
          <p:cNvPr id="7" name="Text 5"/>
          <p:cNvSpPr/>
          <p:nvPr/>
        </p:nvSpPr>
        <p:spPr>
          <a:xfrm>
            <a:off x="1600200" y="4034730"/>
            <a:ext cx="5140373" cy="314325"/>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8A8A8A"/>
                </a:solidFill>
                <a:latin typeface="Arial" pitchFamily="34" charset="0"/>
                <a:ea typeface="Arial" pitchFamily="34" charset="-122"/>
                <a:cs typeface="Arial" pitchFamily="34" charset="-120"/>
              </a:rPr>
              <a:t>EMPRESAS GRANDES</a:t>
            </a:r>
            <a:endParaRPr lang="en-US" sz="1800" dirty="0"/>
          </a:p>
        </p:txBody>
      </p:sp>
      <p:sp>
        <p:nvSpPr>
          <p:cNvPr id="8" name="Text 6"/>
          <p:cNvSpPr/>
          <p:nvPr/>
        </p:nvSpPr>
        <p:spPr>
          <a:xfrm>
            <a:off x="1306830" y="4691955"/>
            <a:ext cx="5360224" cy="2382887"/>
          </a:xfrm>
          <a:prstGeom prst="rect">
            <a:avLst/>
          </a:prstGeom>
          <a:noFill/>
          <a:ln/>
        </p:spPr>
        <p:txBody>
          <a:bodyPr wrap="square" lIns="25400" tIns="25400" rIns="25400" bIns="25400" rtlCol="0" anchor="t">
            <a:normAutofit/>
          </a:bodyPr>
          <a:lstStyle/>
          <a:p>
            <a:pPr algn="l" indent="0" marL="0">
              <a:lnSpc>
                <a:spcPct val="110000"/>
              </a:lnSpc>
              <a:buNone/>
            </a:pPr>
            <a:r>
              <a:rPr lang="en-US" sz="3300" spc="-33" kern="0" dirty="0">
                <a:solidFill>
                  <a:srgbClr val="161616"/>
                </a:solidFill>
                <a:latin typeface="Georgia" pitchFamily="34" charset="0"/>
                <a:ea typeface="Georgia" pitchFamily="34" charset="-122"/>
                <a:cs typeface="Georgia" pitchFamily="34" charset="-120"/>
              </a:rPr>
              <a:t>Equipo de I+D interno.</a:t>
            </a:r>
            <a:endParaRPr lang="en-US" sz="3300" dirty="0"/>
          </a:p>
          <a:p>
            <a:pPr algn="l" indent="0" marL="0">
              <a:lnSpc>
                <a:spcPct val="110000"/>
              </a:lnSpc>
              <a:buNone/>
            </a:pPr>
            <a:r>
              <a:rPr lang="en-US" sz="3300" spc="-33" kern="0" dirty="0">
                <a:solidFill>
                  <a:srgbClr val="161616"/>
                </a:solidFill>
                <a:latin typeface="Georgia" pitchFamily="34" charset="0"/>
                <a:ea typeface="Georgia" pitchFamily="34" charset="-122"/>
                <a:cs typeface="Georgia" pitchFamily="34" charset="-120"/>
              </a:rPr>
              <a:t>Especialistas en plantilla.</a:t>
            </a:r>
            <a:endParaRPr lang="en-US" sz="3300" dirty="0"/>
          </a:p>
          <a:p>
            <a:pPr algn="l" indent="0" marL="0">
              <a:lnSpc>
                <a:spcPct val="110000"/>
              </a:lnSpc>
              <a:buNone/>
            </a:pPr>
            <a:r>
              <a:rPr lang="en-US" sz="3300" spc="-33" kern="0" dirty="0">
                <a:solidFill>
                  <a:srgbClr val="161616"/>
                </a:solidFill>
                <a:latin typeface="Georgia" pitchFamily="34" charset="0"/>
                <a:ea typeface="Georgia" pitchFamily="34" charset="-122"/>
                <a:cs typeface="Georgia" pitchFamily="34" charset="-120"/>
              </a:rPr>
              <a:t>Coste: 200 – 500 k € / año.</a:t>
            </a:r>
            <a:endParaRPr lang="en-US" sz="3300" dirty="0"/>
          </a:p>
        </p:txBody>
      </p:sp>
      <p:sp>
        <p:nvSpPr>
          <p:cNvPr id="9" name="Shape 7"/>
          <p:cNvSpPr/>
          <p:nvPr/>
        </p:nvSpPr>
        <p:spPr>
          <a:xfrm>
            <a:off x="7048054" y="3501330"/>
            <a:ext cx="5905054" cy="4068812"/>
          </a:xfrm>
          <a:prstGeom prst="rect">
            <a:avLst/>
          </a:prstGeom>
          <a:solidFill>
            <a:srgbClr val="141414"/>
          </a:solidFill>
          <a:ln/>
        </p:spPr>
      </p:sp>
      <p:sp>
        <p:nvSpPr>
          <p:cNvPr id="10" name="Text 8"/>
          <p:cNvSpPr/>
          <p:nvPr/>
        </p:nvSpPr>
        <p:spPr>
          <a:xfrm>
            <a:off x="7505254" y="4034730"/>
            <a:ext cx="5140373" cy="314325"/>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EC4429"/>
                </a:solidFill>
                <a:latin typeface="Arial" pitchFamily="34" charset="0"/>
                <a:ea typeface="Arial" pitchFamily="34" charset="-122"/>
                <a:cs typeface="Arial" pitchFamily="34" charset="-120"/>
              </a:rPr>
              <a:t>TÚ CON EXECUTIVE LAB</a:t>
            </a:r>
            <a:pPr algn="l" indent="0" marL="0">
              <a:buNone/>
            </a:pPr>
            <a:r>
              <a:rPr lang="en-US" sz="1800" b="1" spc="396" kern="0" dirty="0">
                <a:solidFill>
                  <a:srgbClr val="EC4429"/>
                </a:solidFill>
                <a:latin typeface="Georgia" pitchFamily="34" charset="0"/>
                <a:ea typeface="Georgia" pitchFamily="34" charset="-122"/>
                <a:cs typeface="Georgia" pitchFamily="34" charset="-120"/>
              </a:rPr>
              <a:t>*</a:t>
            </a:r>
            <a:endParaRPr lang="en-US" sz="1800" dirty="0"/>
          </a:p>
        </p:txBody>
      </p:sp>
      <p:sp>
        <p:nvSpPr>
          <p:cNvPr id="11" name="Text 9"/>
          <p:cNvSpPr/>
          <p:nvPr/>
        </p:nvSpPr>
        <p:spPr>
          <a:xfrm>
            <a:off x="7211884" y="4691955"/>
            <a:ext cx="5360224" cy="2382887"/>
          </a:xfrm>
          <a:prstGeom prst="rect">
            <a:avLst/>
          </a:prstGeom>
          <a:noFill/>
          <a:ln/>
        </p:spPr>
        <p:txBody>
          <a:bodyPr wrap="square" lIns="25400" tIns="25400" rIns="25400" bIns="25400" rtlCol="0" anchor="t">
            <a:normAutofit/>
          </a:bodyPr>
          <a:lstStyle/>
          <a:p>
            <a:pPr algn="l" indent="0" marL="0">
              <a:lnSpc>
                <a:spcPct val="110000"/>
              </a:lnSpc>
              <a:buNone/>
            </a:pPr>
            <a:r>
              <a:rPr lang="en-US" sz="3300" spc="-33" kern="0" dirty="0">
                <a:solidFill>
                  <a:srgbClr val="F5F2EC"/>
                </a:solidFill>
                <a:latin typeface="Georgia" pitchFamily="34" charset="0"/>
                <a:ea typeface="Georgia" pitchFamily="34" charset="-122"/>
                <a:cs typeface="Georgia" pitchFamily="34" charset="-120"/>
              </a:rPr>
              <a:t>I+D externalizado.</a:t>
            </a:r>
            <a:endParaRPr lang="en-US" sz="3300" dirty="0"/>
          </a:p>
          <a:p>
            <a:pPr algn="l" indent="0" marL="0">
              <a:lnSpc>
                <a:spcPct val="110000"/>
              </a:lnSpc>
              <a:buNone/>
            </a:pPr>
            <a:r>
              <a:rPr lang="en-US" sz="3300" spc="-33" kern="0" dirty="0">
                <a:solidFill>
                  <a:srgbClr val="F5F2EC"/>
                </a:solidFill>
                <a:latin typeface="Georgia" pitchFamily="34" charset="0"/>
                <a:ea typeface="Georgia" pitchFamily="34" charset="-122"/>
                <a:cs typeface="Georgia" pitchFamily="34" charset="-120"/>
              </a:rPr>
              <a:t>4 mentores expertos.</a:t>
            </a:r>
            <a:endParaRPr lang="en-US" sz="3300" dirty="0"/>
          </a:p>
          <a:p>
            <a:pPr algn="l" indent="0" marL="0">
              <a:lnSpc>
                <a:spcPct val="110000"/>
              </a:lnSpc>
              <a:buNone/>
            </a:pPr>
            <a:r>
              <a:rPr lang="en-US" sz="3300" spc="-33" kern="0" dirty="0">
                <a:solidFill>
                  <a:srgbClr val="F5F2EC"/>
                </a:solidFill>
                <a:latin typeface="Georgia" pitchFamily="34" charset="0"/>
                <a:ea typeface="Georgia" pitchFamily="34" charset="-122"/>
                <a:cs typeface="Georgia" pitchFamily="34" charset="-120"/>
              </a:rPr>
              <a:t>Coste: una fracción.</a:t>
            </a:r>
            <a:endParaRPr lang="en-US" sz="3300" dirty="0"/>
          </a:p>
        </p:txBody>
      </p:sp>
      <p:sp>
        <p:nvSpPr>
          <p:cNvPr id="12" name="Text 10"/>
          <p:cNvSpPr/>
          <p:nvPr/>
        </p:nvSpPr>
        <p:spPr>
          <a:xfrm>
            <a:off x="1143000" y="8103543"/>
            <a:ext cx="12304980" cy="409575"/>
          </a:xfrm>
          <a:prstGeom prst="rect">
            <a:avLst/>
          </a:prstGeom>
          <a:noFill/>
          <a:ln/>
        </p:spPr>
        <p:txBody>
          <a:bodyPr wrap="square" lIns="25400" tIns="25400" rIns="25400" bIns="25400" rtlCol="0" anchor="t">
            <a:normAutofit/>
          </a:bodyPr>
          <a:lstStyle/>
          <a:p>
            <a:pPr algn="l" indent="0" marL="0">
              <a:lnSpc>
                <a:spcPct val="130000"/>
              </a:lnSpc>
              <a:buNone/>
            </a:pPr>
            <a:r>
              <a:rPr lang="en-US" sz="2250" dirty="0">
                <a:solidFill>
                  <a:srgbClr val="5A5A5A"/>
                </a:solidFill>
                <a:latin typeface="Arial" pitchFamily="34" charset="0"/>
                <a:ea typeface="Arial" pitchFamily="34" charset="-122"/>
                <a:cs typeface="Arial" pitchFamily="34" charset="-120"/>
              </a:rPr>
              <a:t>La tecnología avanza igual de rápido para todos. La diferencia es quién tiene el equipo detrás.</a:t>
            </a:r>
            <a:endParaRPr lang="en-US" sz="2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61616"/>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A5A5A"/>
                </a:solidFill>
                <a:latin typeface="Arial" pitchFamily="34" charset="0"/>
                <a:ea typeface="Arial" pitchFamily="34" charset="-122"/>
                <a:cs typeface="Arial" pitchFamily="34" charset="-120"/>
              </a:rPr>
              <a:t>32 / 42</a:t>
            </a:r>
            <a:endParaRPr lang="en-US" sz="1800" dirty="0"/>
          </a:p>
        </p:txBody>
      </p:sp>
      <p:sp>
        <p:nvSpPr>
          <p:cNvPr id="4" name="Text 2"/>
          <p:cNvSpPr/>
          <p:nvPr/>
        </p:nvSpPr>
        <p:spPr>
          <a:xfrm>
            <a:off x="1143000" y="2552998"/>
            <a:ext cx="3139440" cy="2305050"/>
          </a:xfrm>
          <a:prstGeom prst="rect">
            <a:avLst/>
          </a:prstGeom>
          <a:noFill/>
          <a:ln/>
        </p:spPr>
        <p:txBody>
          <a:bodyPr wrap="square" lIns="25400" tIns="25400" rIns="25400" bIns="25400" rtlCol="0" anchor="t">
            <a:normAutofit/>
          </a:bodyPr>
          <a:lstStyle/>
          <a:p>
            <a:pPr algn="l" indent="0" marL="0">
              <a:lnSpc>
                <a:spcPct val="85000"/>
              </a:lnSpc>
              <a:buNone/>
            </a:pPr>
            <a:r>
              <a:rPr lang="en-US" sz="21000" spc="-840" kern="0" dirty="0">
                <a:solidFill>
                  <a:srgbClr val="EC4429"/>
                </a:solidFill>
                <a:latin typeface="Georgia" pitchFamily="34" charset="0"/>
                <a:ea typeface="Georgia" pitchFamily="34" charset="-122"/>
                <a:cs typeface="Georgia" pitchFamily="34" charset="-120"/>
              </a:rPr>
              <a:t>01</a:t>
            </a:r>
            <a:endParaRPr lang="en-US" sz="21000" dirty="0"/>
          </a:p>
        </p:txBody>
      </p:sp>
      <p:sp>
        <p:nvSpPr>
          <p:cNvPr id="5" name="Text 3"/>
          <p:cNvSpPr/>
          <p:nvPr/>
        </p:nvSpPr>
        <p:spPr>
          <a:xfrm>
            <a:off x="4953000" y="2552998"/>
            <a:ext cx="10791825" cy="1670149"/>
          </a:xfrm>
          <a:prstGeom prst="rect">
            <a:avLst/>
          </a:prstGeom>
          <a:noFill/>
          <a:ln/>
        </p:spPr>
        <p:txBody>
          <a:bodyPr wrap="square" lIns="25400" tIns="25400" rIns="25400" bIns="25400" rtlCol="0" anchor="t">
            <a:normAutofit/>
          </a:bodyPr>
          <a:lstStyle/>
          <a:p>
            <a:pPr algn="l" indent="0" marL="0">
              <a:lnSpc>
                <a:spcPct val="102000"/>
              </a:lnSpc>
              <a:buNone/>
            </a:pPr>
            <a:r>
              <a:rPr lang="en-US" sz="6300" b="1" spc="-126" kern="0" dirty="0">
                <a:solidFill>
                  <a:srgbClr val="161616"/>
                </a:solidFill>
                <a:latin typeface="Georgia" pitchFamily="34" charset="0"/>
                <a:ea typeface="Georgia" pitchFamily="34" charset="-122"/>
                <a:cs typeface="Georgia" pitchFamily="34" charset="-120"/>
              </a:rPr>
              <a:t>Filtramos el ruido del mercado</a:t>
            </a:r>
            <a:pPr algn="l" indent="0" marL="0">
              <a:lnSpc>
                <a:spcPct val="102000"/>
              </a:lnSpc>
              <a:buNone/>
            </a:pPr>
            <a:r>
              <a:rPr lang="en-US" sz="6300" b="1" spc="-126" kern="0" dirty="0">
                <a:solidFill>
                  <a:srgbClr val="EC4429"/>
                </a:solidFill>
                <a:latin typeface="Georgia" pitchFamily="34" charset="0"/>
                <a:ea typeface="Georgia" pitchFamily="34" charset="-122"/>
                <a:cs typeface="Georgia" pitchFamily="34" charset="-120"/>
              </a:rPr>
              <a:t>.</a:t>
            </a:r>
            <a:endParaRPr lang="en-US" sz="6300" dirty="0"/>
          </a:p>
        </p:txBody>
      </p:sp>
      <p:sp>
        <p:nvSpPr>
          <p:cNvPr id="6" name="Text 4"/>
          <p:cNvSpPr/>
          <p:nvPr/>
        </p:nvSpPr>
        <p:spPr>
          <a:xfrm>
            <a:off x="4953000" y="4451747"/>
            <a:ext cx="10791825" cy="434280"/>
          </a:xfrm>
          <a:prstGeom prst="rect">
            <a:avLst/>
          </a:prstGeom>
          <a:noFill/>
          <a:ln/>
        </p:spPr>
        <p:txBody>
          <a:bodyPr wrap="square" lIns="25400" tIns="25400" rIns="25400" bIns="25400" rtlCol="0" anchor="t">
            <a:normAutofit/>
          </a:bodyPr>
          <a:lstStyle/>
          <a:p>
            <a:pPr algn="l" indent="0" marL="0">
              <a:lnSpc>
                <a:spcPct val="130000"/>
              </a:lnSpc>
              <a:buNone/>
            </a:pPr>
            <a:r>
              <a:rPr lang="en-US" sz="2400" dirty="0">
                <a:solidFill>
                  <a:srgbClr val="5A5A5A"/>
                </a:solidFill>
                <a:latin typeface="Arial" pitchFamily="34" charset="0"/>
                <a:ea typeface="Arial" pitchFamily="34" charset="-122"/>
                <a:cs typeface="Arial" pitchFamily="34" charset="-120"/>
              </a:rPr>
              <a:t>Tu trabajo es aplicar. El nuestro es filtrar.</a:t>
            </a:r>
            <a:endParaRPr lang="en-US" sz="2400" dirty="0"/>
          </a:p>
        </p:txBody>
      </p:sp>
      <p:sp>
        <p:nvSpPr>
          <p:cNvPr id="7" name="Text 5"/>
          <p:cNvSpPr/>
          <p:nvPr/>
        </p:nvSpPr>
        <p:spPr>
          <a:xfrm>
            <a:off x="5219700" y="5228927"/>
            <a:ext cx="12291060" cy="407640"/>
          </a:xfrm>
          <a:prstGeom prst="rect">
            <a:avLst/>
          </a:prstGeom>
          <a:noFill/>
          <a:ln/>
        </p:spPr>
        <p:txBody>
          <a:bodyPr wrap="square" lIns="25400" tIns="25400" rIns="25400" bIns="25400" rtlCol="0" anchor="t">
            <a:normAutofit/>
          </a:bodyPr>
          <a:lstStyle/>
          <a:p>
            <a:pPr algn="l" indent="0" marL="0">
              <a:lnSpc>
                <a:spcPct val="135000"/>
              </a:lnSpc>
              <a:buNone/>
            </a:pPr>
            <a:r>
              <a:rPr lang="en-US" sz="2100" b="1" dirty="0">
                <a:solidFill>
                  <a:srgbClr val="161616"/>
                </a:solidFill>
                <a:latin typeface="Arial" pitchFamily="34" charset="0"/>
                <a:ea typeface="Arial" pitchFamily="34" charset="-122"/>
                <a:cs typeface="Arial" pitchFamily="34" charset="-120"/>
              </a:rPr>
              <a:t>Briefing ejecutivo </a:t>
            </a:r>
            <a:pPr algn="l" indent="0" marL="0">
              <a:lnSpc>
                <a:spcPct val="135000"/>
              </a:lnSpc>
              <a:buNone/>
            </a:pPr>
            <a:r>
              <a:rPr lang="en-US" sz="2100" dirty="0">
                <a:solidFill>
                  <a:srgbClr val="161616"/>
                </a:solidFill>
                <a:latin typeface="Arial" pitchFamily="34" charset="0"/>
                <a:ea typeface="Arial" pitchFamily="34" charset="-122"/>
                <a:cs typeface="Arial" pitchFamily="34" charset="-120"/>
              </a:rPr>
              <a:t>cada domingo por email · lo que importa de la semana.</a:t>
            </a:r>
            <a:endParaRPr lang="en-US" sz="2100" dirty="0"/>
          </a:p>
        </p:txBody>
      </p:sp>
      <p:sp>
        <p:nvSpPr>
          <p:cNvPr id="8" name="Text 6"/>
          <p:cNvSpPr/>
          <p:nvPr/>
        </p:nvSpPr>
        <p:spPr>
          <a:xfrm>
            <a:off x="5219700" y="5769918"/>
            <a:ext cx="12291060" cy="407640"/>
          </a:xfrm>
          <a:prstGeom prst="rect">
            <a:avLst/>
          </a:prstGeom>
          <a:noFill/>
          <a:ln/>
        </p:spPr>
        <p:txBody>
          <a:bodyPr wrap="square" lIns="25400" tIns="25400" rIns="25400" bIns="25400" rtlCol="0" anchor="t">
            <a:normAutofit/>
          </a:bodyPr>
          <a:lstStyle/>
          <a:p>
            <a:pPr algn="l" indent="0" marL="0">
              <a:lnSpc>
                <a:spcPct val="135000"/>
              </a:lnSpc>
              <a:buNone/>
            </a:pPr>
            <a:r>
              <a:rPr lang="en-US" sz="2100" b="1" dirty="0">
                <a:solidFill>
                  <a:srgbClr val="161616"/>
                </a:solidFill>
                <a:latin typeface="Arial" pitchFamily="34" charset="0"/>
                <a:ea typeface="Arial" pitchFamily="34" charset="-122"/>
                <a:cs typeface="Arial" pitchFamily="34" charset="-120"/>
              </a:rPr>
              <a:t>Directos semanales </a:t>
            </a:r>
            <a:pPr algn="l" indent="0" marL="0">
              <a:lnSpc>
                <a:spcPct val="135000"/>
              </a:lnSpc>
              <a:buNone/>
            </a:pPr>
            <a:r>
              <a:rPr lang="en-US" sz="2100" dirty="0">
                <a:solidFill>
                  <a:srgbClr val="161616"/>
                </a:solidFill>
                <a:latin typeface="Arial" pitchFamily="34" charset="0"/>
                <a:ea typeface="Arial" pitchFamily="34" charset="-122"/>
                <a:cs typeface="Arial" pitchFamily="34" charset="-120"/>
              </a:rPr>
              <a:t>los miércoles con los mentores · novedades + casos prácticos.</a:t>
            </a:r>
            <a:endParaRPr lang="en-US" sz="2100" dirty="0"/>
          </a:p>
        </p:txBody>
      </p:sp>
      <p:sp>
        <p:nvSpPr>
          <p:cNvPr id="9" name="Text 7"/>
          <p:cNvSpPr/>
          <p:nvPr/>
        </p:nvSpPr>
        <p:spPr>
          <a:xfrm>
            <a:off x="5219700" y="6310908"/>
            <a:ext cx="12291060" cy="407640"/>
          </a:xfrm>
          <a:prstGeom prst="rect">
            <a:avLst/>
          </a:prstGeom>
          <a:noFill/>
          <a:ln/>
        </p:spPr>
        <p:txBody>
          <a:bodyPr wrap="square" lIns="25400" tIns="25400" rIns="25400" bIns="25400" rtlCol="0" anchor="t">
            <a:normAutofit/>
          </a:bodyPr>
          <a:lstStyle/>
          <a:p>
            <a:pPr algn="l" indent="0" marL="0">
              <a:lnSpc>
                <a:spcPct val="135000"/>
              </a:lnSpc>
              <a:buNone/>
            </a:pPr>
            <a:r>
              <a:rPr lang="en-US" sz="2100" b="1" dirty="0">
                <a:solidFill>
                  <a:srgbClr val="161616"/>
                </a:solidFill>
                <a:latin typeface="Arial" pitchFamily="34" charset="0"/>
                <a:ea typeface="Arial" pitchFamily="34" charset="-122"/>
                <a:cs typeface="Arial" pitchFamily="34" charset="-120"/>
              </a:rPr>
              <a:t>Canal de difusión WhatsApp 24/7 </a:t>
            </a:r>
            <a:pPr algn="l" indent="0" marL="0">
              <a:lnSpc>
                <a:spcPct val="135000"/>
              </a:lnSpc>
              <a:buNone/>
            </a:pPr>
            <a:r>
              <a:rPr lang="en-US" sz="2100" dirty="0">
                <a:solidFill>
                  <a:srgbClr val="161616"/>
                </a:solidFill>
                <a:latin typeface="Arial" pitchFamily="34" charset="0"/>
                <a:ea typeface="Arial" pitchFamily="34" charset="-122"/>
                <a:cs typeface="Arial" pitchFamily="34" charset="-120"/>
              </a:rPr>
              <a:t>· lo urgente al instante en el móvil.</a:t>
            </a:r>
            <a:endParaRPr lang="en-US" sz="2100" dirty="0"/>
          </a:p>
        </p:txBody>
      </p:sp>
      <p:sp>
        <p:nvSpPr>
          <p:cNvPr id="10" name="Shape 8"/>
          <p:cNvSpPr/>
          <p:nvPr/>
        </p:nvSpPr>
        <p:spPr>
          <a:xfrm>
            <a:off x="4953000" y="7061448"/>
            <a:ext cx="10477500" cy="9525"/>
          </a:xfrm>
          <a:prstGeom prst="rect">
            <a:avLst/>
          </a:prstGeom>
          <a:solidFill>
            <a:srgbClr val="D9D2C5"/>
          </a:solidFill>
          <a:ln/>
        </p:spPr>
      </p:sp>
      <p:sp>
        <p:nvSpPr>
          <p:cNvPr id="11" name="Text 9"/>
          <p:cNvSpPr/>
          <p:nvPr/>
        </p:nvSpPr>
        <p:spPr>
          <a:xfrm>
            <a:off x="4953000" y="7337673"/>
            <a:ext cx="10791825" cy="434280"/>
          </a:xfrm>
          <a:prstGeom prst="rect">
            <a:avLst/>
          </a:prstGeom>
          <a:noFill/>
          <a:ln/>
        </p:spPr>
        <p:txBody>
          <a:bodyPr wrap="square" lIns="25400" tIns="25400" rIns="25400" bIns="25400" rtlCol="0" anchor="t">
            <a:normAutofit/>
          </a:bodyPr>
          <a:lstStyle/>
          <a:p>
            <a:pPr algn="l" indent="0" marL="0">
              <a:lnSpc>
                <a:spcPct val="130000"/>
              </a:lnSpc>
              <a:buNone/>
            </a:pPr>
            <a:r>
              <a:rPr lang="en-US" sz="2400" i="1" dirty="0">
                <a:solidFill>
                  <a:srgbClr val="161616"/>
                </a:solidFill>
                <a:latin typeface="Georgia" pitchFamily="34" charset="0"/>
                <a:ea typeface="Georgia" pitchFamily="34" charset="-122"/>
                <a:cs typeface="Georgia" pitchFamily="34" charset="-120"/>
              </a:rPr>
              <a:t>Cada semana llegan 50 herramientas nuevas. Tú recibes las 3 que importan.</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F5F2EC"/>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7A766F"/>
                </a:solidFill>
                <a:latin typeface="Arial" pitchFamily="34" charset="0"/>
                <a:ea typeface="Arial" pitchFamily="34" charset="-122"/>
                <a:cs typeface="Arial" pitchFamily="34" charset="-120"/>
              </a:rPr>
              <a:t>33 / 42</a:t>
            </a:r>
            <a:endParaRPr lang="en-US" sz="1800" dirty="0"/>
          </a:p>
        </p:txBody>
      </p:sp>
      <p:sp>
        <p:nvSpPr>
          <p:cNvPr id="4" name="Text 2"/>
          <p:cNvSpPr/>
          <p:nvPr/>
        </p:nvSpPr>
        <p:spPr>
          <a:xfrm>
            <a:off x="1143000" y="2301627"/>
            <a:ext cx="3139440" cy="2305050"/>
          </a:xfrm>
          <a:prstGeom prst="rect">
            <a:avLst/>
          </a:prstGeom>
          <a:noFill/>
          <a:ln/>
        </p:spPr>
        <p:txBody>
          <a:bodyPr wrap="square" lIns="25400" tIns="25400" rIns="25400" bIns="25400" rtlCol="0" anchor="t">
            <a:normAutofit/>
          </a:bodyPr>
          <a:lstStyle/>
          <a:p>
            <a:pPr algn="l" indent="0" marL="0">
              <a:lnSpc>
                <a:spcPct val="85000"/>
              </a:lnSpc>
              <a:buNone/>
            </a:pPr>
            <a:r>
              <a:rPr lang="en-US" sz="21000" spc="-840" kern="0" dirty="0">
                <a:solidFill>
                  <a:srgbClr val="EC4429"/>
                </a:solidFill>
                <a:latin typeface="Georgia" pitchFamily="34" charset="0"/>
                <a:ea typeface="Georgia" pitchFamily="34" charset="-122"/>
                <a:cs typeface="Georgia" pitchFamily="34" charset="-120"/>
              </a:rPr>
              <a:t>02</a:t>
            </a:r>
            <a:endParaRPr lang="en-US" sz="21000" dirty="0"/>
          </a:p>
        </p:txBody>
      </p:sp>
      <p:sp>
        <p:nvSpPr>
          <p:cNvPr id="5" name="Text 3"/>
          <p:cNvSpPr/>
          <p:nvPr/>
        </p:nvSpPr>
        <p:spPr>
          <a:xfrm>
            <a:off x="4953000" y="2301627"/>
            <a:ext cx="10791825" cy="1670149"/>
          </a:xfrm>
          <a:prstGeom prst="rect">
            <a:avLst/>
          </a:prstGeom>
          <a:noFill/>
          <a:ln/>
        </p:spPr>
        <p:txBody>
          <a:bodyPr wrap="square" lIns="25400" tIns="25400" rIns="25400" bIns="25400" rtlCol="0" anchor="t">
            <a:normAutofit/>
          </a:bodyPr>
          <a:lstStyle/>
          <a:p>
            <a:pPr algn="l" indent="0" marL="0">
              <a:lnSpc>
                <a:spcPct val="102000"/>
              </a:lnSpc>
              <a:buNone/>
            </a:pPr>
            <a:r>
              <a:rPr lang="en-US" sz="6300" b="1" spc="-126" kern="0" dirty="0">
                <a:solidFill>
                  <a:srgbClr val="F5F2EC"/>
                </a:solidFill>
                <a:latin typeface="Georgia" pitchFamily="34" charset="0"/>
                <a:ea typeface="Georgia" pitchFamily="34" charset="-122"/>
                <a:cs typeface="Georgia" pitchFamily="34" charset="-120"/>
              </a:rPr>
              <a:t>Respondemos a tus casos reales</a:t>
            </a:r>
            <a:pPr algn="l" indent="0" marL="0">
              <a:lnSpc>
                <a:spcPct val="102000"/>
              </a:lnSpc>
              <a:buNone/>
            </a:pPr>
            <a:r>
              <a:rPr lang="en-US" sz="6300" b="1" spc="-126" kern="0" dirty="0">
                <a:solidFill>
                  <a:srgbClr val="EC4429"/>
                </a:solidFill>
                <a:latin typeface="Georgia" pitchFamily="34" charset="0"/>
                <a:ea typeface="Georgia" pitchFamily="34" charset="-122"/>
                <a:cs typeface="Georgia" pitchFamily="34" charset="-120"/>
              </a:rPr>
              <a:t>.</a:t>
            </a:r>
            <a:endParaRPr lang="en-US" sz="6300" dirty="0"/>
          </a:p>
        </p:txBody>
      </p:sp>
      <p:sp>
        <p:nvSpPr>
          <p:cNvPr id="6" name="Text 4"/>
          <p:cNvSpPr/>
          <p:nvPr/>
        </p:nvSpPr>
        <p:spPr>
          <a:xfrm>
            <a:off x="4953000" y="4200376"/>
            <a:ext cx="10791825" cy="434280"/>
          </a:xfrm>
          <a:prstGeom prst="rect">
            <a:avLst/>
          </a:prstGeom>
          <a:noFill/>
          <a:ln/>
        </p:spPr>
        <p:txBody>
          <a:bodyPr wrap="square" lIns="25400" tIns="25400" rIns="25400" bIns="25400" rtlCol="0" anchor="t">
            <a:normAutofit/>
          </a:bodyPr>
          <a:lstStyle/>
          <a:p>
            <a:pPr algn="l" indent="0" marL="0">
              <a:lnSpc>
                <a:spcPct val="130000"/>
              </a:lnSpc>
              <a:buNone/>
            </a:pPr>
            <a:r>
              <a:rPr lang="en-US" sz="2400" dirty="0">
                <a:solidFill>
                  <a:srgbClr val="B8B2A8"/>
                </a:solidFill>
                <a:latin typeface="Arial" pitchFamily="34" charset="0"/>
                <a:ea typeface="Arial" pitchFamily="34" charset="-122"/>
                <a:cs typeface="Arial" pitchFamily="34" charset="-120"/>
              </a:rPr>
              <a:t>No es Telegram. Es consultoría aplicada a tu empresa.</a:t>
            </a:r>
            <a:endParaRPr lang="en-US" sz="2400" dirty="0"/>
          </a:p>
        </p:txBody>
      </p:sp>
      <p:sp>
        <p:nvSpPr>
          <p:cNvPr id="7" name="Text 5"/>
          <p:cNvSpPr/>
          <p:nvPr/>
        </p:nvSpPr>
        <p:spPr>
          <a:xfrm>
            <a:off x="4766310" y="4977557"/>
            <a:ext cx="12454890" cy="1992511"/>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F5F2EC"/>
                </a:solidFill>
                <a:latin typeface="Arial" pitchFamily="34" charset="0"/>
                <a:ea typeface="Arial" pitchFamily="34" charset="-122"/>
                <a:cs typeface="Arial" pitchFamily="34" charset="-120"/>
              </a:rPr>
              <a:t>Canal privado con los mentores expertos.</a:t>
            </a:r>
            <a:endParaRPr lang="en-US" sz="2100" dirty="0"/>
          </a:p>
          <a:p>
            <a:pPr algn="l" indent="0" marL="0">
              <a:lnSpc>
                <a:spcPct val="135000"/>
              </a:lnSpc>
              <a:buNone/>
            </a:pPr>
            <a:r>
              <a:rPr lang="en-US" sz="2100" dirty="0">
                <a:solidFill>
                  <a:srgbClr val="F5F2EC"/>
                </a:solidFill>
                <a:latin typeface="Arial" pitchFamily="34" charset="0"/>
                <a:ea typeface="Arial" pitchFamily="34" charset="-122"/>
                <a:cs typeface="Arial" pitchFamily="34" charset="-120"/>
              </a:rPr>
              <a:t>Haces tu pregunta · recibes respuesta aplicada a tu caso.</a:t>
            </a:r>
            <a:endParaRPr lang="en-US" sz="2100" dirty="0"/>
          </a:p>
          <a:p>
            <a:pPr algn="l" indent="0" marL="0">
              <a:lnSpc>
                <a:spcPct val="135000"/>
              </a:lnSpc>
              <a:buNone/>
            </a:pPr>
            <a:r>
              <a:rPr lang="en-US" sz="2100" dirty="0">
                <a:solidFill>
                  <a:srgbClr val="F5F2EC"/>
                </a:solidFill>
                <a:latin typeface="Arial" pitchFamily="34" charset="0"/>
                <a:ea typeface="Arial" pitchFamily="34" charset="-122"/>
                <a:cs typeface="Arial" pitchFamily="34" charset="-120"/>
              </a:rPr>
              <a:t>Decisiones específicas que tu empresa tiene que tomar.</a:t>
            </a:r>
            <a:endParaRPr lang="en-US" sz="2100" dirty="0"/>
          </a:p>
          <a:p>
            <a:pPr algn="l" indent="0" marL="0">
              <a:lnSpc>
                <a:spcPct val="135000"/>
              </a:lnSpc>
              <a:buNone/>
            </a:pPr>
            <a:r>
              <a:rPr lang="en-US" sz="2100" dirty="0">
                <a:solidFill>
                  <a:srgbClr val="F5F2EC"/>
                </a:solidFill>
                <a:latin typeface="Arial" pitchFamily="34" charset="0"/>
                <a:ea typeface="Arial" pitchFamily="34" charset="-122"/>
                <a:cs typeface="Arial" pitchFamily="34" charset="-120"/>
              </a:rPr>
              <a:t>No genérico. No teoría. Tu situación concreta.</a:t>
            </a:r>
            <a:endParaRPr lang="en-US" sz="2100" dirty="0"/>
          </a:p>
        </p:txBody>
      </p:sp>
      <p:sp>
        <p:nvSpPr>
          <p:cNvPr id="8" name="Shape 6"/>
          <p:cNvSpPr/>
          <p:nvPr/>
        </p:nvSpPr>
        <p:spPr>
          <a:xfrm>
            <a:off x="4953000" y="7312968"/>
            <a:ext cx="10477500" cy="9525"/>
          </a:xfrm>
          <a:prstGeom prst="rect">
            <a:avLst/>
          </a:prstGeom>
          <a:solidFill>
            <a:srgbClr val="2E2E2E"/>
          </a:solidFill>
          <a:ln/>
        </p:spPr>
      </p:sp>
      <p:sp>
        <p:nvSpPr>
          <p:cNvPr id="9" name="Text 7"/>
          <p:cNvSpPr/>
          <p:nvPr/>
        </p:nvSpPr>
        <p:spPr>
          <a:xfrm>
            <a:off x="4953000" y="7589193"/>
            <a:ext cx="10791825" cy="434280"/>
          </a:xfrm>
          <a:prstGeom prst="rect">
            <a:avLst/>
          </a:prstGeom>
          <a:noFill/>
          <a:ln/>
        </p:spPr>
        <p:txBody>
          <a:bodyPr wrap="square" lIns="25400" tIns="25400" rIns="25400" bIns="25400" rtlCol="0" anchor="t">
            <a:normAutofit/>
          </a:bodyPr>
          <a:lstStyle/>
          <a:p>
            <a:pPr algn="l" indent="0" marL="0">
              <a:lnSpc>
                <a:spcPct val="130000"/>
              </a:lnSpc>
              <a:buNone/>
            </a:pPr>
            <a:r>
              <a:rPr lang="en-US" sz="2400" i="1" dirty="0">
                <a:solidFill>
                  <a:srgbClr val="F5F2EC"/>
                </a:solidFill>
                <a:latin typeface="Georgia" pitchFamily="34" charset="0"/>
                <a:ea typeface="Georgia" pitchFamily="34" charset="-122"/>
                <a:cs typeface="Georgia" pitchFamily="34" charset="-120"/>
              </a:rPr>
              <a:t>La diferencia entre una comunidad y un equipo es quién responde y cómo.</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61616"/>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A5A5A"/>
                </a:solidFill>
                <a:latin typeface="Arial" pitchFamily="34" charset="0"/>
                <a:ea typeface="Arial" pitchFamily="34" charset="-122"/>
                <a:cs typeface="Arial" pitchFamily="34" charset="-120"/>
              </a:rPr>
              <a:t>34 / 42</a:t>
            </a:r>
            <a:endParaRPr lang="en-US" sz="1800" dirty="0"/>
          </a:p>
        </p:txBody>
      </p:sp>
      <p:sp>
        <p:nvSpPr>
          <p:cNvPr id="4" name="Text 2"/>
          <p:cNvSpPr/>
          <p:nvPr/>
        </p:nvSpPr>
        <p:spPr>
          <a:xfrm>
            <a:off x="1143000" y="2292102"/>
            <a:ext cx="3139440" cy="2305050"/>
          </a:xfrm>
          <a:prstGeom prst="rect">
            <a:avLst/>
          </a:prstGeom>
          <a:noFill/>
          <a:ln/>
        </p:spPr>
        <p:txBody>
          <a:bodyPr wrap="square" lIns="25400" tIns="25400" rIns="25400" bIns="25400" rtlCol="0" anchor="t">
            <a:normAutofit/>
          </a:bodyPr>
          <a:lstStyle/>
          <a:p>
            <a:pPr algn="l" indent="0" marL="0">
              <a:lnSpc>
                <a:spcPct val="85000"/>
              </a:lnSpc>
              <a:buNone/>
            </a:pPr>
            <a:r>
              <a:rPr lang="en-US" sz="21000" spc="-840" kern="0" dirty="0">
                <a:solidFill>
                  <a:srgbClr val="EC4429"/>
                </a:solidFill>
                <a:latin typeface="Georgia" pitchFamily="34" charset="0"/>
                <a:ea typeface="Georgia" pitchFamily="34" charset="-122"/>
                <a:cs typeface="Georgia" pitchFamily="34" charset="-120"/>
              </a:rPr>
              <a:t>03</a:t>
            </a:r>
            <a:endParaRPr lang="en-US" sz="21000" dirty="0"/>
          </a:p>
        </p:txBody>
      </p:sp>
      <p:sp>
        <p:nvSpPr>
          <p:cNvPr id="5" name="Text 3"/>
          <p:cNvSpPr/>
          <p:nvPr/>
        </p:nvSpPr>
        <p:spPr>
          <a:xfrm>
            <a:off x="4953000" y="2292102"/>
            <a:ext cx="10791825" cy="1670149"/>
          </a:xfrm>
          <a:prstGeom prst="rect">
            <a:avLst/>
          </a:prstGeom>
          <a:noFill/>
          <a:ln/>
        </p:spPr>
        <p:txBody>
          <a:bodyPr wrap="square" lIns="25400" tIns="25400" rIns="25400" bIns="25400" rtlCol="0" anchor="t">
            <a:normAutofit/>
          </a:bodyPr>
          <a:lstStyle/>
          <a:p>
            <a:pPr algn="l" indent="0" marL="0">
              <a:lnSpc>
                <a:spcPct val="102000"/>
              </a:lnSpc>
              <a:buNone/>
            </a:pPr>
            <a:r>
              <a:rPr lang="en-US" sz="6300" b="1" spc="-126" kern="0" dirty="0">
                <a:solidFill>
                  <a:srgbClr val="161616"/>
                </a:solidFill>
                <a:latin typeface="Georgia" pitchFamily="34" charset="0"/>
                <a:ea typeface="Georgia" pitchFamily="34" charset="-122"/>
                <a:cs typeface="Georgia" pitchFamily="34" charset="-120"/>
              </a:rPr>
              <a:t>Te damos las herramientas ya montadas</a:t>
            </a:r>
            <a:pPr algn="l" indent="0" marL="0">
              <a:lnSpc>
                <a:spcPct val="102000"/>
              </a:lnSpc>
              <a:buNone/>
            </a:pPr>
            <a:r>
              <a:rPr lang="en-US" sz="6300" b="1" spc="-126" kern="0" dirty="0">
                <a:solidFill>
                  <a:srgbClr val="EC4429"/>
                </a:solidFill>
                <a:latin typeface="Georgia" pitchFamily="34" charset="0"/>
                <a:ea typeface="Georgia" pitchFamily="34" charset="-122"/>
                <a:cs typeface="Georgia" pitchFamily="34" charset="-120"/>
              </a:rPr>
              <a:t>.</a:t>
            </a:r>
            <a:endParaRPr lang="en-US" sz="6300" dirty="0"/>
          </a:p>
        </p:txBody>
      </p:sp>
      <p:sp>
        <p:nvSpPr>
          <p:cNvPr id="6" name="Text 4"/>
          <p:cNvSpPr/>
          <p:nvPr/>
        </p:nvSpPr>
        <p:spPr>
          <a:xfrm>
            <a:off x="4953000" y="4190851"/>
            <a:ext cx="10791825" cy="434280"/>
          </a:xfrm>
          <a:prstGeom prst="rect">
            <a:avLst/>
          </a:prstGeom>
          <a:noFill/>
          <a:ln/>
        </p:spPr>
        <p:txBody>
          <a:bodyPr wrap="square" lIns="25400" tIns="25400" rIns="25400" bIns="25400" rtlCol="0" anchor="t">
            <a:normAutofit/>
          </a:bodyPr>
          <a:lstStyle/>
          <a:p>
            <a:pPr algn="l" indent="0" marL="0">
              <a:lnSpc>
                <a:spcPct val="130000"/>
              </a:lnSpc>
              <a:buNone/>
            </a:pPr>
            <a:r>
              <a:rPr lang="en-US" sz="2400" dirty="0">
                <a:solidFill>
                  <a:srgbClr val="5A5A5A"/>
                </a:solidFill>
                <a:latin typeface="Arial" pitchFamily="34" charset="0"/>
                <a:ea typeface="Arial" pitchFamily="34" charset="-122"/>
                <a:cs typeface="Arial" pitchFamily="34" charset="-120"/>
              </a:rPr>
              <a:t>No empiezas de cero. Copias, adaptas, despliegas.</a:t>
            </a:r>
            <a:endParaRPr lang="en-US" sz="2400" dirty="0"/>
          </a:p>
        </p:txBody>
      </p:sp>
      <p:sp>
        <p:nvSpPr>
          <p:cNvPr id="7" name="Text 5"/>
          <p:cNvSpPr/>
          <p:nvPr/>
        </p:nvSpPr>
        <p:spPr>
          <a:xfrm>
            <a:off x="5219700" y="4968032"/>
            <a:ext cx="12291060" cy="407640"/>
          </a:xfrm>
          <a:prstGeom prst="rect">
            <a:avLst/>
          </a:prstGeom>
          <a:noFill/>
          <a:ln/>
        </p:spPr>
        <p:txBody>
          <a:bodyPr wrap="square" lIns="25400" tIns="25400" rIns="25400" bIns="25400" rtlCol="0" anchor="t">
            <a:normAutofit/>
          </a:bodyPr>
          <a:lstStyle/>
          <a:p>
            <a:pPr algn="l" indent="0" marL="0">
              <a:lnSpc>
                <a:spcPct val="135000"/>
              </a:lnSpc>
              <a:buNone/>
            </a:pPr>
            <a:r>
              <a:rPr lang="en-US" sz="2100" b="1" dirty="0">
                <a:solidFill>
                  <a:srgbClr val="161616"/>
                </a:solidFill>
                <a:latin typeface="Arial" pitchFamily="34" charset="0"/>
                <a:ea typeface="Arial" pitchFamily="34" charset="-122"/>
                <a:cs typeface="Arial" pitchFamily="34" charset="-120"/>
              </a:rPr>
              <a:t>+38 guías prácticas </a:t>
            </a:r>
            <a:pPr algn="l" indent="0" marL="0">
              <a:lnSpc>
                <a:spcPct val="135000"/>
              </a:lnSpc>
              <a:buNone/>
            </a:pPr>
            <a:r>
              <a:rPr lang="en-US" sz="2100" dirty="0">
                <a:solidFill>
                  <a:srgbClr val="161616"/>
                </a:solidFill>
                <a:latin typeface="Arial" pitchFamily="34" charset="0"/>
                <a:ea typeface="Arial" pitchFamily="34" charset="-122"/>
                <a:cs typeface="Arial" pitchFamily="34" charset="-120"/>
              </a:rPr>
              <a:t>+ </a:t>
            </a:r>
            <a:pPr algn="l" indent="0" marL="0">
              <a:lnSpc>
                <a:spcPct val="135000"/>
              </a:lnSpc>
              <a:buNone/>
            </a:pPr>
            <a:r>
              <a:rPr lang="en-US" sz="2100" b="1" dirty="0">
                <a:solidFill>
                  <a:srgbClr val="161616"/>
                </a:solidFill>
                <a:latin typeface="Arial" pitchFamily="34" charset="0"/>
                <a:ea typeface="Arial" pitchFamily="34" charset="-122"/>
                <a:cs typeface="Arial" pitchFamily="34" charset="-120"/>
              </a:rPr>
              <a:t>+9 PDFs técnicos </a:t>
            </a:r>
            <a:pPr algn="l" indent="0" marL="0">
              <a:lnSpc>
                <a:spcPct val="135000"/>
              </a:lnSpc>
              <a:buNone/>
            </a:pPr>
            <a:r>
              <a:rPr lang="en-US" sz="2100" dirty="0">
                <a:solidFill>
                  <a:srgbClr val="161616"/>
                </a:solidFill>
                <a:latin typeface="Arial" pitchFamily="34" charset="0"/>
                <a:ea typeface="Arial" pitchFamily="34" charset="-122"/>
                <a:cs typeface="Arial" pitchFamily="34" charset="-120"/>
              </a:rPr>
              <a:t>actualizados constantemente.</a:t>
            </a:r>
            <a:endParaRPr lang="en-US" sz="2100" dirty="0"/>
          </a:p>
        </p:txBody>
      </p:sp>
      <p:sp>
        <p:nvSpPr>
          <p:cNvPr id="8" name="Text 6"/>
          <p:cNvSpPr/>
          <p:nvPr/>
        </p:nvSpPr>
        <p:spPr>
          <a:xfrm>
            <a:off x="5219700" y="5509022"/>
            <a:ext cx="12291060" cy="407640"/>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161616"/>
                </a:solidFill>
                <a:latin typeface="Arial" pitchFamily="34" charset="0"/>
                <a:ea typeface="Arial" pitchFamily="34" charset="-122"/>
                <a:cs typeface="Arial" pitchFamily="34" charset="-120"/>
              </a:rPr>
              <a:t>Plantillas y workflows en </a:t>
            </a:r>
            <a:pPr algn="l" indent="0" marL="0">
              <a:lnSpc>
                <a:spcPct val="135000"/>
              </a:lnSpc>
              <a:buNone/>
            </a:pPr>
            <a:r>
              <a:rPr lang="en-US" sz="2100" b="1" dirty="0">
                <a:solidFill>
                  <a:srgbClr val="161616"/>
                </a:solidFill>
                <a:latin typeface="Arial" pitchFamily="34" charset="0"/>
                <a:ea typeface="Arial" pitchFamily="34" charset="-122"/>
                <a:cs typeface="Arial" pitchFamily="34" charset="-120"/>
              </a:rPr>
              <a:t>Make </a:t>
            </a:r>
            <a:pPr algn="l" indent="0" marL="0">
              <a:lnSpc>
                <a:spcPct val="135000"/>
              </a:lnSpc>
              <a:buNone/>
            </a:pPr>
            <a:r>
              <a:rPr lang="en-US" sz="2100" dirty="0">
                <a:solidFill>
                  <a:srgbClr val="161616"/>
                </a:solidFill>
                <a:latin typeface="Arial" pitchFamily="34" charset="0"/>
                <a:ea typeface="Arial" pitchFamily="34" charset="-122"/>
                <a:cs typeface="Arial" pitchFamily="34" charset="-120"/>
              </a:rPr>
              <a:t>y </a:t>
            </a:r>
            <a:pPr algn="l" indent="0" marL="0">
              <a:lnSpc>
                <a:spcPct val="135000"/>
              </a:lnSpc>
              <a:buNone/>
            </a:pPr>
            <a:r>
              <a:rPr lang="en-US" sz="2100" b="1" dirty="0">
                <a:solidFill>
                  <a:srgbClr val="161616"/>
                </a:solidFill>
                <a:latin typeface="Arial" pitchFamily="34" charset="0"/>
                <a:ea typeface="Arial" pitchFamily="34" charset="-122"/>
                <a:cs typeface="Arial" pitchFamily="34" charset="-120"/>
              </a:rPr>
              <a:t>n8n </a:t>
            </a:r>
            <a:pPr algn="l" indent="0" marL="0">
              <a:lnSpc>
                <a:spcPct val="135000"/>
              </a:lnSpc>
              <a:buNone/>
            </a:pPr>
            <a:r>
              <a:rPr lang="en-US" sz="2100" dirty="0">
                <a:solidFill>
                  <a:srgbClr val="161616"/>
                </a:solidFill>
                <a:latin typeface="Arial" pitchFamily="34" charset="0"/>
                <a:ea typeface="Arial" pitchFamily="34" charset="-122"/>
                <a:cs typeface="Arial" pitchFamily="34" charset="-120"/>
              </a:rPr>
              <a:t>listos para implementar.</a:t>
            </a:r>
            <a:endParaRPr lang="en-US" sz="2100" dirty="0"/>
          </a:p>
        </p:txBody>
      </p:sp>
      <p:sp>
        <p:nvSpPr>
          <p:cNvPr id="9" name="Text 7"/>
          <p:cNvSpPr/>
          <p:nvPr/>
        </p:nvSpPr>
        <p:spPr>
          <a:xfrm>
            <a:off x="5219700" y="6050012"/>
            <a:ext cx="12291060" cy="398115"/>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161616"/>
                </a:solidFill>
                <a:latin typeface="Arial" pitchFamily="34" charset="0"/>
                <a:ea typeface="Arial" pitchFamily="34" charset="-122"/>
                <a:cs typeface="Arial" pitchFamily="34" charset="-120"/>
              </a:rPr>
              <a:t>GPTs y agentes ya construidos para tareas ejecutivas.</a:t>
            </a:r>
            <a:endParaRPr lang="en-US" sz="2100" dirty="0"/>
          </a:p>
        </p:txBody>
      </p:sp>
      <p:sp>
        <p:nvSpPr>
          <p:cNvPr id="10" name="Text 8"/>
          <p:cNvSpPr/>
          <p:nvPr/>
        </p:nvSpPr>
        <p:spPr>
          <a:xfrm>
            <a:off x="5219700" y="6581477"/>
            <a:ext cx="12291060" cy="398115"/>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161616"/>
                </a:solidFill>
                <a:latin typeface="Arial" pitchFamily="34" charset="0"/>
                <a:ea typeface="Arial" pitchFamily="34" charset="-122"/>
                <a:cs typeface="Arial" pitchFamily="34" charset="-120"/>
              </a:rPr>
              <a:t>Crece cada semana con las novedades que importan.</a:t>
            </a:r>
            <a:endParaRPr lang="en-US" sz="2100" dirty="0"/>
          </a:p>
        </p:txBody>
      </p:sp>
      <p:sp>
        <p:nvSpPr>
          <p:cNvPr id="11" name="Shape 9"/>
          <p:cNvSpPr/>
          <p:nvPr/>
        </p:nvSpPr>
        <p:spPr>
          <a:xfrm>
            <a:off x="4953000" y="7322493"/>
            <a:ext cx="10477500" cy="9525"/>
          </a:xfrm>
          <a:prstGeom prst="rect">
            <a:avLst/>
          </a:prstGeom>
          <a:solidFill>
            <a:srgbClr val="D9D2C5"/>
          </a:solidFill>
          <a:ln/>
        </p:spPr>
      </p:sp>
      <p:sp>
        <p:nvSpPr>
          <p:cNvPr id="12" name="Text 10"/>
          <p:cNvSpPr/>
          <p:nvPr/>
        </p:nvSpPr>
        <p:spPr>
          <a:xfrm>
            <a:off x="4953000" y="7598718"/>
            <a:ext cx="10791825" cy="434280"/>
          </a:xfrm>
          <a:prstGeom prst="rect">
            <a:avLst/>
          </a:prstGeom>
          <a:noFill/>
          <a:ln/>
        </p:spPr>
        <p:txBody>
          <a:bodyPr wrap="square" lIns="25400" tIns="25400" rIns="25400" bIns="25400" rtlCol="0" anchor="t">
            <a:normAutofit/>
          </a:bodyPr>
          <a:lstStyle/>
          <a:p>
            <a:pPr algn="l" indent="0" marL="0">
              <a:lnSpc>
                <a:spcPct val="130000"/>
              </a:lnSpc>
              <a:buNone/>
            </a:pPr>
            <a:r>
              <a:rPr lang="en-US" sz="2400" i="1" dirty="0">
                <a:solidFill>
                  <a:srgbClr val="161616"/>
                </a:solidFill>
                <a:latin typeface="Georgia" pitchFamily="34" charset="0"/>
                <a:ea typeface="Georgia" pitchFamily="34" charset="-122"/>
                <a:cs typeface="Georgia" pitchFamily="34" charset="-120"/>
              </a:rPr>
              <a:t>38 guías. 9 PDFs técnicos. Workflows reales. Y subiendo.</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F5F2EC"/>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7A766F"/>
                </a:solidFill>
                <a:latin typeface="Arial" pitchFamily="34" charset="0"/>
                <a:ea typeface="Arial" pitchFamily="34" charset="-122"/>
                <a:cs typeface="Arial" pitchFamily="34" charset="-120"/>
              </a:rPr>
              <a:t>35 / 42</a:t>
            </a:r>
            <a:endParaRPr lang="en-US" sz="1800" dirty="0"/>
          </a:p>
        </p:txBody>
      </p:sp>
      <p:sp>
        <p:nvSpPr>
          <p:cNvPr id="4" name="Text 2"/>
          <p:cNvSpPr/>
          <p:nvPr/>
        </p:nvSpPr>
        <p:spPr>
          <a:xfrm>
            <a:off x="1143000" y="2292102"/>
            <a:ext cx="3139440" cy="2305050"/>
          </a:xfrm>
          <a:prstGeom prst="rect">
            <a:avLst/>
          </a:prstGeom>
          <a:noFill/>
          <a:ln/>
        </p:spPr>
        <p:txBody>
          <a:bodyPr wrap="square" lIns="25400" tIns="25400" rIns="25400" bIns="25400" rtlCol="0" anchor="t">
            <a:normAutofit/>
          </a:bodyPr>
          <a:lstStyle/>
          <a:p>
            <a:pPr algn="l" indent="0" marL="0">
              <a:lnSpc>
                <a:spcPct val="85000"/>
              </a:lnSpc>
              <a:buNone/>
            </a:pPr>
            <a:r>
              <a:rPr lang="en-US" sz="21000" spc="-840" kern="0" dirty="0">
                <a:solidFill>
                  <a:srgbClr val="EC4429"/>
                </a:solidFill>
                <a:latin typeface="Georgia" pitchFamily="34" charset="0"/>
                <a:ea typeface="Georgia" pitchFamily="34" charset="-122"/>
                <a:cs typeface="Georgia" pitchFamily="34" charset="-120"/>
              </a:rPr>
              <a:t>04</a:t>
            </a:r>
            <a:endParaRPr lang="en-US" sz="21000" dirty="0"/>
          </a:p>
        </p:txBody>
      </p:sp>
      <p:sp>
        <p:nvSpPr>
          <p:cNvPr id="5" name="Text 3"/>
          <p:cNvSpPr/>
          <p:nvPr/>
        </p:nvSpPr>
        <p:spPr>
          <a:xfrm>
            <a:off x="4953000" y="2292102"/>
            <a:ext cx="10791825" cy="1670149"/>
          </a:xfrm>
          <a:prstGeom prst="rect">
            <a:avLst/>
          </a:prstGeom>
          <a:noFill/>
          <a:ln/>
        </p:spPr>
        <p:txBody>
          <a:bodyPr wrap="square" lIns="25400" tIns="25400" rIns="25400" bIns="25400" rtlCol="0" anchor="t">
            <a:normAutofit/>
          </a:bodyPr>
          <a:lstStyle/>
          <a:p>
            <a:pPr algn="l" indent="0" marL="0">
              <a:lnSpc>
                <a:spcPct val="102000"/>
              </a:lnSpc>
              <a:buNone/>
            </a:pPr>
            <a:r>
              <a:rPr lang="en-US" sz="6300" b="1" spc="-126" kern="0" dirty="0">
                <a:solidFill>
                  <a:srgbClr val="F5F2EC"/>
                </a:solidFill>
                <a:latin typeface="Georgia" pitchFamily="34" charset="0"/>
                <a:ea typeface="Georgia" pitchFamily="34" charset="-122"/>
                <a:cs typeface="Georgia" pitchFamily="34" charset="-120"/>
              </a:rPr>
              <a:t>Te conectamos con directivos como tú</a:t>
            </a:r>
            <a:pPr algn="l" indent="0" marL="0">
              <a:lnSpc>
                <a:spcPct val="102000"/>
              </a:lnSpc>
              <a:buNone/>
            </a:pPr>
            <a:r>
              <a:rPr lang="en-US" sz="6300" b="1" spc="-126" kern="0" dirty="0">
                <a:solidFill>
                  <a:srgbClr val="EC4429"/>
                </a:solidFill>
                <a:latin typeface="Georgia" pitchFamily="34" charset="0"/>
                <a:ea typeface="Georgia" pitchFamily="34" charset="-122"/>
                <a:cs typeface="Georgia" pitchFamily="34" charset="-120"/>
              </a:rPr>
              <a:t>.</a:t>
            </a:r>
            <a:endParaRPr lang="en-US" sz="6300" dirty="0"/>
          </a:p>
        </p:txBody>
      </p:sp>
      <p:sp>
        <p:nvSpPr>
          <p:cNvPr id="6" name="Text 4"/>
          <p:cNvSpPr/>
          <p:nvPr/>
        </p:nvSpPr>
        <p:spPr>
          <a:xfrm>
            <a:off x="4953000" y="4190851"/>
            <a:ext cx="10791825" cy="434280"/>
          </a:xfrm>
          <a:prstGeom prst="rect">
            <a:avLst/>
          </a:prstGeom>
          <a:noFill/>
          <a:ln/>
        </p:spPr>
        <p:txBody>
          <a:bodyPr wrap="square" lIns="25400" tIns="25400" rIns="25400" bIns="25400" rtlCol="0" anchor="t">
            <a:normAutofit/>
          </a:bodyPr>
          <a:lstStyle/>
          <a:p>
            <a:pPr algn="l" indent="0" marL="0">
              <a:lnSpc>
                <a:spcPct val="130000"/>
              </a:lnSpc>
              <a:buNone/>
            </a:pPr>
            <a:r>
              <a:rPr lang="en-US" sz="2400" dirty="0">
                <a:solidFill>
                  <a:srgbClr val="B8B2A8"/>
                </a:solidFill>
                <a:latin typeface="Arial" pitchFamily="34" charset="0"/>
                <a:ea typeface="Arial" pitchFamily="34" charset="-122"/>
                <a:cs typeface="Arial" pitchFamily="34" charset="-120"/>
              </a:rPr>
              <a:t>No estás solo resolviendo un problema nuevo.</a:t>
            </a:r>
            <a:endParaRPr lang="en-US" sz="2400" dirty="0"/>
          </a:p>
        </p:txBody>
      </p:sp>
      <p:sp>
        <p:nvSpPr>
          <p:cNvPr id="7" name="Text 5"/>
          <p:cNvSpPr/>
          <p:nvPr/>
        </p:nvSpPr>
        <p:spPr>
          <a:xfrm>
            <a:off x="5219700" y="4968032"/>
            <a:ext cx="12291060" cy="407640"/>
          </a:xfrm>
          <a:prstGeom prst="rect">
            <a:avLst/>
          </a:prstGeom>
          <a:noFill/>
          <a:ln/>
        </p:spPr>
        <p:txBody>
          <a:bodyPr wrap="square" lIns="25400" tIns="25400" rIns="25400" bIns="25400" rtlCol="0" anchor="t">
            <a:normAutofit/>
          </a:bodyPr>
          <a:lstStyle/>
          <a:p>
            <a:pPr algn="l" indent="0" marL="0">
              <a:lnSpc>
                <a:spcPct val="135000"/>
              </a:lnSpc>
              <a:buNone/>
            </a:pPr>
            <a:r>
              <a:rPr lang="en-US" sz="2100" b="1" dirty="0">
                <a:solidFill>
                  <a:srgbClr val="F5F2EC"/>
                </a:solidFill>
                <a:latin typeface="Arial" pitchFamily="34" charset="0"/>
                <a:ea typeface="Arial" pitchFamily="34" charset="-122"/>
                <a:cs typeface="Arial" pitchFamily="34" charset="-120"/>
              </a:rPr>
              <a:t>+200 directivos </a:t>
            </a:r>
            <a:pPr algn="l" indent="0" marL="0">
              <a:lnSpc>
                <a:spcPct val="135000"/>
              </a:lnSpc>
              <a:buNone/>
            </a:pPr>
            <a:r>
              <a:rPr lang="en-US" sz="2100" dirty="0">
                <a:solidFill>
                  <a:srgbClr val="F5F2EC"/>
                </a:solidFill>
                <a:latin typeface="Arial" pitchFamily="34" charset="0"/>
                <a:ea typeface="Arial" pitchFamily="34" charset="-122"/>
                <a:cs typeface="Arial" pitchFamily="34" charset="-120"/>
              </a:rPr>
              <a:t>activos en la comunidad.</a:t>
            </a:r>
            <a:endParaRPr lang="en-US" sz="2100" dirty="0"/>
          </a:p>
        </p:txBody>
      </p:sp>
      <p:sp>
        <p:nvSpPr>
          <p:cNvPr id="8" name="Text 6"/>
          <p:cNvSpPr/>
          <p:nvPr/>
        </p:nvSpPr>
        <p:spPr>
          <a:xfrm>
            <a:off x="5219700" y="5509022"/>
            <a:ext cx="12291060" cy="407640"/>
          </a:xfrm>
          <a:prstGeom prst="rect">
            <a:avLst/>
          </a:prstGeom>
          <a:noFill/>
          <a:ln/>
        </p:spPr>
        <p:txBody>
          <a:bodyPr wrap="square" lIns="25400" tIns="25400" rIns="25400" bIns="25400" rtlCol="0" anchor="t">
            <a:normAutofit/>
          </a:bodyPr>
          <a:lstStyle/>
          <a:p>
            <a:pPr algn="l" indent="0" marL="0">
              <a:lnSpc>
                <a:spcPct val="135000"/>
              </a:lnSpc>
              <a:buNone/>
            </a:pPr>
            <a:r>
              <a:rPr lang="en-US" sz="2100" b="1" dirty="0">
                <a:solidFill>
                  <a:srgbClr val="F5F2EC"/>
                </a:solidFill>
                <a:latin typeface="Arial" pitchFamily="34" charset="0"/>
                <a:ea typeface="Arial" pitchFamily="34" charset="-122"/>
                <a:cs typeface="Arial" pitchFamily="34" charset="-120"/>
              </a:rPr>
              <a:t>+20 sectores </a:t>
            </a:r>
            <a:pPr algn="l" indent="0" marL="0">
              <a:lnSpc>
                <a:spcPct val="135000"/>
              </a:lnSpc>
              <a:buNone/>
            </a:pPr>
            <a:r>
              <a:rPr lang="en-US" sz="2100" dirty="0">
                <a:solidFill>
                  <a:srgbClr val="F5F2EC"/>
                </a:solidFill>
                <a:latin typeface="Arial" pitchFamily="34" charset="0"/>
                <a:ea typeface="Arial" pitchFamily="34" charset="-122"/>
                <a:cs typeface="Arial" pitchFamily="34" charset="-120"/>
              </a:rPr>
              <a:t>representados.</a:t>
            </a:r>
            <a:endParaRPr lang="en-US" sz="2100" dirty="0"/>
          </a:p>
        </p:txBody>
      </p:sp>
      <p:sp>
        <p:nvSpPr>
          <p:cNvPr id="9" name="Text 7"/>
          <p:cNvSpPr/>
          <p:nvPr/>
        </p:nvSpPr>
        <p:spPr>
          <a:xfrm>
            <a:off x="5219700" y="6050012"/>
            <a:ext cx="12291060" cy="398115"/>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F5F2EC"/>
                </a:solidFill>
                <a:latin typeface="Arial" pitchFamily="34" charset="0"/>
                <a:ea typeface="Arial" pitchFamily="34" charset="-122"/>
                <a:cs typeface="Arial" pitchFamily="34" charset="-120"/>
              </a:rPr>
              <a:t>Sesiones de sinergias entre alumnos.</a:t>
            </a:r>
            <a:endParaRPr lang="en-US" sz="2100" dirty="0"/>
          </a:p>
        </p:txBody>
      </p:sp>
      <p:sp>
        <p:nvSpPr>
          <p:cNvPr id="10" name="Text 8"/>
          <p:cNvSpPr/>
          <p:nvPr/>
        </p:nvSpPr>
        <p:spPr>
          <a:xfrm>
            <a:off x="5219700" y="6581477"/>
            <a:ext cx="12291060" cy="398115"/>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F5F2EC"/>
                </a:solidFill>
                <a:latin typeface="Arial" pitchFamily="34" charset="0"/>
                <a:ea typeface="Arial" pitchFamily="34" charset="-122"/>
                <a:cs typeface="Arial" pitchFamily="34" charset="-120"/>
              </a:rPr>
              <a:t>Chat privado 24/7 donde ves qué está funcionando en otras empresas.</a:t>
            </a:r>
            <a:endParaRPr lang="en-US" sz="2100" dirty="0"/>
          </a:p>
        </p:txBody>
      </p:sp>
      <p:sp>
        <p:nvSpPr>
          <p:cNvPr id="11" name="Shape 9"/>
          <p:cNvSpPr/>
          <p:nvPr/>
        </p:nvSpPr>
        <p:spPr>
          <a:xfrm>
            <a:off x="4953000" y="7322493"/>
            <a:ext cx="10477500" cy="9525"/>
          </a:xfrm>
          <a:prstGeom prst="rect">
            <a:avLst/>
          </a:prstGeom>
          <a:solidFill>
            <a:srgbClr val="2E2E2E"/>
          </a:solidFill>
          <a:ln/>
        </p:spPr>
      </p:sp>
      <p:sp>
        <p:nvSpPr>
          <p:cNvPr id="12" name="Text 10"/>
          <p:cNvSpPr/>
          <p:nvPr/>
        </p:nvSpPr>
        <p:spPr>
          <a:xfrm>
            <a:off x="4953000" y="7598718"/>
            <a:ext cx="10791825" cy="434280"/>
          </a:xfrm>
          <a:prstGeom prst="rect">
            <a:avLst/>
          </a:prstGeom>
          <a:noFill/>
          <a:ln/>
        </p:spPr>
        <p:txBody>
          <a:bodyPr wrap="square" lIns="25400" tIns="25400" rIns="25400" bIns="25400" rtlCol="0" anchor="t">
            <a:normAutofit/>
          </a:bodyPr>
          <a:lstStyle/>
          <a:p>
            <a:pPr algn="l" indent="0" marL="0">
              <a:lnSpc>
                <a:spcPct val="130000"/>
              </a:lnSpc>
              <a:buNone/>
            </a:pPr>
            <a:r>
              <a:rPr lang="en-US" sz="2400" i="1" dirty="0">
                <a:solidFill>
                  <a:srgbClr val="F5F2EC"/>
                </a:solidFill>
                <a:latin typeface="Georgia" pitchFamily="34" charset="0"/>
                <a:ea typeface="Georgia" pitchFamily="34" charset="-122"/>
                <a:cs typeface="Georgia" pitchFamily="34" charset="-120"/>
              </a:rPr>
              <a:t>Implementar IA es un problema nuevo. Aquí no estás solo resolviéndolo.</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61616"/>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A5A5A"/>
                </a:solidFill>
                <a:latin typeface="Arial" pitchFamily="34" charset="0"/>
                <a:ea typeface="Arial" pitchFamily="34" charset="-122"/>
                <a:cs typeface="Arial" pitchFamily="34" charset="-120"/>
              </a:rPr>
              <a:t>36 / 42</a:t>
            </a:r>
            <a:endParaRPr lang="en-US" sz="1800" dirty="0"/>
          </a:p>
        </p:txBody>
      </p:sp>
      <p:sp>
        <p:nvSpPr>
          <p:cNvPr id="4" name="Text 2"/>
          <p:cNvSpPr/>
          <p:nvPr/>
        </p:nvSpPr>
        <p:spPr>
          <a:xfrm>
            <a:off x="1143000" y="914400"/>
            <a:ext cx="6674682" cy="342900"/>
          </a:xfrm>
          <a:prstGeom prst="rect">
            <a:avLst/>
          </a:prstGeom>
          <a:noFill/>
          <a:ln/>
        </p:spPr>
        <p:txBody>
          <a:bodyPr wrap="square" lIns="25400" tIns="25400" rIns="25400" bIns="25400" rtlCol="0" anchor="t">
            <a:normAutofit/>
          </a:bodyPr>
          <a:lstStyle/>
          <a:p>
            <a:pPr algn="l" indent="0" marL="0">
              <a:buNone/>
            </a:pPr>
            <a:r>
              <a:rPr lang="en-US" sz="1950" b="1" spc="429" kern="0" dirty="0">
                <a:solidFill>
                  <a:srgbClr val="EC4429"/>
                </a:solidFill>
                <a:latin typeface="Arial" pitchFamily="34" charset="0"/>
                <a:ea typeface="Arial" pitchFamily="34" charset="-122"/>
                <a:cs typeface="Arial" pitchFamily="34" charset="-120"/>
              </a:rPr>
              <a:t>19</a:t>
            </a:r>
            <a:endParaRPr lang="en-US" sz="1950" dirty="0"/>
          </a:p>
        </p:txBody>
      </p:sp>
      <p:sp>
        <p:nvSpPr>
          <p:cNvPr id="5" name="Text 3"/>
          <p:cNvSpPr/>
          <p:nvPr/>
        </p:nvSpPr>
        <p:spPr>
          <a:xfrm>
            <a:off x="1143000" y="1447800"/>
            <a:ext cx="6674682" cy="2058888"/>
          </a:xfrm>
          <a:prstGeom prst="rect">
            <a:avLst/>
          </a:prstGeom>
          <a:noFill/>
          <a:ln/>
        </p:spPr>
        <p:txBody>
          <a:bodyPr wrap="square" lIns="25400" tIns="25400" rIns="25400" bIns="25400" rtlCol="0" anchor="t">
            <a:normAutofit/>
          </a:bodyPr>
          <a:lstStyle/>
          <a:p>
            <a:pPr algn="l" indent="0" marL="0">
              <a:lnSpc>
                <a:spcPct val="102000"/>
              </a:lnSpc>
              <a:buNone/>
            </a:pPr>
            <a:r>
              <a:rPr lang="en-US" sz="7800" spc="-172" kern="0" dirty="0">
                <a:solidFill>
                  <a:srgbClr val="161616"/>
                </a:solidFill>
                <a:latin typeface="Georgia" pitchFamily="34" charset="0"/>
                <a:ea typeface="Georgia" pitchFamily="34" charset="-122"/>
                <a:cs typeface="Georgia" pitchFamily="34" charset="-120"/>
              </a:rPr>
              <a:t>Para quién </a:t>
            </a:r>
            <a:pPr algn="l" indent="0" marL="0">
              <a:lnSpc>
                <a:spcPct val="102000"/>
              </a:lnSpc>
              <a:buNone/>
            </a:pPr>
            <a:r>
              <a:rPr lang="en-US" sz="7800" i="1" spc="-172" kern="0" dirty="0">
                <a:solidFill>
                  <a:srgbClr val="EC4429"/>
                </a:solidFill>
                <a:latin typeface="Georgia" pitchFamily="34" charset="0"/>
                <a:ea typeface="Georgia" pitchFamily="34" charset="-122"/>
                <a:cs typeface="Georgia" pitchFamily="34" charset="-120"/>
              </a:rPr>
              <a:t>sí </a:t>
            </a:r>
            <a:pPr algn="l" indent="0" marL="0">
              <a:lnSpc>
                <a:spcPct val="102000"/>
              </a:lnSpc>
              <a:buNone/>
            </a:pPr>
            <a:r>
              <a:rPr lang="en-US" sz="7800" spc="-172" kern="0" dirty="0">
                <a:solidFill>
                  <a:srgbClr val="161616"/>
                </a:solidFill>
                <a:latin typeface="Georgia" pitchFamily="34" charset="0"/>
                <a:ea typeface="Georgia" pitchFamily="34" charset="-122"/>
                <a:cs typeface="Georgia" pitchFamily="34" charset="-120"/>
              </a:rPr>
              <a:t>es Executive Lab</a:t>
            </a:r>
            <a:pPr algn="l" indent="0" marL="0">
              <a:lnSpc>
                <a:spcPct val="102000"/>
              </a:lnSpc>
              <a:buNone/>
            </a:pPr>
            <a:r>
              <a:rPr lang="en-US" sz="7800" spc="-172" kern="0" dirty="0">
                <a:solidFill>
                  <a:srgbClr val="EC4429"/>
                </a:solidFill>
                <a:latin typeface="Georgia" pitchFamily="34" charset="0"/>
                <a:ea typeface="Georgia" pitchFamily="34" charset="-122"/>
                <a:cs typeface="Georgia" pitchFamily="34" charset="-120"/>
              </a:rPr>
              <a:t>*</a:t>
            </a:r>
            <a:endParaRPr lang="en-US" sz="7800" dirty="0"/>
          </a:p>
        </p:txBody>
      </p:sp>
      <p:sp>
        <p:nvSpPr>
          <p:cNvPr id="6" name="Shape 4"/>
          <p:cNvSpPr/>
          <p:nvPr/>
        </p:nvSpPr>
        <p:spPr>
          <a:xfrm>
            <a:off x="1143000" y="5219105"/>
            <a:ext cx="15240000" cy="9525"/>
          </a:xfrm>
          <a:prstGeom prst="rect">
            <a:avLst/>
          </a:prstGeom>
          <a:solidFill>
            <a:srgbClr val="D9D2C5"/>
          </a:solidFill>
          <a:ln/>
        </p:spPr>
      </p:sp>
      <p:sp>
        <p:nvSpPr>
          <p:cNvPr id="7" name="Text 5"/>
          <p:cNvSpPr/>
          <p:nvPr/>
        </p:nvSpPr>
        <p:spPr>
          <a:xfrm>
            <a:off x="1104900" y="3925788"/>
            <a:ext cx="762000" cy="647700"/>
          </a:xfrm>
          <a:prstGeom prst="rect">
            <a:avLst/>
          </a:prstGeom>
          <a:noFill/>
          <a:ln/>
        </p:spPr>
        <p:txBody>
          <a:bodyPr wrap="square" lIns="25400" tIns="25400" rIns="25400" bIns="25400" rtlCol="0" anchor="t">
            <a:normAutofit/>
          </a:bodyPr>
          <a:lstStyle/>
          <a:p>
            <a:pPr algn="ctr" indent="0" marL="0">
              <a:lnSpc>
                <a:spcPct val="100000"/>
              </a:lnSpc>
              <a:buNone/>
            </a:pPr>
            <a:r>
              <a:rPr lang="en-US" sz="4800" dirty="0">
                <a:solidFill>
                  <a:srgbClr val="EC4429"/>
                </a:solidFill>
                <a:latin typeface="Georgia" pitchFamily="34" charset="0"/>
                <a:ea typeface="Georgia" pitchFamily="34" charset="-122"/>
                <a:cs typeface="Georgia" pitchFamily="34" charset="-120"/>
              </a:rPr>
              <a:t>✓</a:t>
            </a:r>
            <a:endParaRPr lang="en-US" sz="4800" dirty="0"/>
          </a:p>
        </p:txBody>
      </p:sp>
      <p:sp>
        <p:nvSpPr>
          <p:cNvPr id="8" name="Text 6"/>
          <p:cNvSpPr/>
          <p:nvPr/>
        </p:nvSpPr>
        <p:spPr>
          <a:xfrm>
            <a:off x="2095500" y="4116288"/>
            <a:ext cx="14716125" cy="912316"/>
          </a:xfrm>
          <a:prstGeom prst="rect">
            <a:avLst/>
          </a:prstGeom>
          <a:noFill/>
          <a:ln/>
        </p:spPr>
        <p:txBody>
          <a:bodyPr wrap="square" lIns="25400" tIns="25400" rIns="25400" bIns="25400" rtlCol="0" anchor="t">
            <a:normAutofit/>
          </a:bodyPr>
          <a:lstStyle/>
          <a:p>
            <a:pPr algn="l" indent="0" marL="0">
              <a:lnSpc>
                <a:spcPct val="135000"/>
              </a:lnSpc>
              <a:buNone/>
            </a:pPr>
            <a:r>
              <a:rPr lang="en-US" sz="2550" dirty="0">
                <a:solidFill>
                  <a:srgbClr val="161616"/>
                </a:solidFill>
                <a:latin typeface="Arial" pitchFamily="34" charset="0"/>
                <a:ea typeface="Arial" pitchFamily="34" charset="-122"/>
                <a:cs typeface="Arial" pitchFamily="34" charset="-120"/>
              </a:rPr>
              <a:t>Eres directivo, ejecutivo o empresario y quieres liderar la adopción de IA con criterio, no improvisando.</a:t>
            </a:r>
            <a:endParaRPr lang="en-US" sz="2550" dirty="0"/>
          </a:p>
        </p:txBody>
      </p:sp>
      <p:sp>
        <p:nvSpPr>
          <p:cNvPr id="9" name="Shape 7"/>
          <p:cNvSpPr/>
          <p:nvPr/>
        </p:nvSpPr>
        <p:spPr>
          <a:xfrm>
            <a:off x="1143000" y="6351538"/>
            <a:ext cx="15240000" cy="9525"/>
          </a:xfrm>
          <a:prstGeom prst="rect">
            <a:avLst/>
          </a:prstGeom>
          <a:solidFill>
            <a:srgbClr val="D9D2C5"/>
          </a:solidFill>
          <a:ln/>
        </p:spPr>
      </p:sp>
      <p:sp>
        <p:nvSpPr>
          <p:cNvPr id="10" name="Text 8"/>
          <p:cNvSpPr/>
          <p:nvPr/>
        </p:nvSpPr>
        <p:spPr>
          <a:xfrm>
            <a:off x="1104900" y="5495330"/>
            <a:ext cx="762000" cy="647700"/>
          </a:xfrm>
          <a:prstGeom prst="rect">
            <a:avLst/>
          </a:prstGeom>
          <a:noFill/>
          <a:ln/>
        </p:spPr>
        <p:txBody>
          <a:bodyPr wrap="square" lIns="25400" tIns="25400" rIns="25400" bIns="25400" rtlCol="0" anchor="t">
            <a:normAutofit/>
          </a:bodyPr>
          <a:lstStyle/>
          <a:p>
            <a:pPr algn="ctr" indent="0" marL="0">
              <a:lnSpc>
                <a:spcPct val="100000"/>
              </a:lnSpc>
              <a:buNone/>
            </a:pPr>
            <a:r>
              <a:rPr lang="en-US" sz="4800" dirty="0">
                <a:solidFill>
                  <a:srgbClr val="EC4429"/>
                </a:solidFill>
                <a:latin typeface="Georgia" pitchFamily="34" charset="0"/>
                <a:ea typeface="Georgia" pitchFamily="34" charset="-122"/>
                <a:cs typeface="Georgia" pitchFamily="34" charset="-120"/>
              </a:rPr>
              <a:t>✓</a:t>
            </a:r>
            <a:endParaRPr lang="en-US" sz="4800" dirty="0"/>
          </a:p>
        </p:txBody>
      </p:sp>
      <p:sp>
        <p:nvSpPr>
          <p:cNvPr id="11" name="Text 9"/>
          <p:cNvSpPr/>
          <p:nvPr/>
        </p:nvSpPr>
        <p:spPr>
          <a:xfrm>
            <a:off x="2095500" y="5685830"/>
            <a:ext cx="14716125" cy="475208"/>
          </a:xfrm>
          <a:prstGeom prst="rect">
            <a:avLst/>
          </a:prstGeom>
          <a:noFill/>
          <a:ln/>
        </p:spPr>
        <p:txBody>
          <a:bodyPr wrap="square" lIns="25400" tIns="25400" rIns="25400" bIns="25400" rtlCol="0" anchor="t">
            <a:normAutofit/>
          </a:bodyPr>
          <a:lstStyle/>
          <a:p>
            <a:pPr algn="l" indent="0" marL="0">
              <a:lnSpc>
                <a:spcPct val="135000"/>
              </a:lnSpc>
              <a:buNone/>
            </a:pPr>
            <a:r>
              <a:rPr lang="en-US" sz="2550" dirty="0">
                <a:solidFill>
                  <a:srgbClr val="161616"/>
                </a:solidFill>
                <a:latin typeface="Arial" pitchFamily="34" charset="0"/>
                <a:ea typeface="Arial" pitchFamily="34" charset="-122"/>
                <a:cs typeface="Arial" pitchFamily="34" charset="-120"/>
              </a:rPr>
              <a:t>Ya has probado herramientas sueltas y te falta criterio para decidir qué aplicar, dónde y cómo.</a:t>
            </a:r>
            <a:endParaRPr lang="en-US" sz="2550" dirty="0"/>
          </a:p>
        </p:txBody>
      </p:sp>
      <p:sp>
        <p:nvSpPr>
          <p:cNvPr id="12" name="Shape 10"/>
          <p:cNvSpPr/>
          <p:nvPr/>
        </p:nvSpPr>
        <p:spPr>
          <a:xfrm>
            <a:off x="1143000" y="7483971"/>
            <a:ext cx="15240000" cy="9525"/>
          </a:xfrm>
          <a:prstGeom prst="rect">
            <a:avLst/>
          </a:prstGeom>
          <a:solidFill>
            <a:srgbClr val="D9D2C5"/>
          </a:solidFill>
          <a:ln/>
        </p:spPr>
      </p:sp>
      <p:sp>
        <p:nvSpPr>
          <p:cNvPr id="13" name="Text 11"/>
          <p:cNvSpPr/>
          <p:nvPr/>
        </p:nvSpPr>
        <p:spPr>
          <a:xfrm>
            <a:off x="1104900" y="6627763"/>
            <a:ext cx="762000" cy="647700"/>
          </a:xfrm>
          <a:prstGeom prst="rect">
            <a:avLst/>
          </a:prstGeom>
          <a:noFill/>
          <a:ln/>
        </p:spPr>
        <p:txBody>
          <a:bodyPr wrap="square" lIns="25400" tIns="25400" rIns="25400" bIns="25400" rtlCol="0" anchor="t">
            <a:normAutofit/>
          </a:bodyPr>
          <a:lstStyle/>
          <a:p>
            <a:pPr algn="ctr" indent="0" marL="0">
              <a:lnSpc>
                <a:spcPct val="100000"/>
              </a:lnSpc>
              <a:buNone/>
            </a:pPr>
            <a:r>
              <a:rPr lang="en-US" sz="4800" dirty="0">
                <a:solidFill>
                  <a:srgbClr val="EC4429"/>
                </a:solidFill>
                <a:latin typeface="Georgia" pitchFamily="34" charset="0"/>
                <a:ea typeface="Georgia" pitchFamily="34" charset="-122"/>
                <a:cs typeface="Georgia" pitchFamily="34" charset="-120"/>
              </a:rPr>
              <a:t>✓</a:t>
            </a:r>
            <a:endParaRPr lang="en-US" sz="4800" dirty="0"/>
          </a:p>
        </p:txBody>
      </p:sp>
      <p:sp>
        <p:nvSpPr>
          <p:cNvPr id="14" name="Text 12"/>
          <p:cNvSpPr/>
          <p:nvPr/>
        </p:nvSpPr>
        <p:spPr>
          <a:xfrm>
            <a:off x="2095500" y="6818263"/>
            <a:ext cx="14716125" cy="475208"/>
          </a:xfrm>
          <a:prstGeom prst="rect">
            <a:avLst/>
          </a:prstGeom>
          <a:noFill/>
          <a:ln/>
        </p:spPr>
        <p:txBody>
          <a:bodyPr wrap="square" lIns="25400" tIns="25400" rIns="25400" bIns="25400" rtlCol="0" anchor="t">
            <a:normAutofit/>
          </a:bodyPr>
          <a:lstStyle/>
          <a:p>
            <a:pPr algn="l" indent="0" marL="0">
              <a:lnSpc>
                <a:spcPct val="135000"/>
              </a:lnSpc>
              <a:buNone/>
            </a:pPr>
            <a:r>
              <a:rPr lang="en-US" sz="2550" dirty="0">
                <a:solidFill>
                  <a:srgbClr val="161616"/>
                </a:solidFill>
                <a:latin typeface="Arial" pitchFamily="34" charset="0"/>
                <a:ea typeface="Arial" pitchFamily="34" charset="-122"/>
                <a:cs typeface="Arial" pitchFamily="34" charset="-120"/>
              </a:rPr>
              <a:t>Estás gastando tiempo o dinero en IA sin medir retorno o sin saber si inviertes bien.</a:t>
            </a:r>
            <a:endParaRPr lang="en-US" sz="2550" dirty="0"/>
          </a:p>
        </p:txBody>
      </p:sp>
      <p:sp>
        <p:nvSpPr>
          <p:cNvPr id="15" name="Shape 13"/>
          <p:cNvSpPr/>
          <p:nvPr/>
        </p:nvSpPr>
        <p:spPr>
          <a:xfrm>
            <a:off x="1143000" y="8616404"/>
            <a:ext cx="15240000" cy="9525"/>
          </a:xfrm>
          <a:prstGeom prst="rect">
            <a:avLst/>
          </a:prstGeom>
          <a:solidFill>
            <a:srgbClr val="D9D2C5"/>
          </a:solidFill>
          <a:ln/>
        </p:spPr>
      </p:sp>
      <p:sp>
        <p:nvSpPr>
          <p:cNvPr id="16" name="Text 14"/>
          <p:cNvSpPr/>
          <p:nvPr/>
        </p:nvSpPr>
        <p:spPr>
          <a:xfrm>
            <a:off x="1104900" y="7760196"/>
            <a:ext cx="762000" cy="647700"/>
          </a:xfrm>
          <a:prstGeom prst="rect">
            <a:avLst/>
          </a:prstGeom>
          <a:noFill/>
          <a:ln/>
        </p:spPr>
        <p:txBody>
          <a:bodyPr wrap="square" lIns="25400" tIns="25400" rIns="25400" bIns="25400" rtlCol="0" anchor="t">
            <a:normAutofit/>
          </a:bodyPr>
          <a:lstStyle/>
          <a:p>
            <a:pPr algn="ctr" indent="0" marL="0">
              <a:lnSpc>
                <a:spcPct val="100000"/>
              </a:lnSpc>
              <a:buNone/>
            </a:pPr>
            <a:r>
              <a:rPr lang="en-US" sz="4800" dirty="0">
                <a:solidFill>
                  <a:srgbClr val="EC4429"/>
                </a:solidFill>
                <a:latin typeface="Georgia" pitchFamily="34" charset="0"/>
                <a:ea typeface="Georgia" pitchFamily="34" charset="-122"/>
                <a:cs typeface="Georgia" pitchFamily="34" charset="-120"/>
              </a:rPr>
              <a:t>✓</a:t>
            </a:r>
            <a:endParaRPr lang="en-US" sz="4800" dirty="0"/>
          </a:p>
        </p:txBody>
      </p:sp>
      <p:sp>
        <p:nvSpPr>
          <p:cNvPr id="17" name="Text 15"/>
          <p:cNvSpPr/>
          <p:nvPr/>
        </p:nvSpPr>
        <p:spPr>
          <a:xfrm>
            <a:off x="2095500" y="7950696"/>
            <a:ext cx="14716125" cy="475208"/>
          </a:xfrm>
          <a:prstGeom prst="rect">
            <a:avLst/>
          </a:prstGeom>
          <a:noFill/>
          <a:ln/>
        </p:spPr>
        <p:txBody>
          <a:bodyPr wrap="square" lIns="25400" tIns="25400" rIns="25400" bIns="25400" rtlCol="0" anchor="t">
            <a:normAutofit/>
          </a:bodyPr>
          <a:lstStyle/>
          <a:p>
            <a:pPr algn="l" indent="0" marL="0">
              <a:lnSpc>
                <a:spcPct val="135000"/>
              </a:lnSpc>
              <a:buNone/>
            </a:pPr>
            <a:r>
              <a:rPr lang="en-US" sz="2550" dirty="0">
                <a:solidFill>
                  <a:srgbClr val="161616"/>
                </a:solidFill>
                <a:latin typeface="Arial" pitchFamily="34" charset="0"/>
                <a:ea typeface="Arial" pitchFamily="34" charset="-122"/>
                <a:cs typeface="Arial" pitchFamily="34" charset="-120"/>
              </a:rPr>
              <a:t>Quieres aplicar IA dentro de tu empresa o en tu perfil profesional, no quedarte solo en teoría.</a:t>
            </a:r>
            <a:endParaRPr lang="en-US" sz="2550" dirty="0"/>
          </a:p>
        </p:txBody>
      </p:sp>
      <p:sp>
        <p:nvSpPr>
          <p:cNvPr id="18" name="Text 16"/>
          <p:cNvSpPr/>
          <p:nvPr/>
        </p:nvSpPr>
        <p:spPr>
          <a:xfrm>
            <a:off x="1104900" y="8892629"/>
            <a:ext cx="762000" cy="647700"/>
          </a:xfrm>
          <a:prstGeom prst="rect">
            <a:avLst/>
          </a:prstGeom>
          <a:noFill/>
          <a:ln/>
        </p:spPr>
        <p:txBody>
          <a:bodyPr wrap="square" lIns="25400" tIns="25400" rIns="25400" bIns="25400" rtlCol="0" anchor="t">
            <a:normAutofit/>
          </a:bodyPr>
          <a:lstStyle/>
          <a:p>
            <a:pPr algn="ctr" indent="0" marL="0">
              <a:lnSpc>
                <a:spcPct val="100000"/>
              </a:lnSpc>
              <a:buNone/>
            </a:pPr>
            <a:r>
              <a:rPr lang="en-US" sz="4800" dirty="0">
                <a:solidFill>
                  <a:srgbClr val="EC4429"/>
                </a:solidFill>
                <a:latin typeface="Georgia" pitchFamily="34" charset="0"/>
                <a:ea typeface="Georgia" pitchFamily="34" charset="-122"/>
                <a:cs typeface="Georgia" pitchFamily="34" charset="-120"/>
              </a:rPr>
              <a:t>✓</a:t>
            </a:r>
            <a:endParaRPr lang="en-US" sz="4800" dirty="0"/>
          </a:p>
        </p:txBody>
      </p:sp>
      <p:sp>
        <p:nvSpPr>
          <p:cNvPr id="19" name="Text 17"/>
          <p:cNvSpPr/>
          <p:nvPr/>
        </p:nvSpPr>
        <p:spPr>
          <a:xfrm>
            <a:off x="2095500" y="9083129"/>
            <a:ext cx="14716125" cy="475208"/>
          </a:xfrm>
          <a:prstGeom prst="rect">
            <a:avLst/>
          </a:prstGeom>
          <a:noFill/>
          <a:ln/>
        </p:spPr>
        <p:txBody>
          <a:bodyPr wrap="square" lIns="25400" tIns="25400" rIns="25400" bIns="25400" rtlCol="0" anchor="t">
            <a:normAutofit/>
          </a:bodyPr>
          <a:lstStyle/>
          <a:p>
            <a:pPr algn="l" indent="0" marL="0">
              <a:lnSpc>
                <a:spcPct val="135000"/>
              </a:lnSpc>
              <a:buNone/>
            </a:pPr>
            <a:r>
              <a:rPr lang="en-US" sz="2550" dirty="0">
                <a:solidFill>
                  <a:srgbClr val="161616"/>
                </a:solidFill>
                <a:latin typeface="Arial" pitchFamily="34" charset="0"/>
                <a:ea typeface="Arial" pitchFamily="34" charset="-122"/>
                <a:cs typeface="Arial" pitchFamily="34" charset="-120"/>
              </a:rPr>
              <a:t>Buscas autonomía para decidir tú, sin depender de consultoras externas o del equipo técnico.</a:t>
            </a:r>
            <a:endParaRPr lang="en-US" sz="25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F5F2EC"/>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7A766F"/>
                </a:solidFill>
                <a:latin typeface="Arial" pitchFamily="34" charset="0"/>
                <a:ea typeface="Arial" pitchFamily="34" charset="-122"/>
                <a:cs typeface="Arial" pitchFamily="34" charset="-120"/>
              </a:rPr>
              <a:t>37 / 42</a:t>
            </a:r>
            <a:endParaRPr lang="en-US" sz="1800" dirty="0"/>
          </a:p>
        </p:txBody>
      </p:sp>
      <p:sp>
        <p:nvSpPr>
          <p:cNvPr id="4" name="Text 2"/>
          <p:cNvSpPr/>
          <p:nvPr/>
        </p:nvSpPr>
        <p:spPr>
          <a:xfrm>
            <a:off x="1143000" y="914400"/>
            <a:ext cx="7087654" cy="342900"/>
          </a:xfrm>
          <a:prstGeom prst="rect">
            <a:avLst/>
          </a:prstGeom>
          <a:noFill/>
          <a:ln/>
        </p:spPr>
        <p:txBody>
          <a:bodyPr wrap="square" lIns="25400" tIns="25400" rIns="25400" bIns="25400" rtlCol="0" anchor="t">
            <a:normAutofit/>
          </a:bodyPr>
          <a:lstStyle/>
          <a:p>
            <a:pPr algn="l" indent="0" marL="0">
              <a:buNone/>
            </a:pPr>
            <a:r>
              <a:rPr lang="en-US" sz="1950" b="1" spc="429" kern="0" dirty="0">
                <a:solidFill>
                  <a:srgbClr val="EC4429"/>
                </a:solidFill>
                <a:latin typeface="Arial" pitchFamily="34" charset="0"/>
                <a:ea typeface="Arial" pitchFamily="34" charset="-122"/>
                <a:cs typeface="Arial" pitchFamily="34" charset="-120"/>
              </a:rPr>
              <a:t>20</a:t>
            </a:r>
            <a:endParaRPr lang="en-US" sz="1950" dirty="0"/>
          </a:p>
        </p:txBody>
      </p:sp>
      <p:sp>
        <p:nvSpPr>
          <p:cNvPr id="5" name="Text 3"/>
          <p:cNvSpPr/>
          <p:nvPr/>
        </p:nvSpPr>
        <p:spPr>
          <a:xfrm>
            <a:off x="1143000" y="1447800"/>
            <a:ext cx="7087654" cy="2058888"/>
          </a:xfrm>
          <a:prstGeom prst="rect">
            <a:avLst/>
          </a:prstGeom>
          <a:noFill/>
          <a:ln/>
        </p:spPr>
        <p:txBody>
          <a:bodyPr wrap="square" lIns="25400" tIns="25400" rIns="25400" bIns="25400" rtlCol="0" anchor="t">
            <a:normAutofit/>
          </a:bodyPr>
          <a:lstStyle/>
          <a:p>
            <a:pPr algn="l" indent="0" marL="0">
              <a:lnSpc>
                <a:spcPct val="102000"/>
              </a:lnSpc>
              <a:buNone/>
            </a:pPr>
            <a:r>
              <a:rPr lang="en-US" sz="7800" spc="-172" kern="0" dirty="0">
                <a:solidFill>
                  <a:srgbClr val="F5F2EC"/>
                </a:solidFill>
                <a:latin typeface="Georgia" pitchFamily="34" charset="0"/>
                <a:ea typeface="Georgia" pitchFamily="34" charset="-122"/>
                <a:cs typeface="Georgia" pitchFamily="34" charset="-120"/>
              </a:rPr>
              <a:t>Para quién </a:t>
            </a:r>
            <a:pPr algn="l" indent="0" marL="0">
              <a:lnSpc>
                <a:spcPct val="102000"/>
              </a:lnSpc>
              <a:buNone/>
            </a:pPr>
            <a:r>
              <a:rPr lang="en-US" sz="7800" i="1" spc="-172" kern="0" dirty="0">
                <a:solidFill>
                  <a:srgbClr val="EC4429"/>
                </a:solidFill>
                <a:latin typeface="Georgia" pitchFamily="34" charset="0"/>
                <a:ea typeface="Georgia" pitchFamily="34" charset="-122"/>
                <a:cs typeface="Georgia" pitchFamily="34" charset="-120"/>
              </a:rPr>
              <a:t>no </a:t>
            </a:r>
            <a:pPr algn="l" indent="0" marL="0">
              <a:lnSpc>
                <a:spcPct val="102000"/>
              </a:lnSpc>
              <a:buNone/>
            </a:pPr>
            <a:r>
              <a:rPr lang="en-US" sz="7800" spc="-172" kern="0" dirty="0">
                <a:solidFill>
                  <a:srgbClr val="F5F2EC"/>
                </a:solidFill>
                <a:latin typeface="Georgia" pitchFamily="34" charset="0"/>
                <a:ea typeface="Georgia" pitchFamily="34" charset="-122"/>
                <a:cs typeface="Georgia" pitchFamily="34" charset="-120"/>
              </a:rPr>
              <a:t>es Executive Lab</a:t>
            </a:r>
            <a:pPr algn="l" indent="0" marL="0">
              <a:lnSpc>
                <a:spcPct val="102000"/>
              </a:lnSpc>
              <a:buNone/>
            </a:pPr>
            <a:r>
              <a:rPr lang="en-US" sz="7800" spc="-172" kern="0" dirty="0">
                <a:solidFill>
                  <a:srgbClr val="EC4429"/>
                </a:solidFill>
                <a:latin typeface="Georgia" pitchFamily="34" charset="0"/>
                <a:ea typeface="Georgia" pitchFamily="34" charset="-122"/>
                <a:cs typeface="Georgia" pitchFamily="34" charset="-120"/>
              </a:rPr>
              <a:t>*</a:t>
            </a:r>
            <a:endParaRPr lang="en-US" sz="7800" dirty="0"/>
          </a:p>
        </p:txBody>
      </p:sp>
      <p:sp>
        <p:nvSpPr>
          <p:cNvPr id="6" name="Shape 4"/>
          <p:cNvSpPr/>
          <p:nvPr/>
        </p:nvSpPr>
        <p:spPr>
          <a:xfrm>
            <a:off x="1143000" y="4781996"/>
            <a:ext cx="15240000" cy="9525"/>
          </a:xfrm>
          <a:prstGeom prst="rect">
            <a:avLst/>
          </a:prstGeom>
          <a:solidFill>
            <a:srgbClr val="2E2E2E"/>
          </a:solidFill>
          <a:ln/>
        </p:spPr>
      </p:sp>
      <p:sp>
        <p:nvSpPr>
          <p:cNvPr id="7" name="Text 5"/>
          <p:cNvSpPr/>
          <p:nvPr/>
        </p:nvSpPr>
        <p:spPr>
          <a:xfrm>
            <a:off x="1104900" y="3925788"/>
            <a:ext cx="762000" cy="647700"/>
          </a:xfrm>
          <a:prstGeom prst="rect">
            <a:avLst/>
          </a:prstGeom>
          <a:noFill/>
          <a:ln/>
        </p:spPr>
        <p:txBody>
          <a:bodyPr wrap="square" lIns="25400" tIns="25400" rIns="25400" bIns="25400" rtlCol="0" anchor="t">
            <a:normAutofit/>
          </a:bodyPr>
          <a:lstStyle/>
          <a:p>
            <a:pPr algn="ctr" indent="0" marL="0">
              <a:lnSpc>
                <a:spcPct val="100000"/>
              </a:lnSpc>
              <a:buNone/>
            </a:pPr>
            <a:r>
              <a:rPr lang="en-US" sz="4800" dirty="0">
                <a:solidFill>
                  <a:srgbClr val="7A766F"/>
                </a:solidFill>
                <a:latin typeface="Georgia" pitchFamily="34" charset="0"/>
                <a:ea typeface="Georgia" pitchFamily="34" charset="-122"/>
                <a:cs typeface="Georgia" pitchFamily="34" charset="-120"/>
              </a:rPr>
              <a:t>✕</a:t>
            </a:r>
            <a:endParaRPr lang="en-US" sz="4800" dirty="0"/>
          </a:p>
        </p:txBody>
      </p:sp>
      <p:sp>
        <p:nvSpPr>
          <p:cNvPr id="8" name="Text 6"/>
          <p:cNvSpPr/>
          <p:nvPr/>
        </p:nvSpPr>
        <p:spPr>
          <a:xfrm>
            <a:off x="2095500" y="4116288"/>
            <a:ext cx="14716125" cy="475208"/>
          </a:xfrm>
          <a:prstGeom prst="rect">
            <a:avLst/>
          </a:prstGeom>
          <a:noFill/>
          <a:ln/>
        </p:spPr>
        <p:txBody>
          <a:bodyPr wrap="square" lIns="25400" tIns="25400" rIns="25400" bIns="25400" rtlCol="0" anchor="t">
            <a:normAutofit/>
          </a:bodyPr>
          <a:lstStyle/>
          <a:p>
            <a:pPr algn="l" indent="0" marL="0">
              <a:lnSpc>
                <a:spcPct val="135000"/>
              </a:lnSpc>
              <a:buNone/>
            </a:pPr>
            <a:r>
              <a:rPr lang="en-US" sz="2550" dirty="0">
                <a:solidFill>
                  <a:srgbClr val="F5F2EC"/>
                </a:solidFill>
                <a:latin typeface="Arial" pitchFamily="34" charset="0"/>
                <a:ea typeface="Arial" pitchFamily="34" charset="-122"/>
                <a:cs typeface="Arial" pitchFamily="34" charset="-120"/>
              </a:rPr>
              <a:t>Buscas formación técnica para ingenieros o desarrolladores. Aquí no hay Python ni ingeniería.</a:t>
            </a:r>
            <a:endParaRPr lang="en-US" sz="2550" dirty="0"/>
          </a:p>
        </p:txBody>
      </p:sp>
      <p:sp>
        <p:nvSpPr>
          <p:cNvPr id="9" name="Shape 7"/>
          <p:cNvSpPr/>
          <p:nvPr/>
        </p:nvSpPr>
        <p:spPr>
          <a:xfrm>
            <a:off x="1143000" y="5914430"/>
            <a:ext cx="15240000" cy="9525"/>
          </a:xfrm>
          <a:prstGeom prst="rect">
            <a:avLst/>
          </a:prstGeom>
          <a:solidFill>
            <a:srgbClr val="2E2E2E"/>
          </a:solidFill>
          <a:ln/>
        </p:spPr>
      </p:sp>
      <p:sp>
        <p:nvSpPr>
          <p:cNvPr id="10" name="Text 8"/>
          <p:cNvSpPr/>
          <p:nvPr/>
        </p:nvSpPr>
        <p:spPr>
          <a:xfrm>
            <a:off x="1104900" y="5058221"/>
            <a:ext cx="762000" cy="647700"/>
          </a:xfrm>
          <a:prstGeom prst="rect">
            <a:avLst/>
          </a:prstGeom>
          <a:noFill/>
          <a:ln/>
        </p:spPr>
        <p:txBody>
          <a:bodyPr wrap="square" lIns="25400" tIns="25400" rIns="25400" bIns="25400" rtlCol="0" anchor="t">
            <a:normAutofit/>
          </a:bodyPr>
          <a:lstStyle/>
          <a:p>
            <a:pPr algn="ctr" indent="0" marL="0">
              <a:lnSpc>
                <a:spcPct val="100000"/>
              </a:lnSpc>
              <a:buNone/>
            </a:pPr>
            <a:r>
              <a:rPr lang="en-US" sz="4800" dirty="0">
                <a:solidFill>
                  <a:srgbClr val="7A766F"/>
                </a:solidFill>
                <a:latin typeface="Georgia" pitchFamily="34" charset="0"/>
                <a:ea typeface="Georgia" pitchFamily="34" charset="-122"/>
                <a:cs typeface="Georgia" pitchFamily="34" charset="-120"/>
              </a:rPr>
              <a:t>✕</a:t>
            </a:r>
            <a:endParaRPr lang="en-US" sz="4800" dirty="0"/>
          </a:p>
        </p:txBody>
      </p:sp>
      <p:sp>
        <p:nvSpPr>
          <p:cNvPr id="11" name="Text 9"/>
          <p:cNvSpPr/>
          <p:nvPr/>
        </p:nvSpPr>
        <p:spPr>
          <a:xfrm>
            <a:off x="2095500" y="5248721"/>
            <a:ext cx="14716125" cy="475208"/>
          </a:xfrm>
          <a:prstGeom prst="rect">
            <a:avLst/>
          </a:prstGeom>
          <a:noFill/>
          <a:ln/>
        </p:spPr>
        <p:txBody>
          <a:bodyPr wrap="square" lIns="25400" tIns="25400" rIns="25400" bIns="25400" rtlCol="0" anchor="t">
            <a:normAutofit/>
          </a:bodyPr>
          <a:lstStyle/>
          <a:p>
            <a:pPr algn="l" indent="0" marL="0">
              <a:lnSpc>
                <a:spcPct val="135000"/>
              </a:lnSpc>
              <a:buNone/>
            </a:pPr>
            <a:r>
              <a:rPr lang="en-US" sz="2550" dirty="0">
                <a:solidFill>
                  <a:srgbClr val="F5F2EC"/>
                </a:solidFill>
                <a:latin typeface="Arial" pitchFamily="34" charset="0"/>
                <a:ea typeface="Arial" pitchFamily="34" charset="-122"/>
                <a:cs typeface="Arial" pitchFamily="34" charset="-120"/>
              </a:rPr>
              <a:t>Quieres aprender de IA por curiosidad, sin aplicarla a tu empresa, tu equipo o tu carrera.</a:t>
            </a:r>
            <a:endParaRPr lang="en-US" sz="2550" dirty="0"/>
          </a:p>
        </p:txBody>
      </p:sp>
      <p:sp>
        <p:nvSpPr>
          <p:cNvPr id="12" name="Shape 10"/>
          <p:cNvSpPr/>
          <p:nvPr/>
        </p:nvSpPr>
        <p:spPr>
          <a:xfrm>
            <a:off x="1143000" y="7046863"/>
            <a:ext cx="15240000" cy="9525"/>
          </a:xfrm>
          <a:prstGeom prst="rect">
            <a:avLst/>
          </a:prstGeom>
          <a:solidFill>
            <a:srgbClr val="2E2E2E"/>
          </a:solidFill>
          <a:ln/>
        </p:spPr>
      </p:sp>
      <p:sp>
        <p:nvSpPr>
          <p:cNvPr id="13" name="Text 11"/>
          <p:cNvSpPr/>
          <p:nvPr/>
        </p:nvSpPr>
        <p:spPr>
          <a:xfrm>
            <a:off x="1104900" y="6190655"/>
            <a:ext cx="762000" cy="647700"/>
          </a:xfrm>
          <a:prstGeom prst="rect">
            <a:avLst/>
          </a:prstGeom>
          <a:noFill/>
          <a:ln/>
        </p:spPr>
        <p:txBody>
          <a:bodyPr wrap="square" lIns="25400" tIns="25400" rIns="25400" bIns="25400" rtlCol="0" anchor="t">
            <a:normAutofit/>
          </a:bodyPr>
          <a:lstStyle/>
          <a:p>
            <a:pPr algn="ctr" indent="0" marL="0">
              <a:lnSpc>
                <a:spcPct val="100000"/>
              </a:lnSpc>
              <a:buNone/>
            </a:pPr>
            <a:r>
              <a:rPr lang="en-US" sz="4800" dirty="0">
                <a:solidFill>
                  <a:srgbClr val="7A766F"/>
                </a:solidFill>
                <a:latin typeface="Georgia" pitchFamily="34" charset="0"/>
                <a:ea typeface="Georgia" pitchFamily="34" charset="-122"/>
                <a:cs typeface="Georgia" pitchFamily="34" charset="-120"/>
              </a:rPr>
              <a:t>✕</a:t>
            </a:r>
            <a:endParaRPr lang="en-US" sz="4800" dirty="0"/>
          </a:p>
        </p:txBody>
      </p:sp>
      <p:sp>
        <p:nvSpPr>
          <p:cNvPr id="14" name="Text 12"/>
          <p:cNvSpPr/>
          <p:nvPr/>
        </p:nvSpPr>
        <p:spPr>
          <a:xfrm>
            <a:off x="2095500" y="6381155"/>
            <a:ext cx="14716125" cy="475208"/>
          </a:xfrm>
          <a:prstGeom prst="rect">
            <a:avLst/>
          </a:prstGeom>
          <a:noFill/>
          <a:ln/>
        </p:spPr>
        <p:txBody>
          <a:bodyPr wrap="square" lIns="25400" tIns="25400" rIns="25400" bIns="25400" rtlCol="0" anchor="t">
            <a:normAutofit/>
          </a:bodyPr>
          <a:lstStyle/>
          <a:p>
            <a:pPr algn="l" indent="0" marL="0">
              <a:lnSpc>
                <a:spcPct val="135000"/>
              </a:lnSpc>
              <a:buNone/>
            </a:pPr>
            <a:r>
              <a:rPr lang="en-US" sz="2550" dirty="0">
                <a:solidFill>
                  <a:srgbClr val="F5F2EC"/>
                </a:solidFill>
                <a:latin typeface="Arial" pitchFamily="34" charset="0"/>
                <a:ea typeface="Arial" pitchFamily="34" charset="-122"/>
                <a:cs typeface="Arial" pitchFamily="34" charset="-120"/>
              </a:rPr>
              <a:t>Esperas atajos o herramientas mágicas. Este programa exige tiempo, presencia y decisión.</a:t>
            </a:r>
            <a:endParaRPr lang="en-US" sz="2550" dirty="0"/>
          </a:p>
        </p:txBody>
      </p:sp>
      <p:sp>
        <p:nvSpPr>
          <p:cNvPr id="15" name="Text 13"/>
          <p:cNvSpPr/>
          <p:nvPr/>
        </p:nvSpPr>
        <p:spPr>
          <a:xfrm>
            <a:off x="1104900" y="7323088"/>
            <a:ext cx="762000" cy="647700"/>
          </a:xfrm>
          <a:prstGeom prst="rect">
            <a:avLst/>
          </a:prstGeom>
          <a:noFill/>
          <a:ln/>
        </p:spPr>
        <p:txBody>
          <a:bodyPr wrap="square" lIns="25400" tIns="25400" rIns="25400" bIns="25400" rtlCol="0" anchor="t">
            <a:normAutofit/>
          </a:bodyPr>
          <a:lstStyle/>
          <a:p>
            <a:pPr algn="ctr" indent="0" marL="0">
              <a:lnSpc>
                <a:spcPct val="100000"/>
              </a:lnSpc>
              <a:buNone/>
            </a:pPr>
            <a:r>
              <a:rPr lang="en-US" sz="4800" dirty="0">
                <a:solidFill>
                  <a:srgbClr val="7A766F"/>
                </a:solidFill>
                <a:latin typeface="Georgia" pitchFamily="34" charset="0"/>
                <a:ea typeface="Georgia" pitchFamily="34" charset="-122"/>
                <a:cs typeface="Georgia" pitchFamily="34" charset="-120"/>
              </a:rPr>
              <a:t>✕</a:t>
            </a:r>
            <a:endParaRPr lang="en-US" sz="4800" dirty="0"/>
          </a:p>
        </p:txBody>
      </p:sp>
      <p:sp>
        <p:nvSpPr>
          <p:cNvPr id="16" name="Text 14"/>
          <p:cNvSpPr/>
          <p:nvPr/>
        </p:nvSpPr>
        <p:spPr>
          <a:xfrm>
            <a:off x="2095500" y="7513588"/>
            <a:ext cx="14716125" cy="912316"/>
          </a:xfrm>
          <a:prstGeom prst="rect">
            <a:avLst/>
          </a:prstGeom>
          <a:noFill/>
          <a:ln/>
        </p:spPr>
        <p:txBody>
          <a:bodyPr wrap="square" lIns="25400" tIns="25400" rIns="25400" bIns="25400" rtlCol="0" anchor="t">
            <a:normAutofit/>
          </a:bodyPr>
          <a:lstStyle/>
          <a:p>
            <a:pPr algn="l" indent="0" marL="0">
              <a:lnSpc>
                <a:spcPct val="135000"/>
              </a:lnSpc>
              <a:buNone/>
            </a:pPr>
            <a:r>
              <a:rPr lang="en-US" sz="2550" dirty="0">
                <a:solidFill>
                  <a:srgbClr val="F5F2EC"/>
                </a:solidFill>
                <a:latin typeface="Arial" pitchFamily="34" charset="0"/>
                <a:ea typeface="Arial" pitchFamily="34" charset="-122"/>
                <a:cs typeface="Arial" pitchFamily="34" charset="-120"/>
              </a:rPr>
              <a:t>Buscas un curso pregrabado para verlo cuando puedas. El intensivo es en directo y se aplica en sesión.</a:t>
            </a:r>
            <a:endParaRPr lang="en-US" sz="2550" dirty="0"/>
          </a:p>
        </p:txBody>
      </p:sp>
      <p:sp>
        <p:nvSpPr>
          <p:cNvPr id="17" name="Text 15"/>
          <p:cNvSpPr/>
          <p:nvPr/>
        </p:nvSpPr>
        <p:spPr>
          <a:xfrm>
            <a:off x="1143000" y="9302204"/>
            <a:ext cx="7738842" cy="361950"/>
          </a:xfrm>
          <a:prstGeom prst="rect">
            <a:avLst/>
          </a:prstGeom>
          <a:noFill/>
          <a:ln/>
        </p:spPr>
        <p:txBody>
          <a:bodyPr wrap="square" lIns="25400" tIns="25400" rIns="25400" bIns="25400" rtlCol="0" anchor="t">
            <a:normAutofit/>
          </a:bodyPr>
          <a:lstStyle/>
          <a:p>
            <a:pPr algn="l" indent="0" marL="0">
              <a:buNone/>
            </a:pPr>
            <a:r>
              <a:rPr lang="en-US" sz="2250" dirty="0">
                <a:solidFill>
                  <a:srgbClr val="B8B2A8"/>
                </a:solidFill>
                <a:latin typeface="Arial" pitchFamily="34" charset="0"/>
                <a:ea typeface="Arial" pitchFamily="34" charset="-122"/>
                <a:cs typeface="Arial" pitchFamily="34" charset="-120"/>
              </a:rPr>
              <a:t>Si encajas con el perfil de arriba, esto está pensado para ti.</a:t>
            </a:r>
            <a:endParaRPr lang="en-US" sz="2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2EC"/>
        </a:solidFill>
      </p:bgPr>
    </p:bg>
    <p:spTree>
      <p:nvGrpSpPr>
        <p:cNvPr id="1" name=""/>
        <p:cNvGrpSpPr/>
        <p:nvPr/>
      </p:nvGrpSpPr>
      <p:grpSpPr>
        <a:xfrm>
          <a:off x="0" y="0"/>
          <a:ext cx="0" cy="0"/>
          <a:chOff x="0" y="0"/>
          <a:chExt cx="0" cy="0"/>
        </a:xfrm>
      </p:grpSpPr>
      <p:sp>
        <p:nvSpPr>
          <p:cNvPr id="2" name="Shape 0"/>
          <p:cNvSpPr/>
          <p:nvPr/>
        </p:nvSpPr>
        <p:spPr>
          <a:xfrm>
            <a:off x="0" y="0"/>
            <a:ext cx="18288000" cy="1600200"/>
          </a:xfrm>
          <a:prstGeom prst="rect">
            <a:avLst/>
          </a:prstGeom>
          <a:solidFill>
            <a:srgbClr val="F5F2EC"/>
          </a:solidFill>
          <a:ln/>
        </p:spPr>
      </p:sp>
      <p:sp>
        <p:nvSpPr>
          <p:cNvPr id="3" name="Text 1"/>
          <p:cNvSpPr/>
          <p:nvPr/>
        </p:nvSpPr>
        <p:spPr>
          <a:xfrm>
            <a:off x="1143000" y="704850"/>
            <a:ext cx="2035671" cy="381000"/>
          </a:xfrm>
          <a:prstGeom prst="rect">
            <a:avLst/>
          </a:prstGeom>
          <a:noFill/>
          <a:ln/>
        </p:spPr>
        <p:txBody>
          <a:bodyPr wrap="square" lIns="25400" tIns="25400" rIns="25400" bIns="25400" rtlCol="0" anchor="t">
            <a:normAutofit/>
          </a:bodyPr>
          <a:lstStyle/>
          <a:p>
            <a:pPr algn="l" indent="0" marL="0">
              <a:buNone/>
            </a:pPr>
            <a:r>
              <a:rPr lang="en-US" sz="2400" dirty="0">
                <a:solidFill>
                  <a:srgbClr val="161616"/>
                </a:solidFill>
                <a:latin typeface="Georgia" pitchFamily="34" charset="0"/>
                <a:ea typeface="Georgia" pitchFamily="34" charset="-122"/>
                <a:cs typeface="Georgia" pitchFamily="34" charset="-120"/>
              </a:rPr>
              <a:t>ExecutiveLab*</a:t>
            </a:r>
            <a:endParaRPr lang="en-US" sz="2400" dirty="0"/>
          </a:p>
        </p:txBody>
      </p:sp>
      <p:sp>
        <p:nvSpPr>
          <p:cNvPr id="4" name="Text 2"/>
          <p:cNvSpPr/>
          <p:nvPr/>
        </p:nvSpPr>
        <p:spPr>
          <a:xfrm>
            <a:off x="8818739" y="533400"/>
            <a:ext cx="8326261" cy="723900"/>
          </a:xfrm>
          <a:prstGeom prst="rect">
            <a:avLst/>
          </a:prstGeom>
          <a:noFill/>
          <a:ln/>
        </p:spPr>
        <p:txBody>
          <a:bodyPr wrap="square" lIns="25400" tIns="25400" rIns="25400" bIns="25400" rtlCol="0" anchor="t">
            <a:normAutofit/>
          </a:bodyPr>
          <a:lstStyle/>
          <a:p>
            <a:pPr algn="r" indent="0" marL="0">
              <a:lnSpc>
                <a:spcPct val="100000"/>
              </a:lnSpc>
              <a:buNone/>
            </a:pPr>
            <a:r>
              <a:rPr lang="en-US" sz="5400" spc="-108" kern="0" dirty="0">
                <a:solidFill>
                  <a:srgbClr val="161616"/>
                </a:solidFill>
                <a:latin typeface="Georgia" pitchFamily="34" charset="0"/>
                <a:ea typeface="Georgia" pitchFamily="34" charset="-122"/>
                <a:cs typeface="Georgia" pitchFamily="34" charset="-120"/>
              </a:rPr>
              <a:t>Dos motores. </a:t>
            </a:r>
            <a:pPr algn="r" indent="0" marL="0">
              <a:lnSpc>
                <a:spcPct val="100000"/>
              </a:lnSpc>
              <a:buNone/>
            </a:pPr>
            <a:r>
              <a:rPr lang="en-US" sz="5400" i="1" spc="-108" kern="0" dirty="0">
                <a:solidFill>
                  <a:srgbClr val="EC4429"/>
                </a:solidFill>
                <a:latin typeface="Georgia" pitchFamily="34" charset="0"/>
                <a:ea typeface="Georgia" pitchFamily="34" charset="-122"/>
                <a:cs typeface="Georgia" pitchFamily="34" charset="-120"/>
              </a:rPr>
              <a:t>Un programa.</a:t>
            </a:r>
            <a:endParaRPr lang="en-US" sz="5400" dirty="0"/>
          </a:p>
        </p:txBody>
      </p:sp>
      <p:sp>
        <p:nvSpPr>
          <p:cNvPr id="5" name="Shape 3"/>
          <p:cNvSpPr/>
          <p:nvPr/>
        </p:nvSpPr>
        <p:spPr>
          <a:xfrm>
            <a:off x="0" y="1600200"/>
            <a:ext cx="9144000" cy="8686800"/>
          </a:xfrm>
          <a:prstGeom prst="rect">
            <a:avLst/>
          </a:prstGeom>
          <a:solidFill>
            <a:srgbClr val="F5F2EC"/>
          </a:solidFill>
          <a:ln/>
        </p:spPr>
      </p:sp>
      <p:sp>
        <p:nvSpPr>
          <p:cNvPr id="6" name="Text 4"/>
          <p:cNvSpPr/>
          <p:nvPr/>
        </p:nvSpPr>
        <p:spPr>
          <a:xfrm>
            <a:off x="762000" y="2209800"/>
            <a:ext cx="3531870"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b="1" spc="396" kern="0" dirty="0">
                <a:solidFill>
                  <a:srgbClr val="EC4429"/>
                </a:solidFill>
                <a:latin typeface="Arial" pitchFamily="34" charset="0"/>
                <a:ea typeface="Arial" pitchFamily="34" charset="-122"/>
                <a:cs typeface="Arial" pitchFamily="34" charset="-120"/>
              </a:rPr>
              <a:t>MOTOR 01 · BOOTCAMP</a:t>
            </a:r>
            <a:endParaRPr lang="en-US" sz="1800" dirty="0"/>
          </a:p>
        </p:txBody>
      </p:sp>
      <p:sp>
        <p:nvSpPr>
          <p:cNvPr id="7" name="Text 5"/>
          <p:cNvSpPr/>
          <p:nvPr/>
        </p:nvSpPr>
        <p:spPr>
          <a:xfrm>
            <a:off x="6246168" y="2209800"/>
            <a:ext cx="595908" cy="1171575"/>
          </a:xfrm>
          <a:prstGeom prst="rect">
            <a:avLst/>
          </a:prstGeom>
          <a:noFill/>
          <a:ln/>
        </p:spPr>
        <p:txBody>
          <a:bodyPr wrap="square" lIns="25400" tIns="25400" rIns="25400" bIns="25400" rtlCol="0" anchor="t">
            <a:normAutofit/>
          </a:bodyPr>
          <a:lstStyle/>
          <a:p>
            <a:pPr algn="l" indent="0" marL="0">
              <a:lnSpc>
                <a:spcPct val="85000"/>
              </a:lnSpc>
              <a:buNone/>
            </a:pPr>
            <a:r>
              <a:rPr lang="en-US" sz="10500" spc="-420" kern="0" dirty="0">
                <a:solidFill>
                  <a:srgbClr val="EC4429"/>
                </a:solidFill>
                <a:latin typeface="Georgia" pitchFamily="34" charset="0"/>
                <a:ea typeface="Georgia" pitchFamily="34" charset="-122"/>
                <a:cs typeface="Georgia" pitchFamily="34" charset="-120"/>
              </a:rPr>
              <a:t>1</a:t>
            </a:r>
            <a:endParaRPr lang="en-US" sz="10500" dirty="0"/>
          </a:p>
        </p:txBody>
      </p:sp>
      <p:sp>
        <p:nvSpPr>
          <p:cNvPr id="8" name="Text 6"/>
          <p:cNvSpPr/>
          <p:nvPr/>
        </p:nvSpPr>
        <p:spPr>
          <a:xfrm>
            <a:off x="6918275" y="2669084"/>
            <a:ext cx="1539925" cy="540841"/>
          </a:xfrm>
          <a:prstGeom prst="rect">
            <a:avLst/>
          </a:prstGeom>
          <a:noFill/>
          <a:ln/>
        </p:spPr>
        <p:txBody>
          <a:bodyPr wrap="square" lIns="25400" tIns="25400" rIns="25400" bIns="25400" rtlCol="0" anchor="t">
            <a:normAutofit/>
          </a:bodyPr>
          <a:lstStyle/>
          <a:p>
            <a:pPr algn="l" indent="0" marL="0">
              <a:lnSpc>
                <a:spcPct val="120000"/>
              </a:lnSpc>
              <a:buNone/>
            </a:pPr>
            <a:r>
              <a:rPr lang="en-US" sz="1650" b="1" spc="297" kern="0" dirty="0">
                <a:solidFill>
                  <a:srgbClr val="161616"/>
                </a:solidFill>
                <a:latin typeface="Arial" pitchFamily="34" charset="0"/>
                <a:ea typeface="Arial" pitchFamily="34" charset="-122"/>
                <a:cs typeface="Arial" pitchFamily="34" charset="-120"/>
              </a:rPr>
              <a:t>MES INTENSIVO</a:t>
            </a:r>
            <a:endParaRPr lang="en-US" sz="1650" dirty="0"/>
          </a:p>
        </p:txBody>
      </p:sp>
      <p:sp>
        <p:nvSpPr>
          <p:cNvPr id="9" name="Text 7"/>
          <p:cNvSpPr/>
          <p:nvPr/>
        </p:nvSpPr>
        <p:spPr>
          <a:xfrm>
            <a:off x="762000" y="3800475"/>
            <a:ext cx="7063740" cy="838200"/>
          </a:xfrm>
          <a:prstGeom prst="rect">
            <a:avLst/>
          </a:prstGeom>
          <a:noFill/>
          <a:ln/>
        </p:spPr>
        <p:txBody>
          <a:bodyPr wrap="square" lIns="25400" tIns="25400" rIns="25400" bIns="25400" rtlCol="0" anchor="t">
            <a:normAutofit/>
          </a:bodyPr>
          <a:lstStyle/>
          <a:p>
            <a:pPr algn="l" indent="0" marL="0">
              <a:lnSpc>
                <a:spcPct val="100000"/>
              </a:lnSpc>
              <a:buNone/>
            </a:pPr>
            <a:r>
              <a:rPr lang="en-US" sz="6300" spc="-139" kern="0" dirty="0">
                <a:solidFill>
                  <a:srgbClr val="161616"/>
                </a:solidFill>
                <a:latin typeface="Georgia" pitchFamily="34" charset="0"/>
                <a:ea typeface="Georgia" pitchFamily="34" charset="-122"/>
                <a:cs typeface="Georgia" pitchFamily="34" charset="-120"/>
              </a:rPr>
              <a:t>Para ponerte al día</a:t>
            </a:r>
            <a:pPr algn="l" indent="0" marL="0">
              <a:lnSpc>
                <a:spcPct val="100000"/>
              </a:lnSpc>
              <a:buNone/>
            </a:pPr>
            <a:r>
              <a:rPr lang="en-US" sz="6300" spc="-139" kern="0" dirty="0">
                <a:solidFill>
                  <a:srgbClr val="EC4429"/>
                </a:solidFill>
                <a:latin typeface="Georgia" pitchFamily="34" charset="0"/>
                <a:ea typeface="Georgia" pitchFamily="34" charset="-122"/>
                <a:cs typeface="Georgia" pitchFamily="34" charset="-120"/>
              </a:rPr>
              <a:t>.</a:t>
            </a:r>
            <a:endParaRPr lang="en-US" sz="6300" dirty="0"/>
          </a:p>
        </p:txBody>
      </p:sp>
      <p:sp>
        <p:nvSpPr>
          <p:cNvPr id="10" name="Text 8"/>
          <p:cNvSpPr/>
          <p:nvPr/>
        </p:nvSpPr>
        <p:spPr>
          <a:xfrm>
            <a:off x="762000" y="4905375"/>
            <a:ext cx="7063740" cy="895350"/>
          </a:xfrm>
          <a:prstGeom prst="rect">
            <a:avLst/>
          </a:prstGeom>
          <a:noFill/>
          <a:ln/>
        </p:spPr>
        <p:txBody>
          <a:bodyPr wrap="square" lIns="25400" tIns="25400" rIns="25400" bIns="25400" rtlCol="0" anchor="t">
            <a:normAutofit/>
          </a:bodyPr>
          <a:lstStyle/>
          <a:p>
            <a:pPr algn="l" indent="0" marL="0">
              <a:lnSpc>
                <a:spcPct val="125000"/>
              </a:lnSpc>
              <a:buNone/>
            </a:pPr>
            <a:r>
              <a:rPr lang="en-US" sz="2700" i="1" dirty="0">
                <a:solidFill>
                  <a:srgbClr val="161616"/>
                </a:solidFill>
                <a:latin typeface="Georgia" pitchFamily="34" charset="0"/>
                <a:ea typeface="Georgia" pitchFamily="34" charset="-122"/>
                <a:cs typeface="Georgia" pitchFamily="34" charset="-120"/>
              </a:rPr>
              <a:t>4 semanas en vivo. Bases sólidas, criterio ejecutivo y aplicación real.</a:t>
            </a:r>
            <a:endParaRPr lang="en-US" sz="2700" dirty="0"/>
          </a:p>
        </p:txBody>
      </p:sp>
      <p:sp>
        <p:nvSpPr>
          <p:cNvPr id="11" name="Shape 9"/>
          <p:cNvSpPr/>
          <p:nvPr/>
        </p:nvSpPr>
        <p:spPr>
          <a:xfrm>
            <a:off x="762000" y="6143625"/>
            <a:ext cx="7620000" cy="9525"/>
          </a:xfrm>
          <a:prstGeom prst="rect">
            <a:avLst/>
          </a:prstGeom>
          <a:solidFill>
            <a:srgbClr val="D9D2C5"/>
          </a:solidFill>
          <a:ln/>
        </p:spPr>
      </p:sp>
      <p:sp>
        <p:nvSpPr>
          <p:cNvPr id="12" name="Text 10"/>
          <p:cNvSpPr/>
          <p:nvPr/>
        </p:nvSpPr>
        <p:spPr>
          <a:xfrm>
            <a:off x="588645" y="6496050"/>
            <a:ext cx="7869555" cy="1946672"/>
          </a:xfrm>
          <a:prstGeom prst="rect">
            <a:avLst/>
          </a:prstGeom>
          <a:noFill/>
          <a:ln/>
        </p:spPr>
        <p:txBody>
          <a:bodyPr wrap="square" lIns="25400" tIns="25400" rIns="25400" bIns="25400" rtlCol="0" anchor="t">
            <a:normAutofit/>
          </a:bodyPr>
          <a:lstStyle/>
          <a:p>
            <a:pPr algn="l" indent="0" marL="0">
              <a:lnSpc>
                <a:spcPct val="135000"/>
              </a:lnSpc>
              <a:buNone/>
            </a:pPr>
            <a:r>
              <a:rPr lang="en-US" sz="1950" dirty="0">
                <a:solidFill>
                  <a:srgbClr val="161616"/>
                </a:solidFill>
                <a:latin typeface="Arial" pitchFamily="34" charset="0"/>
                <a:ea typeface="Arial" pitchFamily="34" charset="-122"/>
                <a:cs typeface="Arial" pitchFamily="34" charset="-120"/>
              </a:rPr>
              <a:t>Estrategia y criterio para liderar la IA.</a:t>
            </a:r>
            <a:endParaRPr lang="en-US" sz="1950" dirty="0"/>
          </a:p>
          <a:p>
            <a:pPr algn="l" indent="0" marL="0">
              <a:lnSpc>
                <a:spcPct val="135000"/>
              </a:lnSpc>
              <a:buNone/>
            </a:pPr>
            <a:r>
              <a:rPr lang="en-US" sz="1950" dirty="0">
                <a:solidFill>
                  <a:srgbClr val="161616"/>
                </a:solidFill>
                <a:latin typeface="Arial" pitchFamily="34" charset="0"/>
                <a:ea typeface="Arial" pitchFamily="34" charset="-122"/>
                <a:cs typeface="Arial" pitchFamily="34" charset="-120"/>
              </a:rPr>
              <a:t>Arquitectura de automatización.</a:t>
            </a:r>
            <a:endParaRPr lang="en-US" sz="1950" dirty="0"/>
          </a:p>
          <a:p>
            <a:pPr algn="l" indent="0" marL="0">
              <a:lnSpc>
                <a:spcPct val="135000"/>
              </a:lnSpc>
              <a:buNone/>
            </a:pPr>
            <a:r>
              <a:rPr lang="en-US" sz="1950" dirty="0">
                <a:solidFill>
                  <a:srgbClr val="161616"/>
                </a:solidFill>
                <a:latin typeface="Arial" pitchFamily="34" charset="0"/>
                <a:ea typeface="Arial" pitchFamily="34" charset="-122"/>
                <a:cs typeface="Arial" pitchFamily="34" charset="-120"/>
              </a:rPr>
              <a:t>Gobernanza, datos y despliegue seguro.</a:t>
            </a:r>
            <a:endParaRPr lang="en-US" sz="1950" dirty="0"/>
          </a:p>
          <a:p>
            <a:pPr algn="l" indent="0" marL="0">
              <a:lnSpc>
                <a:spcPct val="135000"/>
              </a:lnSpc>
              <a:buNone/>
            </a:pPr>
            <a:r>
              <a:rPr lang="en-US" sz="1950" dirty="0">
                <a:solidFill>
                  <a:srgbClr val="161616"/>
                </a:solidFill>
                <a:latin typeface="Arial" pitchFamily="34" charset="0"/>
                <a:ea typeface="Arial" pitchFamily="34" charset="-122"/>
                <a:cs typeface="Arial" pitchFamily="34" charset="-120"/>
              </a:rPr>
              <a:t>8 sesiones en directo + grabaciones.</a:t>
            </a:r>
            <a:endParaRPr lang="en-US" sz="1950" dirty="0"/>
          </a:p>
        </p:txBody>
      </p:sp>
      <p:sp>
        <p:nvSpPr>
          <p:cNvPr id="13" name="Shape 11"/>
          <p:cNvSpPr/>
          <p:nvPr/>
        </p:nvSpPr>
        <p:spPr>
          <a:xfrm>
            <a:off x="9144000" y="1600200"/>
            <a:ext cx="9144000" cy="8686800"/>
          </a:xfrm>
          <a:prstGeom prst="rect">
            <a:avLst/>
          </a:prstGeom>
          <a:solidFill>
            <a:srgbClr val="141414"/>
          </a:solidFill>
          <a:ln/>
        </p:spPr>
      </p:sp>
      <p:sp>
        <p:nvSpPr>
          <p:cNvPr id="14" name="Text 12"/>
          <p:cNvSpPr/>
          <p:nvPr/>
        </p:nvSpPr>
        <p:spPr>
          <a:xfrm>
            <a:off x="9906000" y="2209800"/>
            <a:ext cx="3531870"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b="1" spc="396" kern="0" dirty="0">
                <a:solidFill>
                  <a:srgbClr val="EC4429"/>
                </a:solidFill>
                <a:latin typeface="Arial" pitchFamily="34" charset="0"/>
                <a:ea typeface="Arial" pitchFamily="34" charset="-122"/>
                <a:cs typeface="Arial" pitchFamily="34" charset="-120"/>
              </a:rPr>
              <a:t>MOTOR 02 · DEPARTAMENTO I+D</a:t>
            </a:r>
            <a:endParaRPr lang="en-US" sz="1800" dirty="0"/>
          </a:p>
        </p:txBody>
      </p:sp>
      <p:sp>
        <p:nvSpPr>
          <p:cNvPr id="15" name="Text 13"/>
          <p:cNvSpPr/>
          <p:nvPr/>
        </p:nvSpPr>
        <p:spPr>
          <a:xfrm>
            <a:off x="14925080" y="2209800"/>
            <a:ext cx="1287512" cy="1171575"/>
          </a:xfrm>
          <a:prstGeom prst="rect">
            <a:avLst/>
          </a:prstGeom>
          <a:noFill/>
          <a:ln/>
        </p:spPr>
        <p:txBody>
          <a:bodyPr wrap="square" lIns="25400" tIns="25400" rIns="25400" bIns="25400" rtlCol="0" anchor="t">
            <a:normAutofit/>
          </a:bodyPr>
          <a:lstStyle/>
          <a:p>
            <a:pPr algn="l" indent="0" marL="0">
              <a:lnSpc>
                <a:spcPct val="85000"/>
              </a:lnSpc>
              <a:buNone/>
            </a:pPr>
            <a:r>
              <a:rPr lang="en-US" sz="10500" spc="-420" kern="0" dirty="0">
                <a:solidFill>
                  <a:srgbClr val="EC4429"/>
                </a:solidFill>
                <a:latin typeface="Georgia" pitchFamily="34" charset="0"/>
                <a:ea typeface="Georgia" pitchFamily="34" charset="-122"/>
                <a:cs typeface="Georgia" pitchFamily="34" charset="-120"/>
              </a:rPr>
              <a:t>12</a:t>
            </a:r>
            <a:endParaRPr lang="en-US" sz="10500" dirty="0"/>
          </a:p>
        </p:txBody>
      </p:sp>
      <p:sp>
        <p:nvSpPr>
          <p:cNvPr id="16" name="Text 14"/>
          <p:cNvSpPr/>
          <p:nvPr/>
        </p:nvSpPr>
        <p:spPr>
          <a:xfrm>
            <a:off x="16288792" y="2669084"/>
            <a:ext cx="1313408" cy="540841"/>
          </a:xfrm>
          <a:prstGeom prst="rect">
            <a:avLst/>
          </a:prstGeom>
          <a:noFill/>
          <a:ln/>
        </p:spPr>
        <p:txBody>
          <a:bodyPr wrap="square" lIns="25400" tIns="25400" rIns="25400" bIns="25400" rtlCol="0" anchor="t">
            <a:normAutofit/>
          </a:bodyPr>
          <a:lstStyle/>
          <a:p>
            <a:pPr algn="l" indent="0" marL="0">
              <a:lnSpc>
                <a:spcPct val="120000"/>
              </a:lnSpc>
              <a:buNone/>
            </a:pPr>
            <a:r>
              <a:rPr lang="en-US" sz="1650" b="1" spc="297" kern="0" dirty="0">
                <a:solidFill>
                  <a:srgbClr val="F5F2EC"/>
                </a:solidFill>
                <a:latin typeface="Arial" pitchFamily="34" charset="0"/>
                <a:ea typeface="Arial" pitchFamily="34" charset="-122"/>
                <a:cs typeface="Arial" pitchFamily="34" charset="-120"/>
              </a:rPr>
              <a:t>MESES CONTIGO</a:t>
            </a:r>
            <a:endParaRPr lang="en-US" sz="1650" dirty="0"/>
          </a:p>
        </p:txBody>
      </p:sp>
      <p:sp>
        <p:nvSpPr>
          <p:cNvPr id="17" name="Text 15"/>
          <p:cNvSpPr/>
          <p:nvPr/>
        </p:nvSpPr>
        <p:spPr>
          <a:xfrm>
            <a:off x="9906000" y="3800475"/>
            <a:ext cx="7063740" cy="1638300"/>
          </a:xfrm>
          <a:prstGeom prst="rect">
            <a:avLst/>
          </a:prstGeom>
          <a:noFill/>
          <a:ln/>
        </p:spPr>
        <p:txBody>
          <a:bodyPr wrap="square" lIns="25400" tIns="25400" rIns="25400" bIns="25400" rtlCol="0" anchor="t">
            <a:normAutofit/>
          </a:bodyPr>
          <a:lstStyle/>
          <a:p>
            <a:pPr algn="l" indent="0" marL="0">
              <a:lnSpc>
                <a:spcPct val="100000"/>
              </a:lnSpc>
              <a:buNone/>
            </a:pPr>
            <a:r>
              <a:rPr lang="en-US" sz="6300" spc="-139" kern="0" dirty="0">
                <a:solidFill>
                  <a:srgbClr val="F5F2EC"/>
                </a:solidFill>
                <a:latin typeface="Georgia" pitchFamily="34" charset="0"/>
                <a:ea typeface="Georgia" pitchFamily="34" charset="-122"/>
                <a:cs typeface="Georgia" pitchFamily="34" charset="-120"/>
              </a:rPr>
              <a:t>Para no perderte nada </a:t>
            </a:r>
            <a:pPr algn="l" indent="0" marL="0">
              <a:lnSpc>
                <a:spcPct val="100000"/>
              </a:lnSpc>
              <a:buNone/>
            </a:pPr>
            <a:r>
              <a:rPr lang="en-US" sz="6300" spc="-139" kern="0" dirty="0">
                <a:solidFill>
                  <a:srgbClr val="EC4429"/>
                </a:solidFill>
                <a:latin typeface="Georgia" pitchFamily="34" charset="0"/>
                <a:ea typeface="Georgia" pitchFamily="34" charset="-122"/>
                <a:cs typeface="Georgia" pitchFamily="34" charset="-120"/>
              </a:rPr>
              <a:t>.</a:t>
            </a:r>
            <a:endParaRPr lang="en-US" sz="6300" dirty="0"/>
          </a:p>
        </p:txBody>
      </p:sp>
      <p:sp>
        <p:nvSpPr>
          <p:cNvPr id="18" name="Text 16"/>
          <p:cNvSpPr/>
          <p:nvPr/>
        </p:nvSpPr>
        <p:spPr>
          <a:xfrm>
            <a:off x="9906000" y="5705475"/>
            <a:ext cx="7063740" cy="895350"/>
          </a:xfrm>
          <a:prstGeom prst="rect">
            <a:avLst/>
          </a:prstGeom>
          <a:noFill/>
          <a:ln/>
        </p:spPr>
        <p:txBody>
          <a:bodyPr wrap="square" lIns="25400" tIns="25400" rIns="25400" bIns="25400" rtlCol="0" anchor="t">
            <a:normAutofit/>
          </a:bodyPr>
          <a:lstStyle/>
          <a:p>
            <a:pPr algn="l" indent="0" marL="0">
              <a:lnSpc>
                <a:spcPct val="125000"/>
              </a:lnSpc>
              <a:buNone/>
            </a:pPr>
            <a:r>
              <a:rPr lang="en-US" sz="2700" i="1" dirty="0">
                <a:solidFill>
                  <a:srgbClr val="F5F2EC"/>
                </a:solidFill>
                <a:latin typeface="Georgia" pitchFamily="34" charset="0"/>
                <a:ea typeface="Georgia" pitchFamily="34" charset="-122"/>
                <a:cs typeface="Georgia" pitchFamily="34" charset="-120"/>
              </a:rPr>
              <a:t>Acompañamiento, soporte y actualizaciones todo el año filtrando lo que importa.</a:t>
            </a:r>
            <a:endParaRPr lang="en-US" sz="2700" dirty="0"/>
          </a:p>
        </p:txBody>
      </p:sp>
      <p:sp>
        <p:nvSpPr>
          <p:cNvPr id="19" name="Shape 17"/>
          <p:cNvSpPr/>
          <p:nvPr/>
        </p:nvSpPr>
        <p:spPr>
          <a:xfrm>
            <a:off x="9906000" y="6943725"/>
            <a:ext cx="7620000" cy="9525"/>
          </a:xfrm>
          <a:prstGeom prst="rect">
            <a:avLst/>
          </a:prstGeom>
          <a:solidFill>
            <a:srgbClr val="FFFFFF">
              <a:alpha val="18000"/>
            </a:srgbClr>
          </a:solidFill>
          <a:ln/>
        </p:spPr>
      </p:sp>
      <p:sp>
        <p:nvSpPr>
          <p:cNvPr id="20" name="Text 18"/>
          <p:cNvSpPr/>
          <p:nvPr/>
        </p:nvSpPr>
        <p:spPr>
          <a:xfrm>
            <a:off x="9732645" y="7296150"/>
            <a:ext cx="7869555" cy="1946672"/>
          </a:xfrm>
          <a:prstGeom prst="rect">
            <a:avLst/>
          </a:prstGeom>
          <a:noFill/>
          <a:ln/>
        </p:spPr>
        <p:txBody>
          <a:bodyPr wrap="square" lIns="25400" tIns="25400" rIns="25400" bIns="25400" rtlCol="0" anchor="t">
            <a:normAutofit/>
          </a:bodyPr>
          <a:lstStyle/>
          <a:p>
            <a:pPr algn="l" indent="0" marL="0">
              <a:lnSpc>
                <a:spcPct val="135000"/>
              </a:lnSpc>
              <a:buNone/>
            </a:pPr>
            <a:r>
              <a:rPr lang="en-US" sz="1950" dirty="0">
                <a:solidFill>
                  <a:srgbClr val="B8B2A8"/>
                </a:solidFill>
                <a:latin typeface="Arial" pitchFamily="34" charset="0"/>
                <a:ea typeface="Arial" pitchFamily="34" charset="-122"/>
                <a:cs typeface="Arial" pitchFamily="34" charset="-120"/>
              </a:rPr>
              <a:t>Radar tecnológico — lo que impacta en negocio.</a:t>
            </a:r>
            <a:endParaRPr lang="en-US" sz="1950" dirty="0"/>
          </a:p>
          <a:p>
            <a:pPr algn="l" indent="0" marL="0">
              <a:lnSpc>
                <a:spcPct val="135000"/>
              </a:lnSpc>
              <a:buNone/>
            </a:pPr>
            <a:r>
              <a:rPr lang="en-US" sz="1950" dirty="0">
                <a:solidFill>
                  <a:srgbClr val="B8B2A8"/>
                </a:solidFill>
                <a:latin typeface="Arial" pitchFamily="34" charset="0"/>
                <a:ea typeface="Arial" pitchFamily="34" charset="-122"/>
                <a:cs typeface="Arial" pitchFamily="34" charset="-120"/>
              </a:rPr>
              <a:t>Sesiones semanales con la comunidad.</a:t>
            </a:r>
            <a:endParaRPr lang="en-US" sz="1950" dirty="0"/>
          </a:p>
          <a:p>
            <a:pPr algn="l" indent="0" marL="0">
              <a:lnSpc>
                <a:spcPct val="135000"/>
              </a:lnSpc>
              <a:buNone/>
            </a:pPr>
            <a:r>
              <a:rPr lang="en-US" sz="1950" dirty="0">
                <a:solidFill>
                  <a:srgbClr val="B8B2A8"/>
                </a:solidFill>
                <a:latin typeface="Arial" pitchFamily="34" charset="0"/>
                <a:ea typeface="Arial" pitchFamily="34" charset="-122"/>
                <a:cs typeface="Arial" pitchFamily="34" charset="-120"/>
              </a:rPr>
              <a:t>Repositorio plug &amp; play.</a:t>
            </a:r>
            <a:endParaRPr lang="en-US" sz="1950" dirty="0"/>
          </a:p>
          <a:p>
            <a:pPr algn="l" indent="0" marL="0">
              <a:lnSpc>
                <a:spcPct val="135000"/>
              </a:lnSpc>
              <a:buNone/>
            </a:pPr>
            <a:r>
              <a:rPr lang="en-US" sz="1950" dirty="0">
                <a:solidFill>
                  <a:srgbClr val="B8B2A8"/>
                </a:solidFill>
                <a:latin typeface="Arial" pitchFamily="34" charset="0"/>
                <a:ea typeface="Arial" pitchFamily="34" charset="-122"/>
                <a:cs typeface="Arial" pitchFamily="34" charset="-120"/>
              </a:rPr>
              <a:t>Resumen ejecutivo en email y WhatsApp.</a:t>
            </a:r>
            <a:endParaRPr lang="en-US" sz="1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F5F2EC"/>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7A766F"/>
                </a:solidFill>
                <a:latin typeface="Arial" pitchFamily="34" charset="0"/>
                <a:ea typeface="Arial" pitchFamily="34" charset="-122"/>
                <a:cs typeface="Arial" pitchFamily="34" charset="-120"/>
              </a:rPr>
              <a:t>39 / 42</a:t>
            </a:r>
            <a:endParaRPr lang="en-US" sz="1800" dirty="0"/>
          </a:p>
        </p:txBody>
      </p:sp>
      <p:sp>
        <p:nvSpPr>
          <p:cNvPr id="4" name="Text 2"/>
          <p:cNvSpPr/>
          <p:nvPr/>
        </p:nvSpPr>
        <p:spPr>
          <a:xfrm>
            <a:off x="902970" y="2724150"/>
            <a:ext cx="16482060" cy="361950"/>
          </a:xfrm>
          <a:prstGeom prst="rect">
            <a:avLst/>
          </a:prstGeom>
          <a:noFill/>
          <a:ln/>
        </p:spPr>
        <p:txBody>
          <a:bodyPr wrap="square" lIns="25400" tIns="25400" rIns="25400" bIns="25400" rtlCol="0" anchor="t">
            <a:normAutofit/>
          </a:bodyPr>
          <a:lstStyle/>
          <a:p>
            <a:pPr algn="ctr" indent="0" marL="0">
              <a:buNone/>
            </a:pPr>
            <a:r>
              <a:rPr lang="en-US" sz="2100" b="1" spc="588" kern="0" dirty="0">
                <a:solidFill>
                  <a:srgbClr val="EC4429"/>
                </a:solidFill>
                <a:latin typeface="Arial" pitchFamily="34" charset="0"/>
                <a:ea typeface="Arial" pitchFamily="34" charset="-122"/>
                <a:cs typeface="Arial" pitchFamily="34" charset="-120"/>
              </a:rPr>
              <a:t>ACCESO AL PROGRAMA</a:t>
            </a:r>
            <a:endParaRPr lang="en-US" sz="2100" dirty="0"/>
          </a:p>
        </p:txBody>
      </p:sp>
      <p:sp>
        <p:nvSpPr>
          <p:cNvPr id="5" name="Text 3"/>
          <p:cNvSpPr/>
          <p:nvPr/>
        </p:nvSpPr>
        <p:spPr>
          <a:xfrm>
            <a:off x="902970" y="3276600"/>
            <a:ext cx="16482060" cy="3467100"/>
          </a:xfrm>
          <a:prstGeom prst="rect">
            <a:avLst/>
          </a:prstGeom>
          <a:noFill/>
          <a:ln/>
        </p:spPr>
        <p:txBody>
          <a:bodyPr wrap="square" lIns="25400" tIns="25400" rIns="25400" bIns="25400" rtlCol="0" anchor="t">
            <a:normAutofit/>
          </a:bodyPr>
          <a:lstStyle/>
          <a:p>
            <a:pPr algn="ctr" indent="0" marL="0">
              <a:lnSpc>
                <a:spcPct val="90000"/>
              </a:lnSpc>
              <a:buNone/>
            </a:pPr>
            <a:r>
              <a:rPr lang="en-US" sz="16500" spc="-1200" kern="0" dirty="0">
                <a:solidFill>
                  <a:srgbClr val="5A5A5A"/>
                </a:solidFill>
                <a:latin typeface="Georgia" pitchFamily="34" charset="0"/>
                <a:ea typeface="Georgia" pitchFamily="34" charset="-122"/>
                <a:cs typeface="Georgia" pitchFamily="34" charset="-120"/>
              </a:rPr>
              <a:t>€</a:t>
            </a:r>
            <a:pPr algn="ctr" indent="0" marL="0">
              <a:lnSpc>
                <a:spcPct val="90000"/>
              </a:lnSpc>
              <a:buNone/>
            </a:pPr>
            <a:r>
              <a:rPr lang="en-US" sz="30000" spc="-1200" kern="0" dirty="0">
                <a:solidFill>
                  <a:srgbClr val="F5F2EC"/>
                </a:solidFill>
                <a:latin typeface="Georgia" pitchFamily="34" charset="0"/>
                <a:ea typeface="Georgia" pitchFamily="34" charset="-122"/>
                <a:cs typeface="Georgia" pitchFamily="34" charset="-120"/>
              </a:rPr>
              <a:t>1.997</a:t>
            </a:r>
            <a:endParaRPr lang="en-US" sz="30000" dirty="0"/>
          </a:p>
        </p:txBody>
      </p:sp>
      <p:sp>
        <p:nvSpPr>
          <p:cNvPr id="6" name="Text 4"/>
          <p:cNvSpPr/>
          <p:nvPr/>
        </p:nvSpPr>
        <p:spPr>
          <a:xfrm>
            <a:off x="902970" y="7162800"/>
            <a:ext cx="16482060" cy="438150"/>
          </a:xfrm>
          <a:prstGeom prst="rect">
            <a:avLst/>
          </a:prstGeom>
          <a:noFill/>
          <a:ln/>
        </p:spPr>
        <p:txBody>
          <a:bodyPr wrap="square" lIns="25400" tIns="25400" rIns="25400" bIns="25400" rtlCol="0" anchor="t">
            <a:normAutofit/>
          </a:bodyPr>
          <a:lstStyle/>
          <a:p>
            <a:pPr algn="ctr" indent="0" marL="0">
              <a:buNone/>
            </a:pPr>
            <a:r>
              <a:rPr lang="en-US" sz="2550" dirty="0">
                <a:solidFill>
                  <a:srgbClr val="5A5A5A"/>
                </a:solidFill>
                <a:latin typeface="Arial" pitchFamily="34" charset="0"/>
                <a:ea typeface="Arial" pitchFamily="34" charset="-122"/>
                <a:cs typeface="Arial" pitchFamily="34" charset="-120"/>
              </a:rPr>
              <a:t>O financiado en </a:t>
            </a:r>
            <a:pPr algn="ctr" indent="0" marL="0">
              <a:buNone/>
            </a:pPr>
            <a:r>
              <a:rPr lang="en-US" sz="2550" b="1" dirty="0">
                <a:solidFill>
                  <a:srgbClr val="F5F2EC"/>
                </a:solidFill>
                <a:latin typeface="Arial" pitchFamily="34" charset="0"/>
                <a:ea typeface="Arial" pitchFamily="34" charset="-122"/>
                <a:cs typeface="Arial" pitchFamily="34" charset="-120"/>
              </a:rPr>
              <a:t>2 plazos de 1.075 € </a:t>
            </a:r>
            <a:pPr algn="ctr" indent="0" marL="0">
              <a:buNone/>
            </a:pPr>
            <a:r>
              <a:rPr lang="en-US" sz="2550" dirty="0">
                <a:solidFill>
                  <a:srgbClr val="8A8A8A"/>
                </a:solidFill>
                <a:latin typeface="Arial" pitchFamily="34" charset="0"/>
                <a:ea typeface="Arial" pitchFamily="34" charset="-122"/>
                <a:cs typeface="Arial" pitchFamily="34" charset="-120"/>
              </a:rPr>
              <a:t>· </a:t>
            </a:r>
            <a:pPr algn="ctr" indent="0" marL="0">
              <a:buNone/>
            </a:pPr>
            <a:r>
              <a:rPr lang="en-US" sz="2550" b="1" dirty="0">
                <a:solidFill>
                  <a:srgbClr val="F5F2EC"/>
                </a:solidFill>
                <a:latin typeface="Arial" pitchFamily="34" charset="0"/>
                <a:ea typeface="Arial" pitchFamily="34" charset="-122"/>
                <a:cs typeface="Arial" pitchFamily="34" charset="-120"/>
              </a:rPr>
              <a:t>3 plazos de 750 €</a:t>
            </a:r>
            <a:endParaRPr lang="en-US" sz="25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161616"/>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A5A5A"/>
                </a:solidFill>
                <a:latin typeface="Arial" pitchFamily="34" charset="0"/>
                <a:ea typeface="Arial" pitchFamily="34" charset="-122"/>
                <a:cs typeface="Arial" pitchFamily="34" charset="-120"/>
              </a:rPr>
              <a:t>40 / 42</a:t>
            </a:r>
            <a:endParaRPr lang="en-US" sz="1800" dirty="0"/>
          </a:p>
        </p:txBody>
      </p:sp>
      <p:sp>
        <p:nvSpPr>
          <p:cNvPr id="4" name="Shape 2"/>
          <p:cNvSpPr/>
          <p:nvPr/>
        </p:nvSpPr>
        <p:spPr>
          <a:xfrm>
            <a:off x="1143000" y="2952750"/>
            <a:ext cx="4381500" cy="4381500"/>
          </a:xfrm>
          <a:prstGeom prst="ellipse">
            <a:avLst/>
          </a:prstGeom>
          <a:ln w="28575">
            <a:solidFill>
              <a:srgbClr val="EC4429"/>
            </a:solidFill>
            <a:prstDash val="solid"/>
          </a:ln>
        </p:spPr>
      </p:sp>
      <p:sp>
        <p:nvSpPr>
          <p:cNvPr id="5" name="Shape 3"/>
          <p:cNvSpPr/>
          <p:nvPr/>
        </p:nvSpPr>
        <p:spPr>
          <a:xfrm>
            <a:off x="1409700" y="3219450"/>
            <a:ext cx="3848100" cy="3848100"/>
          </a:xfrm>
          <a:prstGeom prst="ellipse">
            <a:avLst/>
          </a:prstGeom>
          <a:ln w="9525">
            <a:solidFill>
              <a:srgbClr val="EC4429"/>
            </a:solidFill>
            <a:prstDash val="solid"/>
          </a:ln>
        </p:spPr>
      </p:sp>
      <p:pic>
        <p:nvPicPr>
          <p:cNvPr id="6" name="Image 0" descr="preencoded.png">    </p:cNvPr>
          <p:cNvPicPr>
            <a:picLocks noChangeAspect="1"/>
          </p:cNvPicPr>
          <p:nvPr/>
        </p:nvPicPr>
        <p:blipFill>
          <a:blip r:embed="rId1"/>
          <a:stretch>
            <a:fillRect/>
          </a:stretch>
        </p:blipFill>
        <p:spPr>
          <a:xfrm>
            <a:off x="1143000" y="2952750"/>
            <a:ext cx="4381500" cy="4381500"/>
          </a:xfrm>
          <a:prstGeom prst="rect">
            <a:avLst/>
          </a:prstGeom>
        </p:spPr>
      </p:pic>
      <p:sp>
        <p:nvSpPr>
          <p:cNvPr id="7" name="Text 4"/>
          <p:cNvSpPr/>
          <p:nvPr/>
        </p:nvSpPr>
        <p:spPr>
          <a:xfrm>
            <a:off x="2261146" y="4037707"/>
            <a:ext cx="2145060" cy="1847850"/>
          </a:xfrm>
          <a:prstGeom prst="rect">
            <a:avLst/>
          </a:prstGeom>
          <a:noFill/>
          <a:ln/>
        </p:spPr>
        <p:txBody>
          <a:bodyPr wrap="square" lIns="25400" tIns="25400" rIns="25400" bIns="25400" rtlCol="0" anchor="t">
            <a:normAutofit/>
          </a:bodyPr>
          <a:lstStyle/>
          <a:p>
            <a:pPr algn="ctr" indent="0" marL="0">
              <a:lnSpc>
                <a:spcPct val="95000"/>
              </a:lnSpc>
              <a:buNone/>
            </a:pPr>
            <a:r>
              <a:rPr lang="en-US" sz="15000" dirty="0">
                <a:solidFill>
                  <a:srgbClr val="EC4429"/>
                </a:solidFill>
                <a:latin typeface="Georgia" pitchFamily="34" charset="0"/>
                <a:ea typeface="Georgia" pitchFamily="34" charset="-122"/>
                <a:cs typeface="Georgia" pitchFamily="34" charset="-120"/>
              </a:rPr>
              <a:t>0*</a:t>
            </a:r>
            <a:endParaRPr lang="en-US" sz="15000" dirty="0"/>
          </a:p>
        </p:txBody>
      </p:sp>
      <p:sp>
        <p:nvSpPr>
          <p:cNvPr id="8" name="Text 5"/>
          <p:cNvSpPr/>
          <p:nvPr/>
        </p:nvSpPr>
        <p:spPr>
          <a:xfrm>
            <a:off x="2566095" y="5923657"/>
            <a:ext cx="1535311" cy="363736"/>
          </a:xfrm>
          <a:prstGeom prst="rect">
            <a:avLst/>
          </a:prstGeom>
          <a:noFill/>
          <a:ln/>
        </p:spPr>
        <p:txBody>
          <a:bodyPr wrap="square" lIns="25400" tIns="25400" rIns="25400" bIns="25400" rtlCol="0" anchor="t">
            <a:normAutofit/>
          </a:bodyPr>
          <a:lstStyle/>
          <a:p>
            <a:pPr algn="ctr" indent="0" marL="0">
              <a:lnSpc>
                <a:spcPct val="95000"/>
              </a:lnSpc>
              <a:buNone/>
            </a:pPr>
            <a:r>
              <a:rPr lang="en-US" sz="2700" spc="216" kern="0" dirty="0">
                <a:solidFill>
                  <a:srgbClr val="EC4429"/>
                </a:solidFill>
                <a:latin typeface="Georgia" pitchFamily="34" charset="0"/>
                <a:ea typeface="Georgia" pitchFamily="34" charset="-122"/>
                <a:cs typeface="Georgia" pitchFamily="34" charset="-120"/>
              </a:rPr>
              <a:t>RIESGO</a:t>
            </a:r>
            <a:endParaRPr lang="en-US" sz="2700" dirty="0"/>
          </a:p>
        </p:txBody>
      </p:sp>
      <p:sp>
        <p:nvSpPr>
          <p:cNvPr id="9" name="Text 6"/>
          <p:cNvSpPr/>
          <p:nvPr/>
        </p:nvSpPr>
        <p:spPr>
          <a:xfrm>
            <a:off x="7048500" y="3123902"/>
            <a:ext cx="10399395" cy="1747838"/>
          </a:xfrm>
          <a:prstGeom prst="rect">
            <a:avLst/>
          </a:prstGeom>
          <a:noFill/>
          <a:ln/>
        </p:spPr>
        <p:txBody>
          <a:bodyPr wrap="square" lIns="25400" tIns="25400" rIns="25400" bIns="25400" rtlCol="0" anchor="t">
            <a:normAutofit/>
          </a:bodyPr>
          <a:lstStyle/>
          <a:p>
            <a:pPr algn="l" indent="0" marL="0">
              <a:lnSpc>
                <a:spcPct val="102000"/>
              </a:lnSpc>
              <a:buNone/>
            </a:pPr>
            <a:r>
              <a:rPr lang="en-US" sz="6600" b="1" spc="-132" kern="0" dirty="0">
                <a:solidFill>
                  <a:srgbClr val="161616"/>
                </a:solidFill>
                <a:latin typeface="Georgia" pitchFamily="34" charset="0"/>
                <a:ea typeface="Georgia" pitchFamily="34" charset="-122"/>
                <a:cs typeface="Georgia" pitchFamily="34" charset="-120"/>
              </a:rPr>
              <a:t>Garantía </a:t>
            </a:r>
            <a:pPr algn="l" indent="0" marL="0">
              <a:lnSpc>
                <a:spcPct val="102000"/>
              </a:lnSpc>
              <a:buNone/>
            </a:pPr>
            <a:r>
              <a:rPr lang="en-US" sz="6600" b="1" i="1" spc="-132" kern="0" dirty="0">
                <a:solidFill>
                  <a:srgbClr val="EC4429"/>
                </a:solidFill>
                <a:latin typeface="Georgia" pitchFamily="34" charset="0"/>
                <a:ea typeface="Georgia" pitchFamily="34" charset="-122"/>
                <a:cs typeface="Georgia" pitchFamily="34" charset="-120"/>
              </a:rPr>
              <a:t>0 riesgo.</a:t>
            </a:r>
            <a:endParaRPr lang="en-US" sz="6600" dirty="0"/>
          </a:p>
        </p:txBody>
      </p:sp>
      <p:sp>
        <p:nvSpPr>
          <p:cNvPr id="10" name="Text 7"/>
          <p:cNvSpPr/>
          <p:nvPr/>
        </p:nvSpPr>
        <p:spPr>
          <a:xfrm>
            <a:off x="7048500" y="5138440"/>
            <a:ext cx="9810750" cy="1329333"/>
          </a:xfrm>
          <a:prstGeom prst="rect">
            <a:avLst/>
          </a:prstGeom>
          <a:noFill/>
          <a:ln/>
        </p:spPr>
        <p:txBody>
          <a:bodyPr wrap="square" lIns="25400" tIns="25400" rIns="25400" bIns="25400" rtlCol="0" anchor="t">
            <a:normAutofit/>
          </a:bodyPr>
          <a:lstStyle/>
          <a:p>
            <a:pPr algn="l" indent="0" marL="0">
              <a:lnSpc>
                <a:spcPct val="135000"/>
              </a:lnSpc>
              <a:buNone/>
            </a:pPr>
            <a:r>
              <a:rPr lang="en-US" sz="2400" dirty="0">
                <a:solidFill>
                  <a:srgbClr val="5A5A5A"/>
                </a:solidFill>
                <a:latin typeface="Arial" pitchFamily="34" charset="0"/>
                <a:ea typeface="Arial" pitchFamily="34" charset="-122"/>
                <a:cs typeface="Arial" pitchFamily="34" charset="-120"/>
              </a:rPr>
              <a:t>Si asistes a todas las sesiones del programa durante los primeros </a:t>
            </a:r>
            <a:pPr algn="l" indent="0" marL="0">
              <a:lnSpc>
                <a:spcPct val="135000"/>
              </a:lnSpc>
              <a:buNone/>
            </a:pPr>
            <a:r>
              <a:rPr lang="en-US" sz="2400" b="1" dirty="0">
                <a:solidFill>
                  <a:srgbClr val="161616"/>
                </a:solidFill>
                <a:latin typeface="Arial" pitchFamily="34" charset="0"/>
                <a:ea typeface="Arial" pitchFamily="34" charset="-122"/>
                <a:cs typeface="Arial" pitchFamily="34" charset="-120"/>
              </a:rPr>
              <a:t>30 días </a:t>
            </a:r>
            <a:pPr algn="l" indent="0" marL="0">
              <a:lnSpc>
                <a:spcPct val="135000"/>
              </a:lnSpc>
              <a:buNone/>
            </a:pPr>
            <a:r>
              <a:rPr lang="en-US" sz="2400" dirty="0">
                <a:solidFill>
                  <a:srgbClr val="5A5A5A"/>
                </a:solidFill>
                <a:latin typeface="Arial" pitchFamily="34" charset="0"/>
                <a:ea typeface="Arial" pitchFamily="34" charset="-122"/>
                <a:cs typeface="Arial" pitchFamily="34" charset="-120"/>
              </a:rPr>
              <a:t>y, aun así, consideras que Executive Lab no ha aportado valor real a tu gestión directiva, te devolvemos el </a:t>
            </a:r>
            <a:pPr algn="l" indent="0" marL="0">
              <a:lnSpc>
                <a:spcPct val="135000"/>
              </a:lnSpc>
              <a:buNone/>
            </a:pPr>
            <a:r>
              <a:rPr lang="en-US" sz="2400" b="1" dirty="0">
                <a:solidFill>
                  <a:srgbClr val="161616"/>
                </a:solidFill>
                <a:latin typeface="Arial" pitchFamily="34" charset="0"/>
                <a:ea typeface="Arial" pitchFamily="34" charset="-122"/>
                <a:cs typeface="Arial" pitchFamily="34" charset="-120"/>
              </a:rPr>
              <a:t>100% de tu inversión</a:t>
            </a:r>
            <a:pPr algn="l" indent="0" marL="0">
              <a:lnSpc>
                <a:spcPct val="135000"/>
              </a:lnSpc>
              <a:buNone/>
            </a:pPr>
            <a:r>
              <a:rPr lang="en-US" sz="2400" dirty="0">
                <a:solidFill>
                  <a:srgbClr val="5A5A5A"/>
                </a:solidFill>
                <a:latin typeface="Arial" pitchFamily="34" charset="0"/>
                <a:ea typeface="Arial" pitchFamily="34" charset="-122"/>
                <a:cs typeface="Arial" pitchFamily="34" charset="-120"/>
              </a:rPr>
              <a:t>.</a:t>
            </a:r>
            <a:endParaRPr lang="en-US" sz="2400" dirty="0"/>
          </a:p>
        </p:txBody>
      </p:sp>
      <p:sp>
        <p:nvSpPr>
          <p:cNvPr id="11" name="Text 8"/>
          <p:cNvSpPr/>
          <p:nvPr/>
        </p:nvSpPr>
        <p:spPr>
          <a:xfrm>
            <a:off x="7048500" y="6772573"/>
            <a:ext cx="10399395" cy="428625"/>
          </a:xfrm>
          <a:prstGeom prst="rect">
            <a:avLst/>
          </a:prstGeom>
          <a:noFill/>
          <a:ln/>
        </p:spPr>
        <p:txBody>
          <a:bodyPr wrap="square" lIns="25400" tIns="25400" rIns="25400" bIns="25400" rtlCol="0" anchor="t">
            <a:normAutofit/>
          </a:bodyPr>
          <a:lstStyle/>
          <a:p>
            <a:pPr algn="l" indent="0" marL="0">
              <a:buNone/>
            </a:pPr>
            <a:r>
              <a:rPr lang="en-US" sz="2700" dirty="0">
                <a:solidFill>
                  <a:srgbClr val="EC4429"/>
                </a:solidFill>
                <a:latin typeface="Georgia" pitchFamily="34" charset="0"/>
                <a:ea typeface="Georgia" pitchFamily="34" charset="-122"/>
                <a:cs typeface="Georgia" pitchFamily="34" charset="-120"/>
              </a:rPr>
              <a:t>Sin letra pequeña. Sin discusiones.</a:t>
            </a:r>
            <a:endParaRPr lang="en-US" sz="2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EC4429"/>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F5F2EC"/>
                </a:solidFill>
                <a:latin typeface="Georgia" pitchFamily="34" charset="0"/>
                <a:ea typeface="Georgia" pitchFamily="34" charset="-122"/>
                <a:cs typeface="Georgia" pitchFamily="34" charset="-120"/>
              </a:rPr>
              <a:t>Executive</a:t>
            </a:r>
            <a:pPr algn="l" indent="0" marL="0">
              <a:buNone/>
            </a:pPr>
            <a:r>
              <a:rPr lang="en-US" sz="2400" spc="-24" kern="0" dirty="0">
                <a:solidFill>
                  <a:srgbClr val="1F1F1F"/>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FFFFFF">
                    <a:alpha val="70000"/>
                  </a:srgbClr>
                </a:solidFill>
                <a:latin typeface="Arial" pitchFamily="34" charset="0"/>
                <a:ea typeface="Arial" pitchFamily="34" charset="-122"/>
                <a:cs typeface="Arial" pitchFamily="34" charset="-120"/>
              </a:rPr>
              <a:t>41 / 42</a:t>
            </a:r>
            <a:endParaRPr lang="en-US" sz="1800" dirty="0"/>
          </a:p>
        </p:txBody>
      </p:sp>
      <p:sp>
        <p:nvSpPr>
          <p:cNvPr id="4" name="Text 2"/>
          <p:cNvSpPr/>
          <p:nvPr/>
        </p:nvSpPr>
        <p:spPr>
          <a:xfrm>
            <a:off x="7513423" y="2800350"/>
            <a:ext cx="3261155" cy="361950"/>
          </a:xfrm>
          <a:prstGeom prst="rect">
            <a:avLst/>
          </a:prstGeom>
          <a:noFill/>
          <a:ln/>
        </p:spPr>
        <p:txBody>
          <a:bodyPr wrap="square" lIns="25400" tIns="25400" rIns="25400" bIns="25400" rtlCol="0" anchor="t">
            <a:normAutofit/>
          </a:bodyPr>
          <a:lstStyle/>
          <a:p>
            <a:pPr algn="ctr" indent="0" marL="0">
              <a:buNone/>
            </a:pPr>
            <a:r>
              <a:rPr lang="en-US" sz="2100" b="1" spc="588" kern="0" dirty="0">
                <a:solidFill>
                  <a:srgbClr val="FFFFFF">
                    <a:alpha val="85000"/>
                  </a:srgbClr>
                </a:solidFill>
                <a:latin typeface="Arial" pitchFamily="34" charset="0"/>
                <a:ea typeface="Arial" pitchFamily="34" charset="-122"/>
                <a:cs typeface="Arial" pitchFamily="34" charset="-120"/>
              </a:rPr>
              <a:t>EXECUTIVE LAB</a:t>
            </a:r>
            <a:pPr algn="ctr" indent="0" marL="0">
              <a:buNone/>
            </a:pPr>
            <a:r>
              <a:rPr lang="en-US" sz="2100" b="1" spc="588" kern="0" dirty="0">
                <a:solidFill>
                  <a:srgbClr val="1F1F1F"/>
                </a:solidFill>
                <a:latin typeface="Arial" pitchFamily="34" charset="0"/>
                <a:ea typeface="Arial" pitchFamily="34" charset="-122"/>
                <a:cs typeface="Arial" pitchFamily="34" charset="-120"/>
              </a:rPr>
              <a:t>*</a:t>
            </a:r>
            <a:endParaRPr lang="en-US" sz="2100" dirty="0"/>
          </a:p>
        </p:txBody>
      </p:sp>
      <p:sp>
        <p:nvSpPr>
          <p:cNvPr id="5" name="Text 3"/>
          <p:cNvSpPr/>
          <p:nvPr/>
        </p:nvSpPr>
        <p:spPr>
          <a:xfrm>
            <a:off x="3355811" y="3352800"/>
            <a:ext cx="11576378" cy="1371600"/>
          </a:xfrm>
          <a:prstGeom prst="rect">
            <a:avLst/>
          </a:prstGeom>
          <a:noFill/>
          <a:ln/>
        </p:spPr>
        <p:txBody>
          <a:bodyPr wrap="square" lIns="25400" tIns="25400" rIns="25400" bIns="25400" rtlCol="0" anchor="t">
            <a:normAutofit/>
          </a:bodyPr>
          <a:lstStyle/>
          <a:p>
            <a:pPr algn="ctr" indent="0" marL="0">
              <a:lnSpc>
                <a:spcPct val="100000"/>
              </a:lnSpc>
              <a:buNone/>
            </a:pPr>
            <a:r>
              <a:rPr lang="en-US" sz="10500" spc="-262" kern="0" dirty="0">
                <a:solidFill>
                  <a:srgbClr val="FBFAF7"/>
                </a:solidFill>
                <a:latin typeface="Georgia" pitchFamily="34" charset="0"/>
                <a:ea typeface="Georgia" pitchFamily="34" charset="-122"/>
                <a:cs typeface="Georgia" pitchFamily="34" charset="-120"/>
              </a:rPr>
              <a:t>Acceso al programa</a:t>
            </a:r>
            <a:pPr algn="ctr" indent="0" marL="0">
              <a:lnSpc>
                <a:spcPct val="100000"/>
              </a:lnSpc>
              <a:buNone/>
            </a:pPr>
            <a:r>
              <a:rPr lang="en-US" sz="10500" spc="-262" kern="0" dirty="0">
                <a:solidFill>
                  <a:srgbClr val="1F1F1F"/>
                </a:solidFill>
                <a:latin typeface="Georgia" pitchFamily="34" charset="0"/>
                <a:ea typeface="Georgia" pitchFamily="34" charset="-122"/>
                <a:cs typeface="Georgia" pitchFamily="34" charset="-120"/>
              </a:rPr>
              <a:t>.</a:t>
            </a:r>
            <a:endParaRPr lang="en-US" sz="10500" dirty="0"/>
          </a:p>
        </p:txBody>
      </p:sp>
      <p:sp>
        <p:nvSpPr>
          <p:cNvPr id="6" name="Text 4"/>
          <p:cNvSpPr/>
          <p:nvPr/>
        </p:nvSpPr>
        <p:spPr>
          <a:xfrm>
            <a:off x="5247293" y="4914900"/>
            <a:ext cx="7793415" cy="2609850"/>
          </a:xfrm>
          <a:prstGeom prst="rect">
            <a:avLst/>
          </a:prstGeom>
          <a:noFill/>
          <a:ln/>
        </p:spPr>
        <p:txBody>
          <a:bodyPr wrap="square" lIns="25400" tIns="25400" rIns="25400" bIns="25400" rtlCol="0" anchor="t">
            <a:normAutofit/>
          </a:bodyPr>
          <a:lstStyle/>
          <a:p>
            <a:pPr algn="ctr" indent="0" marL="0">
              <a:lnSpc>
                <a:spcPct val="90000"/>
              </a:lnSpc>
              <a:buNone/>
            </a:pPr>
            <a:r>
              <a:rPr lang="en-US" sz="22500" spc="-900" kern="0" dirty="0">
                <a:solidFill>
                  <a:srgbClr val="FBFAF7"/>
                </a:solidFill>
                <a:latin typeface="Georgia" pitchFamily="34" charset="0"/>
                <a:ea typeface="Georgia" pitchFamily="34" charset="-122"/>
                <a:cs typeface="Georgia" pitchFamily="34" charset="-120"/>
              </a:rPr>
              <a:t>1.997 </a:t>
            </a:r>
            <a:pPr algn="ctr" indent="0" marL="0">
              <a:lnSpc>
                <a:spcPct val="90000"/>
              </a:lnSpc>
              <a:buNone/>
            </a:pPr>
            <a:r>
              <a:rPr lang="en-US" sz="12375" spc="-900" kern="0" dirty="0">
                <a:solidFill>
                  <a:srgbClr val="FBFAF7"/>
                </a:solidFill>
                <a:latin typeface="Georgia" pitchFamily="34" charset="0"/>
                <a:ea typeface="Georgia" pitchFamily="34" charset="-122"/>
                <a:cs typeface="Georgia" pitchFamily="34" charset="-120"/>
              </a:rPr>
              <a:t>€</a:t>
            </a:r>
            <a:endParaRPr lang="en-US" sz="22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1143000" y="495300"/>
            <a:ext cx="1996232" cy="381000"/>
          </a:xfrm>
          <a:prstGeom prst="rect">
            <a:avLst/>
          </a:prstGeom>
          <a:noFill/>
          <a:ln/>
        </p:spPr>
        <p:txBody>
          <a:bodyPr wrap="square" lIns="25400" tIns="25400" rIns="25400" bIns="25400" rtlCol="0" anchor="t">
            <a:normAutofit/>
          </a:bodyPr>
          <a:lstStyle/>
          <a:p>
            <a:pPr algn="l" indent="0" marL="0">
              <a:buNone/>
            </a:pPr>
            <a:r>
              <a:rPr lang="en-US" sz="2400" spc="-24" kern="0" dirty="0">
                <a:solidFill>
                  <a:srgbClr val="F5F2EC"/>
                </a:solidFill>
                <a:latin typeface="Georgia" pitchFamily="34" charset="0"/>
                <a:ea typeface="Georgia" pitchFamily="34" charset="-122"/>
                <a:cs typeface="Georgia" pitchFamily="34" charset="-120"/>
              </a:rPr>
              <a:t>Executive</a:t>
            </a:r>
            <a:pPr algn="l" indent="0" marL="0">
              <a:buNone/>
            </a:pPr>
            <a:r>
              <a:rPr lang="en-US" sz="2400" spc="-24" kern="0" dirty="0">
                <a:solidFill>
                  <a:srgbClr val="EC4429"/>
                </a:solidFill>
                <a:latin typeface="Georgia" pitchFamily="34" charset="0"/>
                <a:ea typeface="Georgia" pitchFamily="34" charset="-122"/>
                <a:cs typeface="Georgia" pitchFamily="34" charset="-120"/>
              </a:rPr>
              <a:t>Lab*</a:t>
            </a:r>
            <a:endParaRPr lang="en-US" sz="2400" dirty="0"/>
          </a:p>
        </p:txBody>
      </p:sp>
      <p:sp>
        <p:nvSpPr>
          <p:cNvPr id="3" name="Text 1"/>
          <p:cNvSpPr/>
          <p:nvPr/>
        </p:nvSpPr>
        <p:spPr>
          <a:xfrm>
            <a:off x="16373921" y="528638"/>
            <a:ext cx="847279" cy="314325"/>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7A766F"/>
                </a:solidFill>
                <a:latin typeface="Arial" pitchFamily="34" charset="0"/>
                <a:ea typeface="Arial" pitchFamily="34" charset="-122"/>
                <a:cs typeface="Arial" pitchFamily="34" charset="-120"/>
              </a:rPr>
              <a:t>42 / 42</a:t>
            </a:r>
            <a:endParaRPr lang="en-US" sz="1800" dirty="0"/>
          </a:p>
        </p:txBody>
      </p:sp>
      <p:sp>
        <p:nvSpPr>
          <p:cNvPr id="4" name="Text 2"/>
          <p:cNvSpPr/>
          <p:nvPr/>
        </p:nvSpPr>
        <p:spPr>
          <a:xfrm>
            <a:off x="1143000" y="1689348"/>
            <a:ext cx="3669987" cy="361950"/>
          </a:xfrm>
          <a:prstGeom prst="rect">
            <a:avLst/>
          </a:prstGeom>
          <a:noFill/>
          <a:ln/>
        </p:spPr>
        <p:txBody>
          <a:bodyPr wrap="square" lIns="25400" tIns="25400" rIns="25400" bIns="25400" rtlCol="0" anchor="t">
            <a:normAutofit/>
          </a:bodyPr>
          <a:lstStyle/>
          <a:p>
            <a:pPr algn="l" indent="0" marL="0">
              <a:buNone/>
            </a:pPr>
            <a:r>
              <a:rPr lang="en-US" sz="2100" b="1" spc="588" kern="0" dirty="0">
                <a:solidFill>
                  <a:srgbClr val="EC4429"/>
                </a:solidFill>
                <a:latin typeface="Arial" pitchFamily="34" charset="0"/>
                <a:ea typeface="Arial" pitchFamily="34" charset="-122"/>
                <a:cs typeface="Arial" pitchFamily="34" charset="-120"/>
              </a:rPr>
              <a:t>MUCHAS GRACIAS</a:t>
            </a:r>
            <a:pPr algn="l" indent="0" marL="0">
              <a:buNone/>
            </a:pPr>
            <a:r>
              <a:rPr lang="en-US" sz="2100" b="1" spc="588" kern="0" dirty="0">
                <a:solidFill>
                  <a:srgbClr val="EC4429"/>
                </a:solidFill>
                <a:latin typeface="Georgia" pitchFamily="34" charset="0"/>
                <a:ea typeface="Georgia" pitchFamily="34" charset="-122"/>
                <a:cs typeface="Georgia" pitchFamily="34" charset="-120"/>
              </a:rPr>
              <a:t>.</a:t>
            </a:r>
            <a:endParaRPr lang="en-US" sz="2100" dirty="0"/>
          </a:p>
        </p:txBody>
      </p:sp>
      <p:sp>
        <p:nvSpPr>
          <p:cNvPr id="5" name="Text 3"/>
          <p:cNvSpPr/>
          <p:nvPr/>
        </p:nvSpPr>
        <p:spPr>
          <a:xfrm>
            <a:off x="1143000" y="2241798"/>
            <a:ext cx="16482060" cy="5414665"/>
          </a:xfrm>
          <a:prstGeom prst="rect">
            <a:avLst/>
          </a:prstGeom>
          <a:noFill/>
          <a:ln/>
        </p:spPr>
        <p:txBody>
          <a:bodyPr wrap="square" lIns="25400" tIns="25400" rIns="25400" bIns="25400" rtlCol="0" anchor="t">
            <a:normAutofit/>
          </a:bodyPr>
          <a:lstStyle/>
          <a:p>
            <a:pPr algn="l" indent="0" marL="0">
              <a:lnSpc>
                <a:spcPct val="98000"/>
              </a:lnSpc>
              <a:buNone/>
            </a:pPr>
            <a:r>
              <a:rPr lang="en-US" sz="14400" b="1" spc="-360" kern="0" dirty="0">
                <a:solidFill>
                  <a:srgbClr val="F5F2EC"/>
                </a:solidFill>
                <a:latin typeface="Georgia" pitchFamily="34" charset="0"/>
                <a:ea typeface="Georgia" pitchFamily="34" charset="-122"/>
                <a:cs typeface="Georgia" pitchFamily="34" charset="-120"/>
              </a:rPr>
              <a:t>Abrimos sesión de </a:t>
            </a:r>
            <a:pPr algn="l" indent="0" marL="0">
              <a:lnSpc>
                <a:spcPct val="98000"/>
              </a:lnSpc>
              <a:buNone/>
            </a:pPr>
            <a:r>
              <a:rPr lang="en-US" sz="14400" b="1" i="1" spc="-360" kern="0" dirty="0">
                <a:solidFill>
                  <a:srgbClr val="EC4429"/>
                </a:solidFill>
                <a:latin typeface="Georgia" pitchFamily="34" charset="0"/>
                <a:ea typeface="Georgia" pitchFamily="34" charset="-122"/>
                <a:cs typeface="Georgia" pitchFamily="34" charset="-120"/>
              </a:rPr>
              <a:t>preguntas </a:t>
            </a:r>
            <a:pPr algn="l" indent="0" marL="0">
              <a:lnSpc>
                <a:spcPct val="98000"/>
              </a:lnSpc>
              <a:buNone/>
            </a:pPr>
            <a:r>
              <a:rPr lang="en-US" sz="14400" b="1" spc="-360" kern="0" dirty="0">
                <a:solidFill>
                  <a:srgbClr val="F5F2EC"/>
                </a:solidFill>
                <a:latin typeface="Georgia" pitchFamily="34" charset="0"/>
                <a:ea typeface="Georgia" pitchFamily="34" charset="-122"/>
                <a:cs typeface="Georgia" pitchFamily="34" charset="-120"/>
              </a:rPr>
              <a:t>y respuestas </a:t>
            </a:r>
            <a:pPr algn="l" indent="0" marL="0">
              <a:lnSpc>
                <a:spcPct val="98000"/>
              </a:lnSpc>
              <a:buNone/>
            </a:pPr>
            <a:r>
              <a:rPr lang="en-US" sz="14400" b="1" spc="-360" kern="0" dirty="0">
                <a:solidFill>
                  <a:srgbClr val="EC4429"/>
                </a:solidFill>
                <a:latin typeface="Georgia" pitchFamily="34" charset="0"/>
                <a:ea typeface="Georgia" pitchFamily="34" charset="-122"/>
                <a:cs typeface="Georgia" pitchFamily="34" charset="-120"/>
              </a:rPr>
              <a:t>.</a:t>
            </a:r>
            <a:endParaRPr lang="en-US" sz="14400" dirty="0"/>
          </a:p>
        </p:txBody>
      </p:sp>
      <p:sp>
        <p:nvSpPr>
          <p:cNvPr id="6" name="Text 4"/>
          <p:cNvSpPr/>
          <p:nvPr/>
        </p:nvSpPr>
        <p:spPr>
          <a:xfrm>
            <a:off x="1143000" y="8151763"/>
            <a:ext cx="9012094" cy="483840"/>
          </a:xfrm>
          <a:prstGeom prst="rect">
            <a:avLst/>
          </a:prstGeom>
          <a:noFill/>
          <a:ln/>
        </p:spPr>
        <p:txBody>
          <a:bodyPr wrap="square" lIns="25400" tIns="25400" rIns="25400" bIns="25400" rtlCol="0" anchor="t">
            <a:normAutofit/>
          </a:bodyPr>
          <a:lstStyle/>
          <a:p>
            <a:pPr algn="l" indent="0" marL="0">
              <a:lnSpc>
                <a:spcPct val="130000"/>
              </a:lnSpc>
              <a:buNone/>
            </a:pPr>
            <a:r>
              <a:rPr lang="en-US" sz="2700" dirty="0">
                <a:solidFill>
                  <a:srgbClr val="B8B2A8"/>
                </a:solidFill>
                <a:latin typeface="Arial" pitchFamily="34" charset="0"/>
                <a:ea typeface="Arial" pitchFamily="34" charset="-122"/>
                <a:cs typeface="Arial" pitchFamily="34" charset="-120"/>
              </a:rPr>
              <a:t>Pregunta lo que necesites. Estamos aquí para responder.</a:t>
            </a:r>
            <a:endParaRPr lang="en-US" sz="2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2026-05-21T11:05:10Z</dcterms:created>
  <dcterms:modified xsi:type="dcterms:W3CDTF">2026-05-21T11:05:10Z</dcterms:modified>
</cp:coreProperties>
</file>